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9" r:id="rId3"/>
    <p:sldId id="258" r:id="rId4"/>
    <p:sldId id="260" r:id="rId5"/>
    <p:sldId id="280" r:id="rId6"/>
    <p:sldId id="281" r:id="rId7"/>
    <p:sldId id="427" r:id="rId8"/>
    <p:sldId id="383" r:id="rId9"/>
    <p:sldId id="384" r:id="rId10"/>
    <p:sldId id="389" r:id="rId11"/>
    <p:sldId id="263" r:id="rId12"/>
    <p:sldId id="261" r:id="rId13"/>
    <p:sldId id="264" r:id="rId14"/>
    <p:sldId id="269" r:id="rId15"/>
    <p:sldId id="265" r:id="rId16"/>
    <p:sldId id="267" r:id="rId17"/>
    <p:sldId id="270" r:id="rId18"/>
    <p:sldId id="268" r:id="rId19"/>
    <p:sldId id="266" r:id="rId20"/>
    <p:sldId id="390" r:id="rId21"/>
    <p:sldId id="25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7EB405-DEDD-4541-821E-E2A7C84FF1EB}" type="datetimeFigureOut">
              <a:rPr lang="en-US" smtClean="0"/>
              <a:t>5/15/2026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24414A-2C1E-4C1F-B6F3-D0B9C9FABFEF}" type="slidenum">
              <a:rPr lang="en-US" smtClean="0"/>
              <a:t>‹#›</a:t>
            </a:fld>
            <a:endParaRPr lang="en-US"/>
          </a:p>
        </p:txBody>
      </p:sp>
    </p:spTree>
    <p:extLst>
      <p:ext uri="{BB962C8B-B14F-4D97-AF65-F5344CB8AC3E}">
        <p14:creationId xmlns:p14="http://schemas.microsoft.com/office/powerpoint/2010/main" val="940145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Plot proportional decline</a:t>
            </a:r>
          </a:p>
          <a:p>
            <a:r>
              <a:rPr lang="en-US"/>
              <a:t>Before the flood, there was a mean and a variance</a:t>
            </a:r>
          </a:p>
          <a:p>
            <a:r>
              <a:rPr lang="en-US"/>
              <a:t>As soon as </a:t>
            </a:r>
            <a:r>
              <a:rPr lang="en-US" err="1"/>
              <a:t>Im</a:t>
            </a:r>
            <a:r>
              <a:rPr lang="en-US"/>
              <a:t> with </a:t>
            </a:r>
            <a:r>
              <a:rPr lang="en-US" err="1"/>
              <a:t>sd</a:t>
            </a:r>
            <a:r>
              <a:rPr lang="en-US"/>
              <a:t> of an index value…. Stop the regression--- IQR</a:t>
            </a:r>
          </a:p>
        </p:txBody>
      </p:sp>
      <p:sp>
        <p:nvSpPr>
          <p:cNvPr id="4" name="Slide Number Placeholder 3"/>
          <p:cNvSpPr>
            <a:spLocks noGrp="1"/>
          </p:cNvSpPr>
          <p:nvPr>
            <p:ph type="sldNum" sz="quarter" idx="5"/>
          </p:nvPr>
        </p:nvSpPr>
        <p:spPr/>
        <p:txBody>
          <a:bodyPr/>
          <a:lstStyle/>
          <a:p>
            <a:fld id="{7078DE6C-5F17-439A-AA51-7B652CAFD1E7}" type="slidenum">
              <a:rPr lang="en-US" smtClean="0"/>
              <a:t>10</a:t>
            </a:fld>
            <a:endParaRPr lang="en-US"/>
          </a:p>
        </p:txBody>
      </p:sp>
    </p:spTree>
    <p:extLst>
      <p:ext uri="{BB962C8B-B14F-4D97-AF65-F5344CB8AC3E}">
        <p14:creationId xmlns:p14="http://schemas.microsoft.com/office/powerpoint/2010/main" val="2079894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24414A-2C1E-4C1F-B6F3-D0B9C9FABFEF}" type="slidenum">
              <a:rPr lang="en-US" smtClean="0"/>
              <a:t>12</a:t>
            </a:fld>
            <a:endParaRPr lang="en-US"/>
          </a:p>
        </p:txBody>
      </p:sp>
    </p:spTree>
    <p:extLst>
      <p:ext uri="{BB962C8B-B14F-4D97-AF65-F5344CB8AC3E}">
        <p14:creationId xmlns:p14="http://schemas.microsoft.com/office/powerpoint/2010/main" val="3349835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7A91A-8D75-3C8A-04BA-F256A3A9F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7E8DF-FAD7-2BEA-ABAF-BA42976BD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324D0-01B0-098C-25E1-6ACB3DCDF3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7633EA-14BF-C639-F89C-295EB33E49BC}"/>
              </a:ext>
            </a:extLst>
          </p:cNvPr>
          <p:cNvSpPr>
            <a:spLocks noGrp="1"/>
          </p:cNvSpPr>
          <p:nvPr>
            <p:ph type="sldNum" sz="quarter" idx="5"/>
          </p:nvPr>
        </p:nvSpPr>
        <p:spPr/>
        <p:txBody>
          <a:bodyPr/>
          <a:lstStyle/>
          <a:p>
            <a:fld id="{3F24414A-2C1E-4C1F-B6F3-D0B9C9FABFEF}" type="slidenum">
              <a:rPr lang="en-US" smtClean="0"/>
              <a:t>13</a:t>
            </a:fld>
            <a:endParaRPr lang="en-US"/>
          </a:p>
        </p:txBody>
      </p:sp>
    </p:spTree>
    <p:extLst>
      <p:ext uri="{BB962C8B-B14F-4D97-AF65-F5344CB8AC3E}">
        <p14:creationId xmlns:p14="http://schemas.microsoft.com/office/powerpoint/2010/main" val="1683901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24414A-2C1E-4C1F-B6F3-D0B9C9FABFEF}" type="slidenum">
              <a:rPr lang="en-US" smtClean="0"/>
              <a:t>20</a:t>
            </a:fld>
            <a:endParaRPr lang="en-US"/>
          </a:p>
        </p:txBody>
      </p:sp>
    </p:spTree>
    <p:extLst>
      <p:ext uri="{BB962C8B-B14F-4D97-AF65-F5344CB8AC3E}">
        <p14:creationId xmlns:p14="http://schemas.microsoft.com/office/powerpoint/2010/main" val="1311307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58141-ED1A-A6CD-FDC0-D86B5419BE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2EB036-6DE4-A1AA-1426-4B8CB858B9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E7B4FF-ED1C-F3DD-62A0-9C04F0D0F6C6}"/>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5" name="Footer Placeholder 4">
            <a:extLst>
              <a:ext uri="{FF2B5EF4-FFF2-40B4-BE49-F238E27FC236}">
                <a16:creationId xmlns:a16="http://schemas.microsoft.com/office/drawing/2014/main" id="{F895D033-1390-48E0-2FA3-65A6E0EFD4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5317D6-12AD-DBF5-72D9-0EEF2F4ED44D}"/>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582237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F272-87F9-56F5-5B68-A985F1568B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6509C8-2BB4-4472-2727-24885478FC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E64EF1-6C5F-F3DB-CF5D-9FB372B7C724}"/>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5" name="Footer Placeholder 4">
            <a:extLst>
              <a:ext uri="{FF2B5EF4-FFF2-40B4-BE49-F238E27FC236}">
                <a16:creationId xmlns:a16="http://schemas.microsoft.com/office/drawing/2014/main" id="{0DE13ECA-C1D9-5C04-2EC8-A17D49432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F5AEBE-5D1F-1B1C-130E-A01DD7DABC75}"/>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3800799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E024-06CF-589F-CA2E-843F65458C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94E1D2-0D48-5354-9D47-B2C7999AE1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153BC3-3431-3B9A-D71D-73578954D214}"/>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5" name="Footer Placeholder 4">
            <a:extLst>
              <a:ext uri="{FF2B5EF4-FFF2-40B4-BE49-F238E27FC236}">
                <a16:creationId xmlns:a16="http://schemas.microsoft.com/office/drawing/2014/main" id="{1D27BEF5-F33B-1133-1E56-DC6C0914CF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D1EC52-83B3-2D28-E03E-CEA70C8C91F0}"/>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99237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672EE-9FBC-2866-B5F4-93AAFBAD4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8D578B-81C7-0386-F168-747084F8D5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55B323-FF33-E390-7AB9-E76967DA18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DCC724-2829-9C82-3FCA-E06BED644CC8}"/>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6" name="Footer Placeholder 5">
            <a:extLst>
              <a:ext uri="{FF2B5EF4-FFF2-40B4-BE49-F238E27FC236}">
                <a16:creationId xmlns:a16="http://schemas.microsoft.com/office/drawing/2014/main" id="{5BDE285C-42AC-5502-1158-95766CEF78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CF28DF-7B66-2E92-EE2A-E204E3DD4CF3}"/>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1054952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CF0F-3DA5-046A-5171-EB3676CE4A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D85818-4232-CDFB-CB1C-07F1CE7A90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CBD755-AED2-D18B-6A69-BC8A3EEF5A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799C80-DCC4-E099-9D0D-57E6CBDA14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06532-97AE-D738-E592-4673F4592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B15CBC-B078-C55F-A355-2007954241F0}"/>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8" name="Footer Placeholder 7">
            <a:extLst>
              <a:ext uri="{FF2B5EF4-FFF2-40B4-BE49-F238E27FC236}">
                <a16:creationId xmlns:a16="http://schemas.microsoft.com/office/drawing/2014/main" id="{5E02EE0C-547C-68F0-9145-BBC21E6761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ECA7F1-3760-D381-921A-14055E126BF3}"/>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1673328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71560-A5B9-29FD-4EC3-7846F3FF05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211B67-6DA3-737B-B090-9F23EE9535A3}"/>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4" name="Footer Placeholder 3">
            <a:extLst>
              <a:ext uri="{FF2B5EF4-FFF2-40B4-BE49-F238E27FC236}">
                <a16:creationId xmlns:a16="http://schemas.microsoft.com/office/drawing/2014/main" id="{DD921613-0E6D-C7DF-BF1F-342FA373AD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82B229-6C9B-6856-6DEE-94C5FCB11417}"/>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815637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66A99C-ED65-58A1-37B3-F45777F1EB62}"/>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3" name="Footer Placeholder 2">
            <a:extLst>
              <a:ext uri="{FF2B5EF4-FFF2-40B4-BE49-F238E27FC236}">
                <a16:creationId xmlns:a16="http://schemas.microsoft.com/office/drawing/2014/main" id="{70A7AF5C-EEBC-6AE6-F348-3010982269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056D17-F1CA-9FE5-D58D-62A3C1C67F3F}"/>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3214154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CCE6C-32A6-EDD7-171D-EC15795A4B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5F88DB-FF62-FA3F-DD22-D6F852E84D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70DEFC-058B-FD7C-EDD8-EF32DB38A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CE843C-934A-D29E-2F1E-0FC5D5EDE15A}"/>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6" name="Footer Placeholder 5">
            <a:extLst>
              <a:ext uri="{FF2B5EF4-FFF2-40B4-BE49-F238E27FC236}">
                <a16:creationId xmlns:a16="http://schemas.microsoft.com/office/drawing/2014/main" id="{94D96698-4846-5279-7F0C-50E6A1E9B3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07843-E0E7-36A6-2B1D-2DF1E23BA065}"/>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463385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9526-4D7F-F6A6-74A1-AF6EEE69D0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5A9E72-0E87-9CF7-5982-838E39A053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73076A-D61B-0D1B-4A7A-210B15C774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28D521-1E81-ACB6-EBF8-FC767486E8FC}"/>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6" name="Footer Placeholder 5">
            <a:extLst>
              <a:ext uri="{FF2B5EF4-FFF2-40B4-BE49-F238E27FC236}">
                <a16:creationId xmlns:a16="http://schemas.microsoft.com/office/drawing/2014/main" id="{1E553915-9328-ED57-D44C-72D2EFB555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945C55-264F-FC13-3626-20D3AC2F0F11}"/>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779242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4257B-841B-E72A-C663-C6836D89EC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14A1CD-FC41-00F4-3EAD-96DC08AF48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AC3643-2D15-A79D-D06D-D69C40870746}"/>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5" name="Footer Placeholder 4">
            <a:extLst>
              <a:ext uri="{FF2B5EF4-FFF2-40B4-BE49-F238E27FC236}">
                <a16:creationId xmlns:a16="http://schemas.microsoft.com/office/drawing/2014/main" id="{0390F7B3-D2E6-7434-0DBB-43393134CC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2907EC-3291-3E6F-FC1E-7A85047E3CED}"/>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451656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8C2D9B-BEBC-6240-3D46-2D96E6861A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2CAF1D-72CE-FCFB-5127-3FD61A73A4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3932C-7DE2-D460-38CB-D7706296C7F1}"/>
              </a:ext>
            </a:extLst>
          </p:cNvPr>
          <p:cNvSpPr>
            <a:spLocks noGrp="1"/>
          </p:cNvSpPr>
          <p:nvPr>
            <p:ph type="dt" sz="half" idx="10"/>
          </p:nvPr>
        </p:nvSpPr>
        <p:spPr/>
        <p:txBody>
          <a:bodyPr/>
          <a:lstStyle/>
          <a:p>
            <a:fld id="{C589767D-62E5-4712-865D-4E2246D5EC60}" type="datetimeFigureOut">
              <a:rPr lang="en-US" smtClean="0"/>
              <a:t>5/15/2026</a:t>
            </a:fld>
            <a:endParaRPr lang="en-US"/>
          </a:p>
        </p:txBody>
      </p:sp>
      <p:sp>
        <p:nvSpPr>
          <p:cNvPr id="5" name="Footer Placeholder 4">
            <a:extLst>
              <a:ext uri="{FF2B5EF4-FFF2-40B4-BE49-F238E27FC236}">
                <a16:creationId xmlns:a16="http://schemas.microsoft.com/office/drawing/2014/main" id="{CBEBBAEB-307B-B554-D8B2-6E66FD7D24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7B6D4C-EF13-B8F7-1A56-34561D1AE737}"/>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570249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3901EA-367F-CE50-F932-E22160E22E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473871-939F-6115-A19C-EEEBC947C6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E2BEDD-C3CE-7480-B561-1EFA635245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89767D-62E5-4712-865D-4E2246D5EC60}" type="datetimeFigureOut">
              <a:rPr lang="en-US" smtClean="0"/>
              <a:t>5/15/2026</a:t>
            </a:fld>
            <a:endParaRPr lang="en-US"/>
          </a:p>
        </p:txBody>
      </p:sp>
      <p:sp>
        <p:nvSpPr>
          <p:cNvPr id="5" name="Footer Placeholder 4">
            <a:extLst>
              <a:ext uri="{FF2B5EF4-FFF2-40B4-BE49-F238E27FC236}">
                <a16:creationId xmlns:a16="http://schemas.microsoft.com/office/drawing/2014/main" id="{FA502F30-AD98-B0FA-8A87-41098E89F2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8CA75C-E5B9-4558-7A0F-D56EC50465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D0EC54-1C02-43CD-8172-6E2EA02AA51A}" type="slidenum">
              <a:rPr lang="en-US" smtClean="0"/>
              <a:t>‹#›</a:t>
            </a:fld>
            <a:endParaRPr lang="en-US"/>
          </a:p>
        </p:txBody>
      </p:sp>
    </p:spTree>
    <p:extLst>
      <p:ext uri="{BB962C8B-B14F-4D97-AF65-F5344CB8AC3E}">
        <p14:creationId xmlns:p14="http://schemas.microsoft.com/office/powerpoint/2010/main" val="3341550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77068-EAEB-4C0D-513B-BC2690E2FDD2}"/>
              </a:ext>
            </a:extLst>
          </p:cNvPr>
          <p:cNvSpPr>
            <a:spLocks noGrp="1"/>
          </p:cNvSpPr>
          <p:nvPr>
            <p:ph type="ctrTitle"/>
          </p:nvPr>
        </p:nvSpPr>
        <p:spPr/>
        <p:txBody>
          <a:bodyPr>
            <a:normAutofit fontScale="90000"/>
          </a:bodyPr>
          <a:lstStyle/>
          <a:p>
            <a:r>
              <a:rPr lang="en-US" dirty="0"/>
              <a:t>The metabolic and disturbance regime of North Florida Streams </a:t>
            </a:r>
          </a:p>
        </p:txBody>
      </p:sp>
      <p:sp>
        <p:nvSpPr>
          <p:cNvPr id="3" name="Subtitle 2">
            <a:extLst>
              <a:ext uri="{FF2B5EF4-FFF2-40B4-BE49-F238E27FC236}">
                <a16:creationId xmlns:a16="http://schemas.microsoft.com/office/drawing/2014/main" id="{8DA69D70-C8BE-0386-7033-851793C4641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8395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9844E-C384-F6DE-18EE-D23F15A57D91}"/>
              </a:ext>
            </a:extLst>
          </p:cNvPr>
          <p:cNvSpPr>
            <a:spLocks noGrp="1"/>
          </p:cNvSpPr>
          <p:nvPr>
            <p:ph type="title"/>
          </p:nvPr>
        </p:nvSpPr>
        <p:spPr>
          <a:xfrm>
            <a:off x="742950" y="-187325"/>
            <a:ext cx="10515600" cy="1325563"/>
          </a:xfrm>
        </p:spPr>
        <p:txBody>
          <a:bodyPr/>
          <a:lstStyle/>
          <a:p>
            <a:r>
              <a:rPr lang="en-US" dirty="0"/>
              <a:t>Introduction: </a:t>
            </a:r>
          </a:p>
        </p:txBody>
      </p:sp>
      <p:sp>
        <p:nvSpPr>
          <p:cNvPr id="3" name="Content Placeholder 2">
            <a:extLst>
              <a:ext uri="{FF2B5EF4-FFF2-40B4-BE49-F238E27FC236}">
                <a16:creationId xmlns:a16="http://schemas.microsoft.com/office/drawing/2014/main" id="{A49DC225-05B1-3A16-176B-3A705E53F057}"/>
              </a:ext>
            </a:extLst>
          </p:cNvPr>
          <p:cNvSpPr>
            <a:spLocks noGrp="1"/>
          </p:cNvSpPr>
          <p:nvPr>
            <p:ph idx="1"/>
          </p:nvPr>
        </p:nvSpPr>
        <p:spPr>
          <a:xfrm>
            <a:off x="838200" y="1138237"/>
            <a:ext cx="10515600" cy="5038725"/>
          </a:xfrm>
        </p:spPr>
        <p:txBody>
          <a:bodyPr>
            <a:normAutofit fontScale="70000" lnSpcReduction="20000"/>
          </a:bodyPr>
          <a:lstStyle/>
          <a:p>
            <a:r>
              <a:rPr lang="en-US" dirty="0"/>
              <a:t> Stream metabolism is governed by a suite of well-established drivers, with light serving as the primary control.</a:t>
            </a:r>
          </a:p>
          <a:p>
            <a:r>
              <a:rPr lang="en-US" dirty="0"/>
              <a:t>Disturbances such as floods can simultaneously alter multiple drivers, making them acute factor of lotic metabolism.</a:t>
            </a:r>
          </a:p>
          <a:p>
            <a:r>
              <a:rPr lang="en-US" dirty="0"/>
              <a:t>North Florida springs rank among the most productive and hydrologically stable flowing waters </a:t>
            </a:r>
            <a:r>
              <a:rPr lang="en-US" dirty="0" err="1"/>
              <a:t>globally.However</a:t>
            </a:r>
            <a:r>
              <a:rPr lang="en-US" dirty="0"/>
              <a:t>, these systems are increasingly experiencing disturbances that are shifting them from SAV-dominated states to filamentous algal dominance.</a:t>
            </a:r>
          </a:p>
          <a:p>
            <a:r>
              <a:rPr lang="en-US" dirty="0"/>
              <a:t>Many North Florida spring runs discharge into downstream tannic, blackwater rivers. During prolonged or intense precipitation events, rising river stages can generate backwater flood conditions.</a:t>
            </a:r>
          </a:p>
          <a:p>
            <a:r>
              <a:rPr lang="en-US" dirty="0"/>
              <a:t>Both typical floods and spring backwater floods drive shifts in the energetic and metabolic dynamics of flowing waters, with flow velocity representing a key distinction. In both scenarios, OM availability and light attenuation increase; however, typical floods are characterized by accelerated flow and elevated shear stress, whereas backwater floods involve reduced, stalled, or even reversed flow.</a:t>
            </a:r>
          </a:p>
          <a:p>
            <a:r>
              <a:rPr lang="en-US" b="1" dirty="0"/>
              <a:t>Objective: Improve understanding of the drivers governing spring metabolic regimes by examining metabolic responses (GPP and ER in addition to metabolic gas signals (DO and CO2) to backwater floods (brown outs and flow reversals). </a:t>
            </a:r>
          </a:p>
        </p:txBody>
      </p:sp>
    </p:spTree>
    <p:extLst>
      <p:ext uri="{BB962C8B-B14F-4D97-AF65-F5344CB8AC3E}">
        <p14:creationId xmlns:p14="http://schemas.microsoft.com/office/powerpoint/2010/main" val="1558830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ED9D2-3106-0B28-3A9D-851B8B068669}"/>
              </a:ext>
            </a:extLst>
          </p:cNvPr>
          <p:cNvSpPr>
            <a:spLocks noGrp="1"/>
          </p:cNvSpPr>
          <p:nvPr>
            <p:ph type="title"/>
          </p:nvPr>
        </p:nvSpPr>
        <p:spPr>
          <a:xfrm>
            <a:off x="838200" y="-177800"/>
            <a:ext cx="10515600" cy="1325563"/>
          </a:xfrm>
        </p:spPr>
        <p:txBody>
          <a:bodyPr/>
          <a:lstStyle/>
          <a:p>
            <a:r>
              <a:rPr lang="en-US" dirty="0"/>
              <a:t>Hypotheses</a:t>
            </a:r>
          </a:p>
        </p:txBody>
      </p:sp>
      <p:sp>
        <p:nvSpPr>
          <p:cNvPr id="3" name="Content Placeholder 2">
            <a:extLst>
              <a:ext uri="{FF2B5EF4-FFF2-40B4-BE49-F238E27FC236}">
                <a16:creationId xmlns:a16="http://schemas.microsoft.com/office/drawing/2014/main" id="{D2BF5743-0C48-8A64-13FC-F62B44AE6650}"/>
              </a:ext>
            </a:extLst>
          </p:cNvPr>
          <p:cNvSpPr>
            <a:spLocks noGrp="1"/>
          </p:cNvSpPr>
          <p:nvPr>
            <p:ph idx="1"/>
          </p:nvPr>
        </p:nvSpPr>
        <p:spPr>
          <a:xfrm>
            <a:off x="838200" y="1147763"/>
            <a:ext cx="10515600" cy="5029200"/>
          </a:xfrm>
        </p:spPr>
        <p:txBody>
          <a:bodyPr>
            <a:normAutofit/>
          </a:bodyPr>
          <a:lstStyle/>
          <a:p>
            <a:r>
              <a:rPr lang="en-US" dirty="0"/>
              <a:t>The spring metabolic signal will exhibit two breakpoints with depth: spring productivity will moderately decline with increasing stage and undergo a severe dropout at depths that trigger backwater flooding.</a:t>
            </a:r>
          </a:p>
          <a:p>
            <a:r>
              <a:rPr lang="en-US" dirty="0"/>
              <a:t>Less-disturbed spring runs will have greater tolerance for flood events, experiencing less severe metabolic impacts (shorter duration, smaller magnitude of change, resistance to change, and linear recovery trajectories) as well as faster recovery times compared to more frequently flooded spring runs. </a:t>
            </a:r>
          </a:p>
          <a:p>
            <a:r>
              <a:rPr lang="en-US" dirty="0"/>
              <a:t>Backwater floods produce lasting metabolic effects, with greater hysteresis observed in more disturbed spring runs.</a:t>
            </a:r>
          </a:p>
        </p:txBody>
      </p:sp>
    </p:spTree>
    <p:extLst>
      <p:ext uri="{BB962C8B-B14F-4D97-AF65-F5344CB8AC3E}">
        <p14:creationId xmlns:p14="http://schemas.microsoft.com/office/powerpoint/2010/main" val="1310853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E2BF0-78C9-20BE-6235-3B9D3617EF8A}"/>
              </a:ext>
            </a:extLst>
          </p:cNvPr>
          <p:cNvSpPr>
            <a:spLocks noGrp="1"/>
          </p:cNvSpPr>
          <p:nvPr>
            <p:ph type="title"/>
          </p:nvPr>
        </p:nvSpPr>
        <p:spPr/>
        <p:txBody>
          <a:bodyPr/>
          <a:lstStyle/>
          <a:p>
            <a:r>
              <a:rPr lang="en-US" dirty="0"/>
              <a:t>Methods:</a:t>
            </a:r>
          </a:p>
        </p:txBody>
      </p:sp>
      <p:sp>
        <p:nvSpPr>
          <p:cNvPr id="3" name="Content Placeholder 2">
            <a:extLst>
              <a:ext uri="{FF2B5EF4-FFF2-40B4-BE49-F238E27FC236}">
                <a16:creationId xmlns:a16="http://schemas.microsoft.com/office/drawing/2014/main" id="{E194F173-EC43-4AB6-0422-3F11C15E2434}"/>
              </a:ext>
            </a:extLst>
          </p:cNvPr>
          <p:cNvSpPr>
            <a:spLocks noGrp="1"/>
          </p:cNvSpPr>
          <p:nvPr>
            <p:ph idx="1"/>
          </p:nvPr>
        </p:nvSpPr>
        <p:spPr/>
        <p:txBody>
          <a:bodyPr/>
          <a:lstStyle/>
          <a:p>
            <a:pPr marL="342900" indent="-342900">
              <a:buFont typeface="+mj-lt"/>
              <a:buChar char="•"/>
            </a:pPr>
            <a:r>
              <a:rPr lang="en-US" sz="1600" dirty="0"/>
              <a:t>Six first-magnitude spring runs (IU, ID, GB, LF, AM, OS) representing a flood-vulnerability gradient; DO, CO2, pH, SpC, and stage monitored hourly 2022-2024</a:t>
            </a:r>
          </a:p>
          <a:p>
            <a:pPr marL="342900" indent="-342900">
              <a:buFont typeface="+mj-lt"/>
              <a:buChar char="•"/>
            </a:pPr>
            <a:r>
              <a:rPr lang="en-US" sz="1600" dirty="0"/>
              <a:t>Stream metabolism (GPP, ER) estimated via two-station open-channel O2 method; NEP = GPP + ER</a:t>
            </a:r>
          </a:p>
          <a:p>
            <a:pPr marL="342900" indent="-342900">
              <a:buFont typeface="+mj-lt"/>
              <a:buChar char="•"/>
            </a:pPr>
            <a:r>
              <a:rPr lang="en-US" sz="1600" b="1" dirty="0"/>
              <a:t>Step 1 </a:t>
            </a:r>
            <a:r>
              <a:rPr lang="en-US" sz="1600" dirty="0"/>
              <a:t>Flood isolation: events identified from 3-day rolling slope of depth (|slope| &gt; 0.01 d-1)</a:t>
            </a:r>
          </a:p>
          <a:p>
            <a:pPr marL="342900" indent="-342900">
              <a:buFont typeface="+mj-lt"/>
              <a:buChar char="•"/>
            </a:pPr>
            <a:r>
              <a:rPr lang="en-US" sz="1600" b="1" dirty="0"/>
              <a:t>Step 2 </a:t>
            </a:r>
            <a:r>
              <a:rPr lang="en-US" sz="1600" dirty="0"/>
              <a:t>Flood classification: each event assigned HI, BO, or FR from peak-window SpC and DO thresholds</a:t>
            </a:r>
          </a:p>
          <a:p>
            <a:pPr marL="342900" indent="-342900">
              <a:buFont typeface="+mj-lt"/>
              <a:buChar char="•"/>
            </a:pPr>
            <a:r>
              <a:rPr lang="en-US" sz="1600" b="1" dirty="0"/>
              <a:t>Step 3 </a:t>
            </a:r>
            <a:r>
              <a:rPr lang="en-US" sz="1600" dirty="0"/>
              <a:t>Impact window: each variable (depth, DO, CO2, GPP, ER) trimmed independently to its biologically active flood period</a:t>
            </a:r>
          </a:p>
          <a:p>
            <a:pPr marL="342900" indent="-342900">
              <a:buFont typeface="+mj-lt"/>
              <a:buChar char="•"/>
            </a:pPr>
            <a:r>
              <a:rPr lang="en-US" sz="1600" b="1" dirty="0"/>
              <a:t>Step 4 </a:t>
            </a:r>
            <a:r>
              <a:rPr lang="en-US" sz="1600" dirty="0"/>
              <a:t>Metric extraction: rise slope, peak magnitude (% change from baseline), duration, and recession slope per event per variable</a:t>
            </a:r>
          </a:p>
          <a:p>
            <a:pPr marL="342900" indent="-342900">
              <a:buFont typeface="+mj-lt"/>
              <a:buChar char="•"/>
            </a:pPr>
            <a:r>
              <a:rPr lang="en-US" sz="1600" dirty="0"/>
              <a:t>Stage-metabolism breakpoints modeled via segmented (piecewise) linear regression; best model selected by adjusted R2</a:t>
            </a:r>
          </a:p>
          <a:p>
            <a:endParaRPr lang="en-US" dirty="0"/>
          </a:p>
        </p:txBody>
      </p:sp>
    </p:spTree>
    <p:extLst>
      <p:ext uri="{BB962C8B-B14F-4D97-AF65-F5344CB8AC3E}">
        <p14:creationId xmlns:p14="http://schemas.microsoft.com/office/powerpoint/2010/main" val="2956636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 Metabolism Estimation</a:t>
            </a:r>
          </a:p>
        </p:txBody>
      </p:sp>
      <p:sp>
        <p:nvSpPr>
          <p:cNvPr id="3" name="Content Placeholder 2"/>
          <p:cNvSpPr>
            <a:spLocks noGrp="1"/>
          </p:cNvSpPr>
          <p:nvPr>
            <p:ph idx="1"/>
          </p:nvPr>
        </p:nvSpPr>
        <p:spPr/>
        <p:txBody>
          <a:bodyPr/>
          <a:lstStyle/>
          <a:p>
            <a:pPr marL="342900" indent="-342900">
              <a:buFont typeface="+mj-lt"/>
              <a:buChar char="•"/>
            </a:pPr>
            <a:r>
              <a:rPr lang="en-US" sz="1600" b="1" dirty="0"/>
              <a:t>Two-station open-channel O2 mass balance</a:t>
            </a:r>
            <a:r>
              <a:rPr lang="en-US" sz="1600" dirty="0"/>
              <a:t> (AM, LF, GB, ID): paired upstream vent station and downstream sensor; not applicable to OS or IU</a:t>
            </a:r>
          </a:p>
          <a:p>
            <a:pPr marL="342900" indent="-342900">
              <a:buFont typeface="+mj-lt"/>
              <a:buChar char="•"/>
            </a:pPr>
            <a:r>
              <a:rPr lang="en-US" sz="1600" dirty="0"/>
              <a:t>DO flux change = (DO_downstream - DO_vent) x Q / reach area; reaeration (K600 x depth x mean DO deficit from saturation) subtracted; remaining signal partitioned by day (GPP) and night (ER)</a:t>
            </a:r>
          </a:p>
          <a:p>
            <a:pPr marL="342900" indent="-342900">
              <a:buFont typeface="+mj-lt"/>
              <a:buChar char="•"/>
            </a:pPr>
            <a:r>
              <a:rPr lang="en-US" sz="1600" dirty="0"/>
              <a:t>Active reach filter: observations excluded where estimated reach length &lt; 0.4x or &gt; 3x the physical channel; days with &lt; 20 valid hourly observations removed</a:t>
            </a:r>
          </a:p>
          <a:p>
            <a:pPr marL="342900" indent="-342900">
              <a:buFont typeface="+mj-lt"/>
              <a:buChar char="•"/>
            </a:pPr>
            <a:r>
              <a:rPr lang="en-US" sz="1600" b="1" dirty="0"/>
              <a:t>One-station Bayesian state-space model</a:t>
            </a:r>
            <a:r>
              <a:rPr lang="en-US" sz="1600" dirty="0"/>
              <a:t> (streamMetabolizer; OS, IU): applied where no upstream vent exists; also fills high-discharge periods at two-station sites when depth exceeds the two-station calibration range</a:t>
            </a:r>
          </a:p>
          <a:p>
            <a:pPr marL="342900" indent="-342900">
              <a:buFont typeface="+mj-lt"/>
              <a:buChar char="•"/>
            </a:pPr>
            <a:r>
              <a:rPr lang="en-US" sz="1600" dirty="0"/>
              <a:t>Quality filter: GPP &gt; 0, ER &lt; 0; Rhat 0.9-1.2 for both ER and K600; two-station estimates prioritized in the combined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075" y="0"/>
            <a:ext cx="10515600" cy="1325563"/>
          </a:xfrm>
        </p:spPr>
        <p:txBody>
          <a:bodyPr/>
          <a:lstStyle/>
          <a:p>
            <a:r>
              <a:rPr lang="en-US" dirty="0"/>
              <a:t>Reaeration Coefficient (K600)</a:t>
            </a:r>
          </a:p>
        </p:txBody>
      </p:sp>
      <p:sp>
        <p:nvSpPr>
          <p:cNvPr id="3" name="Content Placeholder 2"/>
          <p:cNvSpPr>
            <a:spLocks noGrp="1"/>
          </p:cNvSpPr>
          <p:nvPr>
            <p:ph idx="1"/>
          </p:nvPr>
        </p:nvSpPr>
        <p:spPr>
          <a:xfrm>
            <a:off x="695325" y="1253331"/>
            <a:ext cx="10515600" cy="4351338"/>
          </a:xfrm>
        </p:spPr>
        <p:txBody>
          <a:bodyPr/>
          <a:lstStyle/>
          <a:p>
            <a:pPr marL="342900" indent="-342900">
              <a:buFont typeface="+mj-lt"/>
              <a:buChar char="•"/>
            </a:pPr>
            <a:r>
              <a:rPr lang="en-US" sz="1600" dirty="0"/>
              <a:t>K600 estimated from gas dome experiments conducted across a range of discharge conditions; a rating curve linked K600 to water depth</a:t>
            </a:r>
          </a:p>
          <a:p>
            <a:pPr marL="342900" indent="-342900">
              <a:buFont typeface="+mj-lt"/>
              <a:buChar char="•"/>
            </a:pPr>
            <a:r>
              <a:rPr lang="en-US" sz="1600" dirty="0"/>
              <a:t>Two-station model uses a </a:t>
            </a:r>
            <a:r>
              <a:rPr lang="en-US" sz="1600" b="1" dirty="0"/>
              <a:t>static, site-fixed K600</a:t>
            </a:r>
            <a:r>
              <a:rPr lang="en-US" sz="1600" dirty="0"/>
              <a:t>: a single value per site derived from the mean of gas dome measurements</a:t>
            </a:r>
          </a:p>
          <a:p>
            <a:pPr marL="342900" indent="-342900">
              <a:buFont typeface="+mj-lt"/>
              <a:buChar char="•"/>
            </a:pPr>
            <a:r>
              <a:rPr lang="en-US" sz="1600" b="1" dirty="0"/>
              <a:t>Why static K600 for the two-station model?</a:t>
            </a:r>
          </a:p>
          <a:p>
            <a:pPr marL="685800" indent="-342900">
              <a:buFont typeface="+mj-lt"/>
              <a:buChar char="◦"/>
            </a:pPr>
            <a:r>
              <a:rPr lang="en-US" sz="1400" dirty="0"/>
              <a:t>Better convergence with one-station Bayesian estimates - variable K600 degraded agreement between methods</a:t>
            </a:r>
          </a:p>
          <a:p>
            <a:pPr marL="685800" indent="-342900">
              <a:buFont typeface="+mj-lt"/>
              <a:buChar char="◦"/>
            </a:pPr>
            <a:r>
              <a:rPr lang="en-US" sz="1400" dirty="0"/>
              <a:t>More realistic GPP and ER values - static K600 produced estimates consistent with published spring metabolism literature</a:t>
            </a:r>
          </a:p>
          <a:p>
            <a:pPr marL="685800" indent="-342900">
              <a:buFont typeface="+mj-lt"/>
              <a:buChar char="◦"/>
            </a:pPr>
            <a:r>
              <a:rPr lang="en-US" sz="1400" dirty="0"/>
              <a:t>Consistent with previous spring metabolism studies (Cohen et al. 2013; Kirk et al.)</a:t>
            </a:r>
          </a:p>
          <a:p>
            <a:pPr marL="342900" indent="-342900">
              <a:buFont typeface="+mj-lt"/>
              <a:buChar char="•"/>
            </a:pPr>
            <a:r>
              <a:rPr lang="en-US" sz="1600" dirty="0"/>
              <a:t>One-station model: K600 as near-fixed normal prior (OS, IU) or binned across ln(Q) nodes (AM, LF, GB, ID); all priors centered on gas dome measurements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87E89-544A-B73B-1D95-A3F9A796BBD9}"/>
              </a:ext>
            </a:extLst>
          </p:cNvPr>
          <p:cNvSpPr>
            <a:spLocks noGrp="1"/>
          </p:cNvSpPr>
          <p:nvPr>
            <p:ph type="title"/>
          </p:nvPr>
        </p:nvSpPr>
        <p:spPr>
          <a:xfrm>
            <a:off x="838200" y="175344"/>
            <a:ext cx="10515600" cy="549275"/>
          </a:xfrm>
        </p:spPr>
        <p:txBody>
          <a:bodyPr>
            <a:normAutofit fontScale="90000"/>
          </a:bodyPr>
          <a:lstStyle/>
          <a:p>
            <a:r>
              <a:rPr lang="en-US"/>
              <a:t>Messing with K once again…</a:t>
            </a:r>
          </a:p>
        </p:txBody>
      </p:sp>
      <p:pic>
        <p:nvPicPr>
          <p:cNvPr id="5" name="Picture 4" descr="A graph of a graph showing different colored dots&#10;&#10;AI-generated content may be incorrect.">
            <a:extLst>
              <a:ext uri="{FF2B5EF4-FFF2-40B4-BE49-F238E27FC236}">
                <a16:creationId xmlns:a16="http://schemas.microsoft.com/office/drawing/2014/main" id="{8860CF36-2ADC-A345-EFE3-9FBAB81358B4}"/>
              </a:ext>
            </a:extLst>
          </p:cNvPr>
          <p:cNvPicPr>
            <a:picLocks noChangeAspect="1"/>
          </p:cNvPicPr>
          <p:nvPr/>
        </p:nvPicPr>
        <p:blipFill>
          <a:blip r:embed="rId2"/>
          <a:stretch>
            <a:fillRect/>
          </a:stretch>
        </p:blipFill>
        <p:spPr>
          <a:xfrm>
            <a:off x="4284908" y="1371739"/>
            <a:ext cx="2551979" cy="2196231"/>
          </a:xfrm>
          <a:prstGeom prst="rect">
            <a:avLst/>
          </a:prstGeom>
        </p:spPr>
      </p:pic>
      <p:pic>
        <p:nvPicPr>
          <p:cNvPr id="9" name="Picture 8">
            <a:extLst>
              <a:ext uri="{FF2B5EF4-FFF2-40B4-BE49-F238E27FC236}">
                <a16:creationId xmlns:a16="http://schemas.microsoft.com/office/drawing/2014/main" id="{7305FC5E-27AB-54D9-786B-93922573D4F9}"/>
              </a:ext>
            </a:extLst>
          </p:cNvPr>
          <p:cNvPicPr>
            <a:picLocks noChangeAspect="1"/>
          </p:cNvPicPr>
          <p:nvPr/>
        </p:nvPicPr>
        <p:blipFill>
          <a:blip r:embed="rId3"/>
          <a:stretch>
            <a:fillRect/>
          </a:stretch>
        </p:blipFill>
        <p:spPr>
          <a:xfrm>
            <a:off x="202694" y="1170556"/>
            <a:ext cx="3580227" cy="2422106"/>
          </a:xfrm>
          <a:prstGeom prst="rect">
            <a:avLst/>
          </a:prstGeom>
        </p:spPr>
      </p:pic>
      <p:pic>
        <p:nvPicPr>
          <p:cNvPr id="15" name="Picture 14">
            <a:extLst>
              <a:ext uri="{FF2B5EF4-FFF2-40B4-BE49-F238E27FC236}">
                <a16:creationId xmlns:a16="http://schemas.microsoft.com/office/drawing/2014/main" id="{96B01758-829F-49C5-69C7-BD2665AEFC89}"/>
              </a:ext>
            </a:extLst>
          </p:cNvPr>
          <p:cNvPicPr>
            <a:picLocks noChangeAspect="1"/>
          </p:cNvPicPr>
          <p:nvPr/>
        </p:nvPicPr>
        <p:blipFill>
          <a:blip r:embed="rId4"/>
          <a:stretch>
            <a:fillRect/>
          </a:stretch>
        </p:blipFill>
        <p:spPr>
          <a:xfrm>
            <a:off x="202694" y="3874939"/>
            <a:ext cx="3734761" cy="2519879"/>
          </a:xfrm>
          <a:prstGeom prst="rect">
            <a:avLst/>
          </a:prstGeom>
        </p:spPr>
      </p:pic>
      <p:pic>
        <p:nvPicPr>
          <p:cNvPr id="17" name="Picture 16">
            <a:extLst>
              <a:ext uri="{FF2B5EF4-FFF2-40B4-BE49-F238E27FC236}">
                <a16:creationId xmlns:a16="http://schemas.microsoft.com/office/drawing/2014/main" id="{B199C84B-7361-EE15-106E-572F6AD2959C}"/>
              </a:ext>
            </a:extLst>
          </p:cNvPr>
          <p:cNvPicPr>
            <a:picLocks noChangeAspect="1"/>
          </p:cNvPicPr>
          <p:nvPr/>
        </p:nvPicPr>
        <p:blipFill>
          <a:blip r:embed="rId5"/>
          <a:stretch>
            <a:fillRect/>
          </a:stretch>
        </p:blipFill>
        <p:spPr>
          <a:xfrm>
            <a:off x="4026488" y="4007436"/>
            <a:ext cx="3523035" cy="2387382"/>
          </a:xfrm>
          <a:prstGeom prst="rect">
            <a:avLst/>
          </a:prstGeom>
        </p:spPr>
      </p:pic>
      <p:sp>
        <p:nvSpPr>
          <p:cNvPr id="18" name="Rectangle 17">
            <a:extLst>
              <a:ext uri="{FF2B5EF4-FFF2-40B4-BE49-F238E27FC236}">
                <a16:creationId xmlns:a16="http://schemas.microsoft.com/office/drawing/2014/main" id="{294A6880-189B-F3D3-18FF-153951AD4DF7}"/>
              </a:ext>
            </a:extLst>
          </p:cNvPr>
          <p:cNvSpPr/>
          <p:nvPr/>
        </p:nvSpPr>
        <p:spPr>
          <a:xfrm>
            <a:off x="140727" y="2268236"/>
            <a:ext cx="1840019" cy="1324425"/>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D52142C-56BC-3DC7-1AC9-CE5AAB6DC785}"/>
              </a:ext>
            </a:extLst>
          </p:cNvPr>
          <p:cNvSpPr/>
          <p:nvPr/>
        </p:nvSpPr>
        <p:spPr>
          <a:xfrm>
            <a:off x="4284908" y="1368308"/>
            <a:ext cx="2374158" cy="1181528"/>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CB74B3F-32F5-2BC9-7B9A-6D0CE4B3B5C0}"/>
              </a:ext>
            </a:extLst>
          </p:cNvPr>
          <p:cNvSpPr/>
          <p:nvPr/>
        </p:nvSpPr>
        <p:spPr>
          <a:xfrm>
            <a:off x="5471987" y="2549836"/>
            <a:ext cx="1187079" cy="1181528"/>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E88C10A-4291-772A-FEFB-B0810C30C01E}"/>
              </a:ext>
            </a:extLst>
          </p:cNvPr>
          <p:cNvSpPr txBox="1"/>
          <p:nvPr/>
        </p:nvSpPr>
        <p:spPr>
          <a:xfrm>
            <a:off x="7549523" y="1164085"/>
            <a:ext cx="4350750" cy="4524315"/>
          </a:xfrm>
          <a:prstGeom prst="rect">
            <a:avLst/>
          </a:prstGeom>
          <a:noFill/>
        </p:spPr>
        <p:txBody>
          <a:bodyPr wrap="square" rtlCol="0">
            <a:spAutoFit/>
          </a:bodyPr>
          <a:lstStyle/>
          <a:p>
            <a:pPr algn="ctr"/>
            <a:r>
              <a:rPr lang="en-US" dirty="0"/>
              <a:t>“Gas‑dome experiments were conducted across a range of discharge states to obtain K₆₀₀ estimates. For the Spring site, K₆₀₀ values were interpolated from a well‑established rating curve that links water‑depth to the gas‑dome‑derived K₆₀₀. All other sites were assigned a single, fixed K₆₀₀ equal to the mean of the gas‑dome measurements, following approaches used in previous spring‑metabolism studies (Cohen et al. 2013; 2010; Kirk et al.). A sensitivity analysis indicated that using this fixed K₆₀₀ produced the most plausible metabolism estimates while retaining the dataset (instead of discarding observations).”</a:t>
            </a:r>
          </a:p>
        </p:txBody>
      </p:sp>
    </p:spTree>
    <p:extLst>
      <p:ext uri="{BB962C8B-B14F-4D97-AF65-F5344CB8AC3E}">
        <p14:creationId xmlns:p14="http://schemas.microsoft.com/office/powerpoint/2010/main" val="3348423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F3F43-44E6-3886-E1E2-3C0352E6C9A3}"/>
              </a:ext>
            </a:extLst>
          </p:cNvPr>
          <p:cNvSpPr>
            <a:spLocks noGrp="1"/>
          </p:cNvSpPr>
          <p:nvPr>
            <p:ph type="title"/>
          </p:nvPr>
        </p:nvSpPr>
        <p:spPr>
          <a:xfrm>
            <a:off x="838200" y="184805"/>
            <a:ext cx="10515600" cy="1505883"/>
          </a:xfrm>
        </p:spPr>
        <p:txBody>
          <a:bodyPr vert="horz" lIns="91440" tIns="45720" rIns="91440" bIns="45720" rtlCol="0" anchor="ctr">
            <a:normAutofit/>
          </a:bodyPr>
          <a:lstStyle/>
          <a:p>
            <a:pPr marL="514350" indent="-514350" algn="ctr"/>
            <a:r>
              <a:rPr lang="en-US" sz="3600" kern="1200">
                <a:solidFill>
                  <a:schemeClr val="tx1"/>
                </a:solidFill>
                <a:latin typeface="+mj-lt"/>
                <a:ea typeface="+mj-ea"/>
                <a:cs typeface="+mj-cs"/>
              </a:rPr>
              <a:t>Step 1: Flood Event Isolation</a:t>
            </a:r>
          </a:p>
        </p:txBody>
      </p:sp>
      <p:pic>
        <p:nvPicPr>
          <p:cNvPr id="5" name="Picture 4">
            <a:extLst>
              <a:ext uri="{FF2B5EF4-FFF2-40B4-BE49-F238E27FC236}">
                <a16:creationId xmlns:a16="http://schemas.microsoft.com/office/drawing/2014/main" id="{DDCB91A8-A12F-EBDA-23BB-FCC3C3A68A18}"/>
              </a:ext>
            </a:extLst>
          </p:cNvPr>
          <p:cNvPicPr>
            <a:picLocks noChangeAspect="1"/>
          </p:cNvPicPr>
          <p:nvPr/>
        </p:nvPicPr>
        <p:blipFill>
          <a:blip r:embed="rId2"/>
          <a:stretch>
            <a:fillRect/>
          </a:stretch>
        </p:blipFill>
        <p:spPr>
          <a:xfrm>
            <a:off x="141027" y="1804916"/>
            <a:ext cx="3138327" cy="1624084"/>
          </a:xfrm>
          <a:prstGeom prst="rect">
            <a:avLst/>
          </a:prstGeom>
        </p:spPr>
      </p:pic>
      <p:pic>
        <p:nvPicPr>
          <p:cNvPr id="4" name="Picture 3">
            <a:extLst>
              <a:ext uri="{FF2B5EF4-FFF2-40B4-BE49-F238E27FC236}">
                <a16:creationId xmlns:a16="http://schemas.microsoft.com/office/drawing/2014/main" id="{E26BB7DB-E39C-AA4C-BD01-ED8EAAE6939D}"/>
              </a:ext>
            </a:extLst>
          </p:cNvPr>
          <p:cNvPicPr>
            <a:picLocks noChangeAspect="1"/>
          </p:cNvPicPr>
          <p:nvPr/>
        </p:nvPicPr>
        <p:blipFill>
          <a:blip r:embed="rId3"/>
          <a:stretch>
            <a:fillRect/>
          </a:stretch>
        </p:blipFill>
        <p:spPr>
          <a:xfrm>
            <a:off x="3034178" y="1571980"/>
            <a:ext cx="8914437" cy="5347435"/>
          </a:xfrm>
          <a:prstGeom prst="rect">
            <a:avLst/>
          </a:prstGeom>
        </p:spPr>
      </p:pic>
      <p:sp>
        <p:nvSpPr>
          <p:cNvPr id="20" name="MethodBox6"/>
          <p:cNvSpPr txBox="1">
            <a:spLocks/>
          </p:cNvSpPr>
          <p:nvPr/>
        </p:nvSpPr>
        <p:spPr>
          <a:xfrm>
            <a:off x="150000" y="3500000"/>
            <a:ext cx="2800000" cy="3200000"/>
          </a:xfrm>
          <a:prstGeom prst="rect">
            <a:avLst/>
          </a:prstGeom>
        </p:spPr>
        <p:txBody>
          <a:bodyPr wrap="square" lIns="91440" tIns="45720" rIns="91440" bIns="45720" rtlCol="0">
            <a:normAutofit/>
          </a:bodyPr>
          <a:lstStyle/>
          <a:p>
            <a:r>
              <a:rPr lang="en-US" sz="1300" b="1" dirty="0"/>
              <a:t>Flood isolation procedure:</a:t>
            </a:r>
          </a:p>
          <a:p>
            <a:r>
              <a:rPr lang="en-US" sz="1200" dirty="0"/>
              <a:t>• Depth smoothed via LOESS (span = 0.1); normalized to site mean depth</a:t>
            </a:r>
          </a:p>
          <a:p>
            <a:r>
              <a:rPr lang="en-US" sz="1200" dirty="0"/>
              <a:t>• 3-day rolling blocks: slope of normalized depth estimated by linear regression</a:t>
            </a:r>
          </a:p>
          <a:p>
            <a:r>
              <a:rPr lang="en-US" sz="1200" dirty="0"/>
              <a:t>• Periods with |slope| &gt; 0.01 d-1 flagged as active stage change</a:t>
            </a:r>
          </a:p>
          <a:p>
            <a:r>
              <a:rPr lang="en-US" sz="1200" dirty="0"/>
              <a:t>• Flood event = positive-slope run immediately followed by negative-slope run</a:t>
            </a:r>
          </a:p>
          <a:p>
            <a:r>
              <a:rPr lang="en-US" sz="1200" dirty="0"/>
              <a:t>• Stage-metabolism breakpoints: segmented linear regression; best model (1 vs. 2 breakpoints) selected by adj. R2 gain &gt;= 0.02</a:t>
            </a:r>
          </a:p>
        </p:txBody>
      </p:sp>
    </p:spTree>
    <p:extLst>
      <p:ext uri="{BB962C8B-B14F-4D97-AF65-F5344CB8AC3E}">
        <p14:creationId xmlns:p14="http://schemas.microsoft.com/office/powerpoint/2010/main" val="3088814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A5C25D-7993-E6E2-9301-FFBD3610A14A}"/>
              </a:ext>
            </a:extLst>
          </p:cNvPr>
          <p:cNvPicPr>
            <a:picLocks noChangeAspect="1"/>
          </p:cNvPicPr>
          <p:nvPr/>
        </p:nvPicPr>
        <p:blipFill>
          <a:blip r:embed="rId2"/>
          <a:stretch>
            <a:fillRect/>
          </a:stretch>
        </p:blipFill>
        <p:spPr>
          <a:xfrm>
            <a:off x="212088" y="2064073"/>
            <a:ext cx="3458245" cy="4144178"/>
          </a:xfrm>
          <a:prstGeom prst="rect">
            <a:avLst/>
          </a:prstGeom>
        </p:spPr>
      </p:pic>
      <p:pic>
        <p:nvPicPr>
          <p:cNvPr id="9" name="Picture 8">
            <a:extLst>
              <a:ext uri="{FF2B5EF4-FFF2-40B4-BE49-F238E27FC236}">
                <a16:creationId xmlns:a16="http://schemas.microsoft.com/office/drawing/2014/main" id="{01BBE9F1-846E-D5A0-DB8C-7C97D1B2F483}"/>
              </a:ext>
            </a:extLst>
          </p:cNvPr>
          <p:cNvPicPr>
            <a:picLocks noChangeAspect="1"/>
          </p:cNvPicPr>
          <p:nvPr/>
        </p:nvPicPr>
        <p:blipFill>
          <a:blip r:embed="rId3"/>
          <a:stretch>
            <a:fillRect/>
          </a:stretch>
        </p:blipFill>
        <p:spPr>
          <a:xfrm>
            <a:off x="8238622" y="2054393"/>
            <a:ext cx="3705723" cy="4153858"/>
          </a:xfrm>
          <a:prstGeom prst="rect">
            <a:avLst/>
          </a:prstGeom>
        </p:spPr>
      </p:pic>
      <p:pic>
        <p:nvPicPr>
          <p:cNvPr id="11" name="Picture 10">
            <a:extLst>
              <a:ext uri="{FF2B5EF4-FFF2-40B4-BE49-F238E27FC236}">
                <a16:creationId xmlns:a16="http://schemas.microsoft.com/office/drawing/2014/main" id="{E4F05285-F5CC-7139-B72F-B7F3885B5F98}"/>
              </a:ext>
            </a:extLst>
          </p:cNvPr>
          <p:cNvPicPr>
            <a:picLocks noChangeAspect="1"/>
          </p:cNvPicPr>
          <p:nvPr/>
        </p:nvPicPr>
        <p:blipFill>
          <a:blip r:embed="rId4"/>
          <a:stretch>
            <a:fillRect/>
          </a:stretch>
        </p:blipFill>
        <p:spPr>
          <a:xfrm>
            <a:off x="4107044" y="2054393"/>
            <a:ext cx="3694867" cy="4153858"/>
          </a:xfrm>
          <a:prstGeom prst="rect">
            <a:avLst/>
          </a:prstGeom>
        </p:spPr>
      </p:pic>
      <p:sp>
        <p:nvSpPr>
          <p:cNvPr id="12" name="Title 1">
            <a:extLst>
              <a:ext uri="{FF2B5EF4-FFF2-40B4-BE49-F238E27FC236}">
                <a16:creationId xmlns:a16="http://schemas.microsoft.com/office/drawing/2014/main" id="{A41DA8BD-B482-592D-CB5E-451E8A1DFBF6}"/>
              </a:ext>
            </a:extLst>
          </p:cNvPr>
          <p:cNvSpPr>
            <a:spLocks noGrp="1"/>
          </p:cNvSpPr>
          <p:nvPr>
            <p:ph type="title"/>
          </p:nvPr>
        </p:nvSpPr>
        <p:spPr>
          <a:xfrm>
            <a:off x="838200" y="184805"/>
            <a:ext cx="10515600" cy="1505883"/>
          </a:xfrm>
        </p:spPr>
        <p:txBody>
          <a:bodyPr vert="horz" lIns="91440" tIns="45720" rIns="91440" bIns="45720" rtlCol="0" anchor="ctr">
            <a:normAutofit/>
          </a:bodyPr>
          <a:lstStyle/>
          <a:p>
            <a:pPr algn="ctr"/>
            <a:r>
              <a:rPr lang="en-US" sz="3600"/>
              <a:t>Step 2: Flood Classification (HI / BO / FR)</a:t>
            </a:r>
          </a:p>
        </p:txBody>
      </p:sp>
      <p:sp>
        <p:nvSpPr>
          <p:cNvPr id="13" name="Title 1">
            <a:extLst>
              <a:ext uri="{FF2B5EF4-FFF2-40B4-BE49-F238E27FC236}">
                <a16:creationId xmlns:a16="http://schemas.microsoft.com/office/drawing/2014/main" id="{C2378AB8-92BC-F8E8-9B0E-F9C2DB8F123A}"/>
              </a:ext>
            </a:extLst>
          </p:cNvPr>
          <p:cNvSpPr txBox="1">
            <a:spLocks/>
          </p:cNvSpPr>
          <p:nvPr/>
        </p:nvSpPr>
        <p:spPr>
          <a:xfrm>
            <a:off x="368624" y="1690688"/>
            <a:ext cx="3145172" cy="6148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Flow Reversal</a:t>
            </a:r>
          </a:p>
        </p:txBody>
      </p:sp>
      <p:sp>
        <p:nvSpPr>
          <p:cNvPr id="14" name="Title 1">
            <a:extLst>
              <a:ext uri="{FF2B5EF4-FFF2-40B4-BE49-F238E27FC236}">
                <a16:creationId xmlns:a16="http://schemas.microsoft.com/office/drawing/2014/main" id="{CA31FD5E-DE21-F94A-91AB-AB3C07D536E3}"/>
              </a:ext>
            </a:extLst>
          </p:cNvPr>
          <p:cNvSpPr txBox="1">
            <a:spLocks/>
          </p:cNvSpPr>
          <p:nvPr/>
        </p:nvSpPr>
        <p:spPr>
          <a:xfrm>
            <a:off x="4263581" y="1690688"/>
            <a:ext cx="3145172" cy="6148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Brown Out</a:t>
            </a:r>
          </a:p>
        </p:txBody>
      </p:sp>
      <p:sp>
        <p:nvSpPr>
          <p:cNvPr id="15" name="Title 1">
            <a:extLst>
              <a:ext uri="{FF2B5EF4-FFF2-40B4-BE49-F238E27FC236}">
                <a16:creationId xmlns:a16="http://schemas.microsoft.com/office/drawing/2014/main" id="{9570FF92-057B-A37E-34A9-C8970476AF1C}"/>
              </a:ext>
            </a:extLst>
          </p:cNvPr>
          <p:cNvSpPr txBox="1">
            <a:spLocks/>
          </p:cNvSpPr>
          <p:nvPr/>
        </p:nvSpPr>
        <p:spPr>
          <a:xfrm>
            <a:off x="8426632" y="1690687"/>
            <a:ext cx="3145172" cy="6148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High Stage</a:t>
            </a:r>
          </a:p>
        </p:txBody>
      </p:sp>
      <p:sp>
        <p:nvSpPr>
          <p:cNvPr id="20" name="MethodBox7"/>
          <p:cNvSpPr txBox="1">
            <a:spLocks/>
          </p:cNvSpPr>
          <p:nvPr/>
        </p:nvSpPr>
        <p:spPr>
          <a:xfrm>
            <a:off x="100000" y="6180000"/>
            <a:ext cx="11900000" cy="640000"/>
          </a:xfrm>
          <a:prstGeom prst="rect">
            <a:avLst/>
          </a:prstGeom>
        </p:spPr>
        <p:txBody>
          <a:bodyPr wrap="square" lIns="91440" tIns="45720" rIns="91440" bIns="45720" rtlCol="0">
            <a:normAutofit/>
          </a:bodyPr>
          <a:lstStyle/>
          <a:p>
            <a:r>
              <a:rPr lang="en-US" sz="1200" b="1" dirty="0"/>
              <a:t>FR (Flow Reversal): </a:t>
            </a:r>
            <a:r>
              <a:rPr lang="en-US" sz="1200" dirty="0"/>
              <a:t>SpC &lt; 200 </a:t>
            </a:r>
            <a:r>
              <a:rPr lang="en-US" sz="1200" dirty="0" err="1"/>
              <a:t>uS</a:t>
            </a:r>
            <a:r>
              <a:rPr lang="en-US" sz="1200" dirty="0"/>
              <a:t>/cm - river water overtakes spring run     |     </a:t>
            </a:r>
            <a:r>
              <a:rPr lang="en-US" sz="1200" b="1" dirty="0"/>
              <a:t>BO (Brown Out): </a:t>
            </a:r>
            <a:r>
              <a:rPr lang="en-US" sz="1200" dirty="0"/>
              <a:t>DO &lt; 3 mg/L - hypoxia from light occlusion + riverine DOC     |     </a:t>
            </a:r>
            <a:r>
              <a:rPr lang="en-US" sz="1200" b="1" dirty="0"/>
              <a:t>HI (High Stage): </a:t>
            </a:r>
            <a:r>
              <a:rPr lang="en-US" sz="1200" dirty="0"/>
              <a:t>neither criterion - spring water retained.     Priority: FR &gt; BO &gt; HI</a:t>
            </a:r>
          </a:p>
        </p:txBody>
      </p:sp>
    </p:spTree>
    <p:extLst>
      <p:ext uri="{BB962C8B-B14F-4D97-AF65-F5344CB8AC3E}">
        <p14:creationId xmlns:p14="http://schemas.microsoft.com/office/powerpoint/2010/main" val="488309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EC35-5AB5-7176-EEF8-DF255F692F4D}"/>
              </a:ext>
            </a:extLst>
          </p:cNvPr>
          <p:cNvSpPr>
            <a:spLocks noGrp="1"/>
          </p:cNvSpPr>
          <p:nvPr>
            <p:ph type="title"/>
          </p:nvPr>
        </p:nvSpPr>
        <p:spPr>
          <a:xfrm>
            <a:off x="838200" y="-272549"/>
            <a:ext cx="10515600" cy="1325563"/>
          </a:xfrm>
        </p:spPr>
        <p:txBody>
          <a:bodyPr/>
          <a:lstStyle/>
          <a:p>
            <a:r>
              <a:rPr lang="en-US"/>
              <a:t>Step 4: Disturbance Metrics</a:t>
            </a:r>
          </a:p>
        </p:txBody>
      </p:sp>
      <p:pic>
        <p:nvPicPr>
          <p:cNvPr id="5" name="Picture 4">
            <a:extLst>
              <a:ext uri="{FF2B5EF4-FFF2-40B4-BE49-F238E27FC236}">
                <a16:creationId xmlns:a16="http://schemas.microsoft.com/office/drawing/2014/main" id="{78FBB1E0-4C74-0090-4327-86DED16BACA1}"/>
              </a:ext>
            </a:extLst>
          </p:cNvPr>
          <p:cNvPicPr>
            <a:picLocks noChangeAspect="1"/>
          </p:cNvPicPr>
          <p:nvPr/>
        </p:nvPicPr>
        <p:blipFill>
          <a:blip r:embed="rId3"/>
          <a:stretch>
            <a:fillRect/>
          </a:stretch>
        </p:blipFill>
        <p:spPr>
          <a:xfrm>
            <a:off x="609360" y="938463"/>
            <a:ext cx="6480573" cy="4182704"/>
          </a:xfrm>
          <a:prstGeom prst="rect">
            <a:avLst/>
          </a:prstGeom>
        </p:spPr>
      </p:pic>
      <p:sp>
        <p:nvSpPr>
          <p:cNvPr id="6" name="TextBox 5">
            <a:extLst>
              <a:ext uri="{FF2B5EF4-FFF2-40B4-BE49-F238E27FC236}">
                <a16:creationId xmlns:a16="http://schemas.microsoft.com/office/drawing/2014/main" id="{6C482C74-5FE1-A405-F8C2-70990C3BB869}"/>
              </a:ext>
            </a:extLst>
          </p:cNvPr>
          <p:cNvSpPr txBox="1"/>
          <p:nvPr/>
        </p:nvSpPr>
        <p:spPr>
          <a:xfrm rot="1275945">
            <a:off x="1028700" y="1528762"/>
            <a:ext cx="842963" cy="369332"/>
          </a:xfrm>
          <a:prstGeom prst="rect">
            <a:avLst/>
          </a:prstGeom>
          <a:noFill/>
        </p:spPr>
        <p:txBody>
          <a:bodyPr wrap="square" rtlCol="0">
            <a:spAutoFit/>
          </a:bodyPr>
          <a:lstStyle/>
          <a:p>
            <a:r>
              <a:rPr lang="en-US" b="1">
                <a:solidFill>
                  <a:srgbClr val="FF0000"/>
                </a:solidFill>
              </a:rPr>
              <a:t>rise</a:t>
            </a:r>
          </a:p>
        </p:txBody>
      </p:sp>
      <p:sp>
        <p:nvSpPr>
          <p:cNvPr id="7" name="TextBox 6">
            <a:extLst>
              <a:ext uri="{FF2B5EF4-FFF2-40B4-BE49-F238E27FC236}">
                <a16:creationId xmlns:a16="http://schemas.microsoft.com/office/drawing/2014/main" id="{F311BF70-01CB-48CD-B257-F7F0EE22E903}"/>
              </a:ext>
            </a:extLst>
          </p:cNvPr>
          <p:cNvSpPr txBox="1"/>
          <p:nvPr/>
        </p:nvSpPr>
        <p:spPr>
          <a:xfrm rot="20818533">
            <a:off x="1940716" y="1430549"/>
            <a:ext cx="842963" cy="369332"/>
          </a:xfrm>
          <a:prstGeom prst="rect">
            <a:avLst/>
          </a:prstGeom>
          <a:noFill/>
        </p:spPr>
        <p:txBody>
          <a:bodyPr wrap="square" rtlCol="0">
            <a:spAutoFit/>
          </a:bodyPr>
          <a:lstStyle/>
          <a:p>
            <a:r>
              <a:rPr lang="en-US" b="1">
                <a:solidFill>
                  <a:srgbClr val="FF0000"/>
                </a:solidFill>
              </a:rPr>
              <a:t>rise</a:t>
            </a:r>
          </a:p>
        </p:txBody>
      </p:sp>
      <p:sp>
        <p:nvSpPr>
          <p:cNvPr id="8" name="TextBox 7">
            <a:extLst>
              <a:ext uri="{FF2B5EF4-FFF2-40B4-BE49-F238E27FC236}">
                <a16:creationId xmlns:a16="http://schemas.microsoft.com/office/drawing/2014/main" id="{8F320759-450C-61CD-F243-720C3E2DCD1D}"/>
              </a:ext>
            </a:extLst>
          </p:cNvPr>
          <p:cNvSpPr txBox="1"/>
          <p:nvPr/>
        </p:nvSpPr>
        <p:spPr>
          <a:xfrm>
            <a:off x="1448040" y="1992750"/>
            <a:ext cx="842963" cy="369332"/>
          </a:xfrm>
          <a:prstGeom prst="rect">
            <a:avLst/>
          </a:prstGeom>
          <a:noFill/>
        </p:spPr>
        <p:txBody>
          <a:bodyPr wrap="square" rtlCol="0">
            <a:spAutoFit/>
          </a:bodyPr>
          <a:lstStyle/>
          <a:p>
            <a:r>
              <a:rPr lang="en-US" b="1">
                <a:solidFill>
                  <a:srgbClr val="FF0000"/>
                </a:solidFill>
              </a:rPr>
              <a:t>peak</a:t>
            </a:r>
          </a:p>
        </p:txBody>
      </p:sp>
      <p:sp>
        <p:nvSpPr>
          <p:cNvPr id="10" name="Right Brace 9">
            <a:extLst>
              <a:ext uri="{FF2B5EF4-FFF2-40B4-BE49-F238E27FC236}">
                <a16:creationId xmlns:a16="http://schemas.microsoft.com/office/drawing/2014/main" id="{F26DF0EE-5E18-4247-4BC5-4116509EEAAF}"/>
              </a:ext>
            </a:extLst>
          </p:cNvPr>
          <p:cNvSpPr/>
          <p:nvPr/>
        </p:nvSpPr>
        <p:spPr>
          <a:xfrm rot="16200000">
            <a:off x="1602490" y="2896"/>
            <a:ext cx="447675" cy="19762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2E803713-036C-B9E6-739E-535488F18364}"/>
              </a:ext>
            </a:extLst>
          </p:cNvPr>
          <p:cNvSpPr txBox="1"/>
          <p:nvPr/>
        </p:nvSpPr>
        <p:spPr>
          <a:xfrm>
            <a:off x="1342102" y="484172"/>
            <a:ext cx="1135678" cy="369332"/>
          </a:xfrm>
          <a:prstGeom prst="rect">
            <a:avLst/>
          </a:prstGeom>
          <a:noFill/>
        </p:spPr>
        <p:txBody>
          <a:bodyPr wrap="square" rtlCol="0">
            <a:spAutoFit/>
          </a:bodyPr>
          <a:lstStyle/>
          <a:p>
            <a:r>
              <a:rPr lang="en-US" b="1">
                <a:solidFill>
                  <a:srgbClr val="FF0000"/>
                </a:solidFill>
              </a:rPr>
              <a:t>duration</a:t>
            </a:r>
          </a:p>
        </p:txBody>
      </p:sp>
      <p:sp>
        <p:nvSpPr>
          <p:cNvPr id="12" name="TextBox 11">
            <a:extLst>
              <a:ext uri="{FF2B5EF4-FFF2-40B4-BE49-F238E27FC236}">
                <a16:creationId xmlns:a16="http://schemas.microsoft.com/office/drawing/2014/main" id="{F1891E2B-95B1-048D-860D-288E3F933B54}"/>
              </a:ext>
            </a:extLst>
          </p:cNvPr>
          <p:cNvSpPr txBox="1"/>
          <p:nvPr/>
        </p:nvSpPr>
        <p:spPr>
          <a:xfrm>
            <a:off x="77525" y="554933"/>
            <a:ext cx="1453038" cy="338554"/>
          </a:xfrm>
          <a:prstGeom prst="rect">
            <a:avLst/>
          </a:prstGeom>
          <a:noFill/>
        </p:spPr>
        <p:txBody>
          <a:bodyPr wrap="square" rtlCol="0">
            <a:spAutoFit/>
          </a:bodyPr>
          <a:lstStyle/>
          <a:p>
            <a:pPr algn="r"/>
            <a:r>
              <a:rPr lang="en-US" sz="800"/>
              <a:t>Just length of days but I can pull date range if necessary</a:t>
            </a:r>
          </a:p>
        </p:txBody>
      </p:sp>
      <p:sp>
        <p:nvSpPr>
          <p:cNvPr id="13" name="TextBox 12">
            <a:extLst>
              <a:ext uri="{FF2B5EF4-FFF2-40B4-BE49-F238E27FC236}">
                <a16:creationId xmlns:a16="http://schemas.microsoft.com/office/drawing/2014/main" id="{5D88B198-CA78-DA05-3CE4-F47049741807}"/>
              </a:ext>
            </a:extLst>
          </p:cNvPr>
          <p:cNvSpPr txBox="1"/>
          <p:nvPr/>
        </p:nvSpPr>
        <p:spPr>
          <a:xfrm>
            <a:off x="776287" y="2008139"/>
            <a:ext cx="792107" cy="215444"/>
          </a:xfrm>
          <a:prstGeom prst="rect">
            <a:avLst/>
          </a:prstGeom>
          <a:noFill/>
        </p:spPr>
        <p:txBody>
          <a:bodyPr wrap="square" rtlCol="0">
            <a:spAutoFit/>
          </a:bodyPr>
          <a:lstStyle/>
          <a:p>
            <a:pPr algn="r"/>
            <a:r>
              <a:rPr lang="en-US" sz="800"/>
              <a:t>Date, number</a:t>
            </a:r>
          </a:p>
        </p:txBody>
      </p:sp>
      <p:sp>
        <p:nvSpPr>
          <p:cNvPr id="14" name="TextBox 13">
            <a:extLst>
              <a:ext uri="{FF2B5EF4-FFF2-40B4-BE49-F238E27FC236}">
                <a16:creationId xmlns:a16="http://schemas.microsoft.com/office/drawing/2014/main" id="{654D2483-9315-0148-D703-37C5C7172E61}"/>
              </a:ext>
            </a:extLst>
          </p:cNvPr>
          <p:cNvSpPr txBox="1"/>
          <p:nvPr/>
        </p:nvSpPr>
        <p:spPr>
          <a:xfrm>
            <a:off x="27043" y="1380667"/>
            <a:ext cx="792107" cy="461665"/>
          </a:xfrm>
          <a:prstGeom prst="rect">
            <a:avLst/>
          </a:prstGeom>
          <a:noFill/>
        </p:spPr>
        <p:txBody>
          <a:bodyPr wrap="square" rtlCol="0">
            <a:spAutoFit/>
          </a:bodyPr>
          <a:lstStyle/>
          <a:p>
            <a:pPr algn="r"/>
            <a:r>
              <a:rPr lang="en-US" sz="800"/>
              <a:t>Slope, intercept, solve for days</a:t>
            </a:r>
          </a:p>
        </p:txBody>
      </p:sp>
      <p:pic>
        <p:nvPicPr>
          <p:cNvPr id="16" name="Picture 15">
            <a:extLst>
              <a:ext uri="{FF2B5EF4-FFF2-40B4-BE49-F238E27FC236}">
                <a16:creationId xmlns:a16="http://schemas.microsoft.com/office/drawing/2014/main" id="{A7E04592-D557-00E4-3DD8-38354DA4F49A}"/>
              </a:ext>
            </a:extLst>
          </p:cNvPr>
          <p:cNvPicPr>
            <a:picLocks noChangeAspect="1"/>
          </p:cNvPicPr>
          <p:nvPr/>
        </p:nvPicPr>
        <p:blipFill>
          <a:blip r:embed="rId4"/>
          <a:stretch>
            <a:fillRect/>
          </a:stretch>
        </p:blipFill>
        <p:spPr>
          <a:xfrm>
            <a:off x="7593834" y="608193"/>
            <a:ext cx="3455162" cy="2563851"/>
          </a:xfrm>
          <a:prstGeom prst="rect">
            <a:avLst/>
          </a:prstGeom>
        </p:spPr>
      </p:pic>
      <p:pic>
        <p:nvPicPr>
          <p:cNvPr id="18" name="Picture 17">
            <a:extLst>
              <a:ext uri="{FF2B5EF4-FFF2-40B4-BE49-F238E27FC236}">
                <a16:creationId xmlns:a16="http://schemas.microsoft.com/office/drawing/2014/main" id="{6DFFD9D1-2811-0082-51CF-FAFED58C4E8D}"/>
              </a:ext>
            </a:extLst>
          </p:cNvPr>
          <p:cNvPicPr>
            <a:picLocks noChangeAspect="1"/>
          </p:cNvPicPr>
          <p:nvPr/>
        </p:nvPicPr>
        <p:blipFill>
          <a:blip r:embed="rId5"/>
          <a:stretch>
            <a:fillRect/>
          </a:stretch>
        </p:blipFill>
        <p:spPr>
          <a:xfrm>
            <a:off x="7131923" y="3630504"/>
            <a:ext cx="4221877" cy="2981325"/>
          </a:xfrm>
          <a:prstGeom prst="rect">
            <a:avLst/>
          </a:prstGeom>
        </p:spPr>
      </p:pic>
      <p:sp>
        <p:nvSpPr>
          <p:cNvPr id="20" name="MethodBox9"/>
          <p:cNvSpPr txBox="1">
            <a:spLocks/>
          </p:cNvSpPr>
          <p:nvPr/>
        </p:nvSpPr>
        <p:spPr>
          <a:xfrm>
            <a:off x="150000" y="5200000"/>
            <a:ext cx="7000000" cy="1600000"/>
          </a:xfrm>
          <a:prstGeom prst="rect">
            <a:avLst/>
          </a:prstGeom>
        </p:spPr>
        <p:txBody>
          <a:bodyPr wrap="square" lIns="91440" tIns="45720" rIns="91440" bIns="45720" rtlCol="0">
            <a:normAutofit fontScale="85000" lnSpcReduction="20000"/>
          </a:bodyPr>
          <a:lstStyle/>
          <a:p>
            <a:r>
              <a:rPr lang="en-US" sz="1400" dirty="0"/>
              <a:t>Each variable trimmed to its biologically active window independently. Peak identified as the 3-day rolling mean minimum (DO, GPP) or maximum (ER, CO2, depth). Flood start = first 3 consecutive days where variable crosses a +/-20% baseline threshold (or +/-0% if response &lt; 20%). Flood end = first 3 consecutive post-peak day returning to that threshold. Baseline = mean of inter-flood observations nearest each event + observations at the site 25th-percentile depth.</a:t>
            </a:r>
          </a:p>
          <a:p>
            <a:endParaRPr lang="en-US" sz="1300" b="1" dirty="0"/>
          </a:p>
          <a:p>
            <a:r>
              <a:rPr lang="en-US" sz="1300" b="1" dirty="0"/>
              <a:t>Rise slope and R2: </a:t>
            </a:r>
            <a:r>
              <a:rPr lang="en-US" sz="1300" dirty="0"/>
              <a:t>linear regression of daily values vs. days before peak (flood start to peak impact)</a:t>
            </a:r>
          </a:p>
          <a:p>
            <a:r>
              <a:rPr lang="en-US" sz="1300" b="1" dirty="0"/>
              <a:t>Peak magnitude: </a:t>
            </a:r>
            <a:r>
              <a:rPr lang="en-US" sz="1300" dirty="0"/>
              <a:t>rolling mean min or max; expressed as % change from pre-flood baseline</a:t>
            </a:r>
          </a:p>
          <a:p>
            <a:r>
              <a:rPr lang="en-US" sz="1300" b="1" dirty="0"/>
              <a:t>Duration: </a:t>
            </a:r>
            <a:r>
              <a:rPr lang="en-US" sz="1300" dirty="0"/>
              <a:t>days the variable remains beyond the +/-20% baseline threshold</a:t>
            </a:r>
          </a:p>
          <a:p>
            <a:r>
              <a:rPr lang="en-US" sz="1300" b="1" dirty="0"/>
              <a:t>Recession slope and R2: </a:t>
            </a:r>
            <a:r>
              <a:rPr lang="en-US" sz="1300" dirty="0"/>
              <a:t>linear regression of daily values vs. days after peak (peak to flood end)</a:t>
            </a:r>
          </a:p>
        </p:txBody>
      </p:sp>
    </p:spTree>
    <p:extLst>
      <p:ext uri="{BB962C8B-B14F-4D97-AF65-F5344CB8AC3E}">
        <p14:creationId xmlns:p14="http://schemas.microsoft.com/office/powerpoint/2010/main" val="239099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8868FA0-31A5-61F6-6976-B3942069D666}"/>
              </a:ext>
            </a:extLst>
          </p:cNvPr>
          <p:cNvSpPr>
            <a:spLocks noGrp="1"/>
          </p:cNvSpPr>
          <p:nvPr>
            <p:ph type="title"/>
          </p:nvPr>
        </p:nvSpPr>
        <p:spPr>
          <a:xfrm>
            <a:off x="297656" y="199031"/>
            <a:ext cx="11668125" cy="645149"/>
          </a:xfrm>
        </p:spPr>
        <p:txBody>
          <a:bodyPr>
            <a:noAutofit/>
          </a:bodyPr>
          <a:lstStyle/>
          <a:p>
            <a:pPr algn="ctr"/>
            <a:r>
              <a:rPr lang="en-US" sz="2000" b="1" dirty="0"/>
              <a:t>Results: </a:t>
            </a:r>
            <a:r>
              <a:rPr lang="en-US" sz="2000" i="1" dirty="0"/>
              <a:t>The spring metabolic signal will exhibit two breakpoints with depth: spring productivity will moderately decline with increasing stage and undergo a severe dropout at depths that trigger backwater flooding.</a:t>
            </a:r>
            <a:br>
              <a:rPr lang="en-US" sz="2000" i="1" dirty="0"/>
            </a:br>
            <a:endParaRPr lang="en-US" sz="2000" i="1" dirty="0"/>
          </a:p>
        </p:txBody>
      </p:sp>
      <p:pic>
        <p:nvPicPr>
          <p:cNvPr id="6" name="Picture 5">
            <a:extLst>
              <a:ext uri="{FF2B5EF4-FFF2-40B4-BE49-F238E27FC236}">
                <a16:creationId xmlns:a16="http://schemas.microsoft.com/office/drawing/2014/main" id="{AE66B180-0F9F-C026-4C11-C0961F388D73}"/>
              </a:ext>
            </a:extLst>
          </p:cNvPr>
          <p:cNvPicPr>
            <a:picLocks noChangeAspect="1"/>
          </p:cNvPicPr>
          <p:nvPr/>
        </p:nvPicPr>
        <p:blipFill>
          <a:blip r:embed="rId2"/>
          <a:srcRect l="541" t="892"/>
          <a:stretch>
            <a:fillRect/>
          </a:stretch>
        </p:blipFill>
        <p:spPr>
          <a:xfrm>
            <a:off x="1981201" y="719214"/>
            <a:ext cx="8829674" cy="6061617"/>
          </a:xfrm>
          <a:prstGeom prst="rect">
            <a:avLst/>
          </a:prstGeom>
        </p:spPr>
      </p:pic>
    </p:spTree>
    <p:extLst>
      <p:ext uri="{BB962C8B-B14F-4D97-AF65-F5344CB8AC3E}">
        <p14:creationId xmlns:p14="http://schemas.microsoft.com/office/powerpoint/2010/main" val="3801090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8151C-0FBA-0F3E-09F2-188B94C5A694}"/>
              </a:ext>
            </a:extLst>
          </p:cNvPr>
          <p:cNvSpPr>
            <a:spLocks noGrp="1"/>
          </p:cNvSpPr>
          <p:nvPr>
            <p:ph type="title"/>
          </p:nvPr>
        </p:nvSpPr>
        <p:spPr>
          <a:xfrm>
            <a:off x="297656" y="199031"/>
            <a:ext cx="11668125" cy="645149"/>
          </a:xfrm>
        </p:spPr>
        <p:txBody>
          <a:bodyPr>
            <a:noAutofit/>
          </a:bodyPr>
          <a:lstStyle/>
          <a:p>
            <a:pPr algn="ctr"/>
            <a:r>
              <a:rPr lang="en-US" sz="2000" b="1" dirty="0"/>
              <a:t>Results: </a:t>
            </a:r>
            <a:r>
              <a:rPr lang="en-US" sz="2000" i="1" dirty="0"/>
              <a:t>The spring metabolic signal will exhibit two breakpoints with depth: spring productivity will moderately decline with increasing stage and undergo a severe dropout at depths that trigger backwater flooding.</a:t>
            </a:r>
            <a:br>
              <a:rPr lang="en-US" sz="2000" i="1" dirty="0"/>
            </a:br>
            <a:endParaRPr lang="en-US" sz="2000" i="1" dirty="0"/>
          </a:p>
        </p:txBody>
      </p:sp>
      <p:grpSp>
        <p:nvGrpSpPr>
          <p:cNvPr id="14" name="Group 13">
            <a:extLst>
              <a:ext uri="{FF2B5EF4-FFF2-40B4-BE49-F238E27FC236}">
                <a16:creationId xmlns:a16="http://schemas.microsoft.com/office/drawing/2014/main" id="{0690E074-BA2A-36AA-AD28-64FAA4B0241A}"/>
              </a:ext>
            </a:extLst>
          </p:cNvPr>
          <p:cNvGrpSpPr/>
          <p:nvPr/>
        </p:nvGrpSpPr>
        <p:grpSpPr>
          <a:xfrm>
            <a:off x="702231" y="4088370"/>
            <a:ext cx="2914651" cy="2124073"/>
            <a:chOff x="542925" y="2847975"/>
            <a:chExt cx="1276350" cy="1095375"/>
          </a:xfrm>
        </p:grpSpPr>
        <p:cxnSp>
          <p:nvCxnSpPr>
            <p:cNvPr id="15" name="Straight Arrow Connector 14">
              <a:extLst>
                <a:ext uri="{FF2B5EF4-FFF2-40B4-BE49-F238E27FC236}">
                  <a16:creationId xmlns:a16="http://schemas.microsoft.com/office/drawing/2014/main" id="{BE1FE13F-F57B-3101-4239-AA290D96F739}"/>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16AC7F03-2101-643C-7650-015F0972DE7D}"/>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6" name="Group 25">
            <a:extLst>
              <a:ext uri="{FF2B5EF4-FFF2-40B4-BE49-F238E27FC236}">
                <a16:creationId xmlns:a16="http://schemas.microsoft.com/office/drawing/2014/main" id="{324A7390-4B45-0D86-31F9-F3E60235E6EA}"/>
              </a:ext>
            </a:extLst>
          </p:cNvPr>
          <p:cNvGrpSpPr/>
          <p:nvPr/>
        </p:nvGrpSpPr>
        <p:grpSpPr>
          <a:xfrm>
            <a:off x="718303" y="1406701"/>
            <a:ext cx="2914651" cy="2124073"/>
            <a:chOff x="542925" y="2847975"/>
            <a:chExt cx="1276350" cy="1095375"/>
          </a:xfrm>
        </p:grpSpPr>
        <p:cxnSp>
          <p:nvCxnSpPr>
            <p:cNvPr id="27" name="Straight Arrow Connector 26">
              <a:extLst>
                <a:ext uri="{FF2B5EF4-FFF2-40B4-BE49-F238E27FC236}">
                  <a16:creationId xmlns:a16="http://schemas.microsoft.com/office/drawing/2014/main" id="{2A0EBAF5-3FF1-22BB-BC89-12AEB9321F51}"/>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9D71322F-AD68-BE3A-0CC0-BF9A850A579B}"/>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42" name="Group 41">
            <a:extLst>
              <a:ext uri="{FF2B5EF4-FFF2-40B4-BE49-F238E27FC236}">
                <a16:creationId xmlns:a16="http://schemas.microsoft.com/office/drawing/2014/main" id="{3397FE37-54EB-DAE8-C230-14945260D0EB}"/>
              </a:ext>
            </a:extLst>
          </p:cNvPr>
          <p:cNvGrpSpPr/>
          <p:nvPr/>
        </p:nvGrpSpPr>
        <p:grpSpPr>
          <a:xfrm>
            <a:off x="985003" y="2063528"/>
            <a:ext cx="2302669" cy="1123290"/>
            <a:chOff x="1038225" y="2495550"/>
            <a:chExt cx="2302669" cy="1123290"/>
          </a:xfrm>
        </p:grpSpPr>
        <p:cxnSp>
          <p:nvCxnSpPr>
            <p:cNvPr id="30" name="Straight Connector 29">
              <a:extLst>
                <a:ext uri="{FF2B5EF4-FFF2-40B4-BE49-F238E27FC236}">
                  <a16:creationId xmlns:a16="http://schemas.microsoft.com/office/drawing/2014/main" id="{220E5FEE-AD4D-6930-8BDC-C67BE9CB3DB7}"/>
                </a:ext>
              </a:extLst>
            </p:cNvPr>
            <p:cNvCxnSpPr>
              <a:cxnSpLocks/>
            </p:cNvCxnSpPr>
            <p:nvPr/>
          </p:nvCxnSpPr>
          <p:spPr>
            <a:xfrm>
              <a:off x="1038225" y="2495550"/>
              <a:ext cx="1185863" cy="1940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B253FB6-85F4-1FB6-004D-B77499993A61}"/>
                </a:ext>
              </a:extLst>
            </p:cNvPr>
            <p:cNvCxnSpPr>
              <a:cxnSpLocks/>
            </p:cNvCxnSpPr>
            <p:nvPr/>
          </p:nvCxnSpPr>
          <p:spPr>
            <a:xfrm>
              <a:off x="2212182" y="2689626"/>
              <a:ext cx="1128712" cy="929214"/>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3A760AE7-6CA0-1099-F39D-1BAE474CD59B}"/>
              </a:ext>
            </a:extLst>
          </p:cNvPr>
          <p:cNvGrpSpPr/>
          <p:nvPr/>
        </p:nvGrpSpPr>
        <p:grpSpPr>
          <a:xfrm>
            <a:off x="985003" y="4468842"/>
            <a:ext cx="2336621" cy="1046078"/>
            <a:chOff x="1054297" y="4687225"/>
            <a:chExt cx="2336621" cy="1046078"/>
          </a:xfrm>
        </p:grpSpPr>
        <p:cxnSp>
          <p:nvCxnSpPr>
            <p:cNvPr id="38" name="Straight Connector 37">
              <a:extLst>
                <a:ext uri="{FF2B5EF4-FFF2-40B4-BE49-F238E27FC236}">
                  <a16:creationId xmlns:a16="http://schemas.microsoft.com/office/drawing/2014/main" id="{41762F97-8E3C-C532-867B-6155DECDFE75}"/>
                </a:ext>
              </a:extLst>
            </p:cNvPr>
            <p:cNvCxnSpPr>
              <a:cxnSpLocks/>
            </p:cNvCxnSpPr>
            <p:nvPr/>
          </p:nvCxnSpPr>
          <p:spPr>
            <a:xfrm flipV="1">
              <a:off x="1054297" y="5455042"/>
              <a:ext cx="1190626" cy="278261"/>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E025B08-75C9-A89A-1A7F-AEB99C6E9A17}"/>
                </a:ext>
              </a:extLst>
            </p:cNvPr>
            <p:cNvCxnSpPr>
              <a:cxnSpLocks/>
            </p:cNvCxnSpPr>
            <p:nvPr/>
          </p:nvCxnSpPr>
          <p:spPr>
            <a:xfrm flipV="1">
              <a:off x="2243752" y="4687225"/>
              <a:ext cx="1147166" cy="769408"/>
            </a:xfrm>
            <a:prstGeom prst="line">
              <a:avLst/>
            </a:prstGeom>
          </p:spPr>
          <p:style>
            <a:lnRef idx="2">
              <a:schemeClr val="accent1"/>
            </a:lnRef>
            <a:fillRef idx="0">
              <a:schemeClr val="accent1"/>
            </a:fillRef>
            <a:effectRef idx="1">
              <a:schemeClr val="accent1"/>
            </a:effectRef>
            <a:fontRef idx="minor">
              <a:schemeClr val="tx1"/>
            </a:fontRef>
          </p:style>
        </p:cxnSp>
      </p:grpSp>
      <p:sp>
        <p:nvSpPr>
          <p:cNvPr id="44" name="TextBox 43">
            <a:extLst>
              <a:ext uri="{FF2B5EF4-FFF2-40B4-BE49-F238E27FC236}">
                <a16:creationId xmlns:a16="http://schemas.microsoft.com/office/drawing/2014/main" id="{D72EECED-6F38-7311-D65B-4557D2C65D20}"/>
              </a:ext>
            </a:extLst>
          </p:cNvPr>
          <p:cNvSpPr txBox="1"/>
          <p:nvPr/>
        </p:nvSpPr>
        <p:spPr>
          <a:xfrm rot="16200000">
            <a:off x="-365328" y="2154072"/>
            <a:ext cx="1806990" cy="369332"/>
          </a:xfrm>
          <a:prstGeom prst="rect">
            <a:avLst/>
          </a:prstGeom>
          <a:noFill/>
        </p:spPr>
        <p:txBody>
          <a:bodyPr wrap="square" rtlCol="0">
            <a:spAutoFit/>
          </a:bodyPr>
          <a:lstStyle/>
          <a:p>
            <a:r>
              <a:rPr lang="en-US" dirty="0"/>
              <a:t>DO/GPP/NEP</a:t>
            </a:r>
          </a:p>
        </p:txBody>
      </p:sp>
      <p:sp>
        <p:nvSpPr>
          <p:cNvPr id="46" name="TextBox 45">
            <a:extLst>
              <a:ext uri="{FF2B5EF4-FFF2-40B4-BE49-F238E27FC236}">
                <a16:creationId xmlns:a16="http://schemas.microsoft.com/office/drawing/2014/main" id="{4487E65E-0615-51C3-D318-1DA84CC3A02A}"/>
              </a:ext>
            </a:extLst>
          </p:cNvPr>
          <p:cNvSpPr txBox="1"/>
          <p:nvPr/>
        </p:nvSpPr>
        <p:spPr>
          <a:xfrm>
            <a:off x="1078812" y="3498663"/>
            <a:ext cx="2689873" cy="369332"/>
          </a:xfrm>
          <a:prstGeom prst="rect">
            <a:avLst/>
          </a:prstGeom>
          <a:noFill/>
        </p:spPr>
        <p:txBody>
          <a:bodyPr wrap="square" rtlCol="0">
            <a:spAutoFit/>
          </a:bodyPr>
          <a:lstStyle/>
          <a:p>
            <a:r>
              <a:rPr lang="en-US" dirty="0"/>
              <a:t>Stage Percent Change</a:t>
            </a:r>
          </a:p>
        </p:txBody>
      </p:sp>
      <p:sp>
        <p:nvSpPr>
          <p:cNvPr id="47" name="TextBox 46">
            <a:extLst>
              <a:ext uri="{FF2B5EF4-FFF2-40B4-BE49-F238E27FC236}">
                <a16:creationId xmlns:a16="http://schemas.microsoft.com/office/drawing/2014/main" id="{2DC6CDD5-B301-2394-5735-262E2EDCA1F4}"/>
              </a:ext>
            </a:extLst>
          </p:cNvPr>
          <p:cNvSpPr txBox="1"/>
          <p:nvPr/>
        </p:nvSpPr>
        <p:spPr>
          <a:xfrm>
            <a:off x="1062740" y="6212443"/>
            <a:ext cx="2689873" cy="369332"/>
          </a:xfrm>
          <a:prstGeom prst="rect">
            <a:avLst/>
          </a:prstGeom>
          <a:noFill/>
        </p:spPr>
        <p:txBody>
          <a:bodyPr wrap="square" rtlCol="0">
            <a:spAutoFit/>
          </a:bodyPr>
          <a:lstStyle/>
          <a:p>
            <a:r>
              <a:rPr lang="en-US" dirty="0"/>
              <a:t>Stage Percent Change</a:t>
            </a:r>
          </a:p>
        </p:txBody>
      </p:sp>
      <p:sp>
        <p:nvSpPr>
          <p:cNvPr id="48" name="TextBox 47">
            <a:extLst>
              <a:ext uri="{FF2B5EF4-FFF2-40B4-BE49-F238E27FC236}">
                <a16:creationId xmlns:a16="http://schemas.microsoft.com/office/drawing/2014/main" id="{F9A9E7DA-A0EC-B843-03CC-28C3FAE1D45E}"/>
              </a:ext>
            </a:extLst>
          </p:cNvPr>
          <p:cNvSpPr txBox="1"/>
          <p:nvPr/>
        </p:nvSpPr>
        <p:spPr>
          <a:xfrm>
            <a:off x="875576" y="1159152"/>
            <a:ext cx="2689873" cy="369332"/>
          </a:xfrm>
          <a:prstGeom prst="rect">
            <a:avLst/>
          </a:prstGeom>
          <a:noFill/>
        </p:spPr>
        <p:txBody>
          <a:bodyPr wrap="square" rtlCol="0">
            <a:spAutoFit/>
          </a:bodyPr>
          <a:lstStyle/>
          <a:p>
            <a:pPr algn="ctr"/>
            <a:r>
              <a:rPr lang="en-US" dirty="0"/>
              <a:t>Hypothesis 1</a:t>
            </a:r>
          </a:p>
        </p:txBody>
      </p:sp>
      <p:cxnSp>
        <p:nvCxnSpPr>
          <p:cNvPr id="50" name="Straight Arrow Connector 49">
            <a:extLst>
              <a:ext uri="{FF2B5EF4-FFF2-40B4-BE49-F238E27FC236}">
                <a16:creationId xmlns:a16="http://schemas.microsoft.com/office/drawing/2014/main" id="{3EA59A00-DEBA-CEB3-BB8C-C39ED9CF10A1}"/>
              </a:ext>
            </a:extLst>
          </p:cNvPr>
          <p:cNvCxnSpPr>
            <a:cxnSpLocks/>
          </p:cNvCxnSpPr>
          <p:nvPr/>
        </p:nvCxnSpPr>
        <p:spPr>
          <a:xfrm>
            <a:off x="3709962" y="3530774"/>
            <a:ext cx="928196" cy="0"/>
          </a:xfrm>
          <a:prstGeom prst="straightConnector1">
            <a:avLst/>
          </a:prstGeom>
          <a:ln w="152400">
            <a:tailEnd type="triangle"/>
          </a:ln>
        </p:spPr>
        <p:style>
          <a:lnRef idx="2">
            <a:schemeClr val="accent6"/>
          </a:lnRef>
          <a:fillRef idx="0">
            <a:schemeClr val="accent6"/>
          </a:fillRef>
          <a:effectRef idx="1">
            <a:schemeClr val="accent6"/>
          </a:effectRef>
          <a:fontRef idx="minor">
            <a:schemeClr val="tx1"/>
          </a:fontRef>
        </p:style>
      </p:cxnSp>
      <p:sp>
        <p:nvSpPr>
          <p:cNvPr id="51" name="TextBox 50">
            <a:extLst>
              <a:ext uri="{FF2B5EF4-FFF2-40B4-BE49-F238E27FC236}">
                <a16:creationId xmlns:a16="http://schemas.microsoft.com/office/drawing/2014/main" id="{33F18741-C2EC-721B-E413-BA6E0A3FDBFC}"/>
              </a:ext>
            </a:extLst>
          </p:cNvPr>
          <p:cNvSpPr txBox="1"/>
          <p:nvPr/>
        </p:nvSpPr>
        <p:spPr>
          <a:xfrm>
            <a:off x="3806268" y="3002152"/>
            <a:ext cx="864758" cy="369332"/>
          </a:xfrm>
          <a:prstGeom prst="rect">
            <a:avLst/>
          </a:prstGeom>
          <a:noFill/>
        </p:spPr>
        <p:txBody>
          <a:bodyPr wrap="square" rtlCol="0">
            <a:spAutoFit/>
          </a:bodyPr>
          <a:lstStyle/>
          <a:p>
            <a:pPr algn="ctr"/>
            <a:r>
              <a:rPr lang="en-US" dirty="0"/>
              <a:t>Actual</a:t>
            </a:r>
          </a:p>
        </p:txBody>
      </p:sp>
      <p:cxnSp>
        <p:nvCxnSpPr>
          <p:cNvPr id="4" name="Straight Connector 3">
            <a:extLst>
              <a:ext uri="{FF2B5EF4-FFF2-40B4-BE49-F238E27FC236}">
                <a16:creationId xmlns:a16="http://schemas.microsoft.com/office/drawing/2014/main" id="{4516D264-BB56-F073-4A56-CB426138AFA1}"/>
              </a:ext>
            </a:extLst>
          </p:cNvPr>
          <p:cNvCxnSpPr>
            <a:cxnSpLocks/>
          </p:cNvCxnSpPr>
          <p:nvPr/>
        </p:nvCxnSpPr>
        <p:spPr>
          <a:xfrm>
            <a:off x="4638158" y="3530774"/>
            <a:ext cx="7582417" cy="0"/>
          </a:xfrm>
          <a:prstGeom prst="line">
            <a:avLst/>
          </a:prstGeom>
          <a:ln>
            <a:prstDash val="lgDash"/>
          </a:ln>
        </p:spPr>
        <p:style>
          <a:lnRef idx="2">
            <a:schemeClr val="accent6"/>
          </a:lnRef>
          <a:fillRef idx="0">
            <a:schemeClr val="accent6"/>
          </a:fillRef>
          <a:effectRef idx="1">
            <a:schemeClr val="accent6"/>
          </a:effectRef>
          <a:fontRef idx="minor">
            <a:schemeClr val="tx1"/>
          </a:fontRef>
        </p:style>
      </p:cxnSp>
      <p:grpSp>
        <p:nvGrpSpPr>
          <p:cNvPr id="6" name="Group 5">
            <a:extLst>
              <a:ext uri="{FF2B5EF4-FFF2-40B4-BE49-F238E27FC236}">
                <a16:creationId xmlns:a16="http://schemas.microsoft.com/office/drawing/2014/main" id="{1FC54975-9F6C-E354-C696-E2EB149A461D}"/>
              </a:ext>
            </a:extLst>
          </p:cNvPr>
          <p:cNvGrpSpPr/>
          <p:nvPr/>
        </p:nvGrpSpPr>
        <p:grpSpPr>
          <a:xfrm>
            <a:off x="5875931" y="912727"/>
            <a:ext cx="1526906" cy="1104627"/>
            <a:chOff x="542925" y="2847975"/>
            <a:chExt cx="1276350" cy="1095375"/>
          </a:xfrm>
        </p:grpSpPr>
        <p:cxnSp>
          <p:nvCxnSpPr>
            <p:cNvPr id="7" name="Straight Arrow Connector 6">
              <a:extLst>
                <a:ext uri="{FF2B5EF4-FFF2-40B4-BE49-F238E27FC236}">
                  <a16:creationId xmlns:a16="http://schemas.microsoft.com/office/drawing/2014/main" id="{5A79D10F-68AA-1F05-0C54-8D1E87257D3A}"/>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20CA753F-E049-2702-D09F-4998D7BAFB39}"/>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12" name="Group 11">
            <a:extLst>
              <a:ext uri="{FF2B5EF4-FFF2-40B4-BE49-F238E27FC236}">
                <a16:creationId xmlns:a16="http://schemas.microsoft.com/office/drawing/2014/main" id="{1B07310F-E225-3753-A125-D3798A3954F0}"/>
              </a:ext>
            </a:extLst>
          </p:cNvPr>
          <p:cNvGrpSpPr/>
          <p:nvPr/>
        </p:nvGrpSpPr>
        <p:grpSpPr>
          <a:xfrm>
            <a:off x="8880481" y="977907"/>
            <a:ext cx="1526906" cy="1104627"/>
            <a:chOff x="542925" y="2847975"/>
            <a:chExt cx="1276350" cy="1095375"/>
          </a:xfrm>
        </p:grpSpPr>
        <p:cxnSp>
          <p:nvCxnSpPr>
            <p:cNvPr id="13" name="Straight Arrow Connector 12">
              <a:extLst>
                <a:ext uri="{FF2B5EF4-FFF2-40B4-BE49-F238E27FC236}">
                  <a16:creationId xmlns:a16="http://schemas.microsoft.com/office/drawing/2014/main" id="{B2A4017A-B1AB-7C6D-527F-DBF976CC1CC6}"/>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8466E74D-E7CB-6398-8297-FF5D7411496A}"/>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2" name="TextBox 21">
            <a:extLst>
              <a:ext uri="{FF2B5EF4-FFF2-40B4-BE49-F238E27FC236}">
                <a16:creationId xmlns:a16="http://schemas.microsoft.com/office/drawing/2014/main" id="{252F45BA-4318-E6AA-F7C1-5ED35D3D223D}"/>
              </a:ext>
            </a:extLst>
          </p:cNvPr>
          <p:cNvSpPr txBox="1"/>
          <p:nvPr/>
        </p:nvSpPr>
        <p:spPr>
          <a:xfrm rot="16200000">
            <a:off x="5150040" y="1269287"/>
            <a:ext cx="1082452" cy="369332"/>
          </a:xfrm>
          <a:prstGeom prst="rect">
            <a:avLst/>
          </a:prstGeom>
          <a:noFill/>
        </p:spPr>
        <p:txBody>
          <a:bodyPr wrap="square" rtlCol="0">
            <a:spAutoFit/>
          </a:bodyPr>
          <a:lstStyle/>
          <a:p>
            <a:pPr algn="ctr"/>
            <a:r>
              <a:rPr lang="en-US" dirty="0"/>
              <a:t>DO</a:t>
            </a:r>
          </a:p>
        </p:txBody>
      </p:sp>
      <p:sp>
        <p:nvSpPr>
          <p:cNvPr id="24" name="TextBox 23">
            <a:extLst>
              <a:ext uri="{FF2B5EF4-FFF2-40B4-BE49-F238E27FC236}">
                <a16:creationId xmlns:a16="http://schemas.microsoft.com/office/drawing/2014/main" id="{82CFF5E8-0954-88FC-86DB-35F4BFE84707}"/>
              </a:ext>
            </a:extLst>
          </p:cNvPr>
          <p:cNvSpPr txBox="1"/>
          <p:nvPr/>
        </p:nvSpPr>
        <p:spPr>
          <a:xfrm rot="16200000">
            <a:off x="8207624" y="1281431"/>
            <a:ext cx="976380" cy="369332"/>
          </a:xfrm>
          <a:prstGeom prst="rect">
            <a:avLst/>
          </a:prstGeom>
          <a:noFill/>
        </p:spPr>
        <p:txBody>
          <a:bodyPr wrap="square" rtlCol="0">
            <a:spAutoFit/>
          </a:bodyPr>
          <a:lstStyle/>
          <a:p>
            <a:pPr algn="ctr"/>
            <a:r>
              <a:rPr lang="en-US" dirty="0"/>
              <a:t>GPP</a:t>
            </a:r>
          </a:p>
        </p:txBody>
      </p:sp>
      <p:grpSp>
        <p:nvGrpSpPr>
          <p:cNvPr id="109" name="Group 108">
            <a:extLst>
              <a:ext uri="{FF2B5EF4-FFF2-40B4-BE49-F238E27FC236}">
                <a16:creationId xmlns:a16="http://schemas.microsoft.com/office/drawing/2014/main" id="{C7EEB51A-57F7-377E-D78A-0464A188D097}"/>
              </a:ext>
            </a:extLst>
          </p:cNvPr>
          <p:cNvGrpSpPr/>
          <p:nvPr/>
        </p:nvGrpSpPr>
        <p:grpSpPr>
          <a:xfrm>
            <a:off x="6077910" y="1150916"/>
            <a:ext cx="1122949" cy="727741"/>
            <a:chOff x="6446642" y="1325555"/>
            <a:chExt cx="1122949" cy="727741"/>
          </a:xfrm>
        </p:grpSpPr>
        <p:cxnSp>
          <p:nvCxnSpPr>
            <p:cNvPr id="31" name="Straight Connector 30">
              <a:extLst>
                <a:ext uri="{FF2B5EF4-FFF2-40B4-BE49-F238E27FC236}">
                  <a16:creationId xmlns:a16="http://schemas.microsoft.com/office/drawing/2014/main" id="{97926BFB-E896-B9CE-0D0F-FDA8782BB894}"/>
                </a:ext>
              </a:extLst>
            </p:cNvPr>
            <p:cNvCxnSpPr>
              <a:cxnSpLocks/>
            </p:cNvCxnSpPr>
            <p:nvPr/>
          </p:nvCxnSpPr>
          <p:spPr>
            <a:xfrm>
              <a:off x="6446642" y="1325555"/>
              <a:ext cx="342900" cy="49148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1C9D49D-3658-B54F-83D1-610A134017F7}"/>
                </a:ext>
              </a:extLst>
            </p:cNvPr>
            <p:cNvCxnSpPr>
              <a:cxnSpLocks/>
            </p:cNvCxnSpPr>
            <p:nvPr/>
          </p:nvCxnSpPr>
          <p:spPr>
            <a:xfrm>
              <a:off x="6789542" y="1817035"/>
              <a:ext cx="780049" cy="236261"/>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81" name="Group 80">
            <a:extLst>
              <a:ext uri="{FF2B5EF4-FFF2-40B4-BE49-F238E27FC236}">
                <a16:creationId xmlns:a16="http://schemas.microsoft.com/office/drawing/2014/main" id="{4533AEC5-9D5A-E4BC-FD0B-941384A8A3A2}"/>
              </a:ext>
            </a:extLst>
          </p:cNvPr>
          <p:cNvGrpSpPr/>
          <p:nvPr/>
        </p:nvGrpSpPr>
        <p:grpSpPr>
          <a:xfrm>
            <a:off x="10033040" y="871557"/>
            <a:ext cx="2187535" cy="654267"/>
            <a:chOff x="9730311" y="1370589"/>
            <a:chExt cx="1787926" cy="654267"/>
          </a:xfrm>
        </p:grpSpPr>
        <p:sp>
          <p:nvSpPr>
            <p:cNvPr id="56" name="TextBox 55">
              <a:extLst>
                <a:ext uri="{FF2B5EF4-FFF2-40B4-BE49-F238E27FC236}">
                  <a16:creationId xmlns:a16="http://schemas.microsoft.com/office/drawing/2014/main" id="{47ED3ACF-022C-9504-513B-0BAFAC8D6249}"/>
                </a:ext>
              </a:extLst>
            </p:cNvPr>
            <p:cNvSpPr txBox="1"/>
            <p:nvPr/>
          </p:nvSpPr>
          <p:spPr>
            <a:xfrm>
              <a:off x="9730311" y="1370589"/>
              <a:ext cx="1787926" cy="415498"/>
            </a:xfrm>
            <a:prstGeom prst="rect">
              <a:avLst/>
            </a:prstGeom>
            <a:noFill/>
          </p:spPr>
          <p:txBody>
            <a:bodyPr wrap="square" rtlCol="0">
              <a:spAutoFit/>
            </a:bodyPr>
            <a:lstStyle/>
            <a:p>
              <a:pPr algn="ctr"/>
              <a:r>
                <a:rPr lang="en-US" sz="1050" dirty="0"/>
                <a:t>1: increased light attenuation</a:t>
              </a:r>
            </a:p>
          </p:txBody>
        </p:sp>
        <p:sp>
          <p:nvSpPr>
            <p:cNvPr id="57" name="TextBox 56">
              <a:extLst>
                <a:ext uri="{FF2B5EF4-FFF2-40B4-BE49-F238E27FC236}">
                  <a16:creationId xmlns:a16="http://schemas.microsoft.com/office/drawing/2014/main" id="{DBD8643E-4A01-DE08-4BCE-6C2B921B8E05}"/>
                </a:ext>
              </a:extLst>
            </p:cNvPr>
            <p:cNvSpPr txBox="1"/>
            <p:nvPr/>
          </p:nvSpPr>
          <p:spPr>
            <a:xfrm>
              <a:off x="9797342" y="1609358"/>
              <a:ext cx="1601399" cy="415498"/>
            </a:xfrm>
            <a:prstGeom prst="rect">
              <a:avLst/>
            </a:prstGeom>
            <a:noFill/>
          </p:spPr>
          <p:txBody>
            <a:bodyPr wrap="square" rtlCol="0">
              <a:spAutoFit/>
            </a:bodyPr>
            <a:lstStyle/>
            <a:p>
              <a:pPr algn="ctr"/>
              <a:r>
                <a:rPr lang="en-US" sz="1050" dirty="0"/>
                <a:t>2: Light occluded and DO is limited</a:t>
              </a:r>
            </a:p>
          </p:txBody>
        </p:sp>
      </p:grpSp>
      <p:grpSp>
        <p:nvGrpSpPr>
          <p:cNvPr id="146" name="Group 145">
            <a:extLst>
              <a:ext uri="{FF2B5EF4-FFF2-40B4-BE49-F238E27FC236}">
                <a16:creationId xmlns:a16="http://schemas.microsoft.com/office/drawing/2014/main" id="{07B31EA7-FEB7-B843-3D46-D5D07C82B717}"/>
              </a:ext>
            </a:extLst>
          </p:cNvPr>
          <p:cNvGrpSpPr/>
          <p:nvPr/>
        </p:nvGrpSpPr>
        <p:grpSpPr>
          <a:xfrm>
            <a:off x="5294310" y="2216576"/>
            <a:ext cx="1908908" cy="1104629"/>
            <a:chOff x="5456109" y="2197891"/>
            <a:chExt cx="1908908" cy="1104629"/>
          </a:xfrm>
        </p:grpSpPr>
        <p:grpSp>
          <p:nvGrpSpPr>
            <p:cNvPr id="9" name="Group 8">
              <a:extLst>
                <a:ext uri="{FF2B5EF4-FFF2-40B4-BE49-F238E27FC236}">
                  <a16:creationId xmlns:a16="http://schemas.microsoft.com/office/drawing/2014/main" id="{B772DBB7-570C-4519-691B-18F06A1656FF}"/>
                </a:ext>
              </a:extLst>
            </p:cNvPr>
            <p:cNvGrpSpPr/>
            <p:nvPr/>
          </p:nvGrpSpPr>
          <p:grpSpPr>
            <a:xfrm>
              <a:off x="5825441" y="2197893"/>
              <a:ext cx="1526906" cy="1104627"/>
              <a:chOff x="542925" y="2847975"/>
              <a:chExt cx="1276350" cy="1095375"/>
            </a:xfrm>
          </p:grpSpPr>
          <p:cxnSp>
            <p:nvCxnSpPr>
              <p:cNvPr id="10" name="Straight Arrow Connector 9">
                <a:extLst>
                  <a:ext uri="{FF2B5EF4-FFF2-40B4-BE49-F238E27FC236}">
                    <a16:creationId xmlns:a16="http://schemas.microsoft.com/office/drawing/2014/main" id="{0A3B8279-D605-48CE-AED3-3BF1EE87154F}"/>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3A7E0BDD-3B07-A10A-F042-AF89D242611E}"/>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3" name="TextBox 22">
              <a:extLst>
                <a:ext uri="{FF2B5EF4-FFF2-40B4-BE49-F238E27FC236}">
                  <a16:creationId xmlns:a16="http://schemas.microsoft.com/office/drawing/2014/main" id="{740F0028-3B06-EB75-77F4-90E902E70B2F}"/>
                </a:ext>
              </a:extLst>
            </p:cNvPr>
            <p:cNvSpPr txBox="1"/>
            <p:nvPr/>
          </p:nvSpPr>
          <p:spPr>
            <a:xfrm rot="16200000">
              <a:off x="5088461" y="2565539"/>
              <a:ext cx="1104627" cy="369332"/>
            </a:xfrm>
            <a:prstGeom prst="rect">
              <a:avLst/>
            </a:prstGeom>
            <a:noFill/>
          </p:spPr>
          <p:txBody>
            <a:bodyPr wrap="square" rtlCol="0">
              <a:spAutoFit/>
            </a:bodyPr>
            <a:lstStyle/>
            <a:p>
              <a:pPr algn="ctr"/>
              <a:r>
                <a:rPr lang="en-US" dirty="0"/>
                <a:t>DO</a:t>
              </a:r>
            </a:p>
          </p:txBody>
        </p:sp>
        <p:grpSp>
          <p:nvGrpSpPr>
            <p:cNvPr id="65" name="Group 64">
              <a:extLst>
                <a:ext uri="{FF2B5EF4-FFF2-40B4-BE49-F238E27FC236}">
                  <a16:creationId xmlns:a16="http://schemas.microsoft.com/office/drawing/2014/main" id="{219971B5-C3B3-5E20-C21D-EB1E13B470E8}"/>
                </a:ext>
              </a:extLst>
            </p:cNvPr>
            <p:cNvGrpSpPr/>
            <p:nvPr/>
          </p:nvGrpSpPr>
          <p:grpSpPr>
            <a:xfrm>
              <a:off x="5874091" y="2573619"/>
              <a:ext cx="1381665" cy="357897"/>
              <a:chOff x="5389270" y="2536292"/>
              <a:chExt cx="1381665" cy="357897"/>
            </a:xfrm>
          </p:grpSpPr>
          <p:cxnSp>
            <p:nvCxnSpPr>
              <p:cNvPr id="37" name="Straight Connector 36">
                <a:extLst>
                  <a:ext uri="{FF2B5EF4-FFF2-40B4-BE49-F238E27FC236}">
                    <a16:creationId xmlns:a16="http://schemas.microsoft.com/office/drawing/2014/main" id="{6A26C2D2-B785-58B8-1FF8-635F0E216FC7}"/>
                  </a:ext>
                </a:extLst>
              </p:cNvPr>
              <p:cNvCxnSpPr>
                <a:cxnSpLocks/>
              </p:cNvCxnSpPr>
              <p:nvPr/>
            </p:nvCxnSpPr>
            <p:spPr>
              <a:xfrm>
                <a:off x="5389270" y="2568980"/>
                <a:ext cx="306658" cy="212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7FEDAE6A-1ACE-9868-FAD3-2834A4144C60}"/>
                  </a:ext>
                </a:extLst>
              </p:cNvPr>
              <p:cNvCxnSpPr>
                <a:cxnSpLocks/>
              </p:cNvCxnSpPr>
              <p:nvPr/>
            </p:nvCxnSpPr>
            <p:spPr>
              <a:xfrm flipV="1">
                <a:off x="5680137" y="2542497"/>
                <a:ext cx="751282" cy="236408"/>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AE97730B-F414-44F3-2D18-9D989FCD148C}"/>
                  </a:ext>
                </a:extLst>
              </p:cNvPr>
              <p:cNvCxnSpPr>
                <a:cxnSpLocks/>
              </p:cNvCxnSpPr>
              <p:nvPr/>
            </p:nvCxnSpPr>
            <p:spPr>
              <a:xfrm>
                <a:off x="6428035" y="2536292"/>
                <a:ext cx="342900" cy="357897"/>
              </a:xfrm>
              <a:prstGeom prst="line">
                <a:avLst/>
              </a:prstGeom>
            </p:spPr>
            <p:style>
              <a:lnRef idx="2">
                <a:schemeClr val="accent1"/>
              </a:lnRef>
              <a:fillRef idx="0">
                <a:schemeClr val="accent1"/>
              </a:fillRef>
              <a:effectRef idx="1">
                <a:schemeClr val="accent1"/>
              </a:effectRef>
              <a:fontRef idx="minor">
                <a:schemeClr val="tx1"/>
              </a:fontRef>
            </p:style>
          </p:cxnSp>
        </p:grpSp>
        <p:sp>
          <p:nvSpPr>
            <p:cNvPr id="58" name="TextBox 57">
              <a:extLst>
                <a:ext uri="{FF2B5EF4-FFF2-40B4-BE49-F238E27FC236}">
                  <a16:creationId xmlns:a16="http://schemas.microsoft.com/office/drawing/2014/main" id="{1D8F47BB-3C87-518A-6A74-3349F96D77D7}"/>
                </a:ext>
              </a:extLst>
            </p:cNvPr>
            <p:cNvSpPr txBox="1"/>
            <p:nvPr/>
          </p:nvSpPr>
          <p:spPr>
            <a:xfrm>
              <a:off x="6371426" y="2369786"/>
              <a:ext cx="252850" cy="369332"/>
            </a:xfrm>
            <a:prstGeom prst="rect">
              <a:avLst/>
            </a:prstGeom>
            <a:noFill/>
          </p:spPr>
          <p:txBody>
            <a:bodyPr wrap="square" rtlCol="0">
              <a:spAutoFit/>
            </a:bodyPr>
            <a:lstStyle/>
            <a:p>
              <a:r>
                <a:rPr lang="en-US" dirty="0"/>
                <a:t>2</a:t>
              </a:r>
            </a:p>
          </p:txBody>
        </p:sp>
        <p:sp>
          <p:nvSpPr>
            <p:cNvPr id="59" name="TextBox 58">
              <a:extLst>
                <a:ext uri="{FF2B5EF4-FFF2-40B4-BE49-F238E27FC236}">
                  <a16:creationId xmlns:a16="http://schemas.microsoft.com/office/drawing/2014/main" id="{DDAFA555-76A2-6B42-2A70-52839D4E6D16}"/>
                </a:ext>
              </a:extLst>
            </p:cNvPr>
            <p:cNvSpPr txBox="1"/>
            <p:nvPr/>
          </p:nvSpPr>
          <p:spPr>
            <a:xfrm>
              <a:off x="7112167" y="2535814"/>
              <a:ext cx="252850" cy="369332"/>
            </a:xfrm>
            <a:prstGeom prst="rect">
              <a:avLst/>
            </a:prstGeom>
            <a:noFill/>
          </p:spPr>
          <p:txBody>
            <a:bodyPr wrap="square" rtlCol="0">
              <a:spAutoFit/>
            </a:bodyPr>
            <a:lstStyle/>
            <a:p>
              <a:r>
                <a:rPr lang="en-US" dirty="0"/>
                <a:t>3</a:t>
              </a:r>
            </a:p>
          </p:txBody>
        </p:sp>
        <p:sp>
          <p:nvSpPr>
            <p:cNvPr id="60" name="TextBox 59">
              <a:extLst>
                <a:ext uri="{FF2B5EF4-FFF2-40B4-BE49-F238E27FC236}">
                  <a16:creationId xmlns:a16="http://schemas.microsoft.com/office/drawing/2014/main" id="{E891AE44-549D-F1C0-B593-E23620B14AC5}"/>
                </a:ext>
              </a:extLst>
            </p:cNvPr>
            <p:cNvSpPr txBox="1"/>
            <p:nvPr/>
          </p:nvSpPr>
          <p:spPr>
            <a:xfrm>
              <a:off x="5806716" y="2661919"/>
              <a:ext cx="252850" cy="369332"/>
            </a:xfrm>
            <a:prstGeom prst="rect">
              <a:avLst/>
            </a:prstGeom>
            <a:noFill/>
          </p:spPr>
          <p:txBody>
            <a:bodyPr wrap="square" rtlCol="0">
              <a:spAutoFit/>
            </a:bodyPr>
            <a:lstStyle/>
            <a:p>
              <a:r>
                <a:rPr lang="en-US" dirty="0"/>
                <a:t>1</a:t>
              </a:r>
            </a:p>
          </p:txBody>
        </p:sp>
      </p:grpSp>
      <p:grpSp>
        <p:nvGrpSpPr>
          <p:cNvPr id="61" name="Group 60">
            <a:extLst>
              <a:ext uri="{FF2B5EF4-FFF2-40B4-BE49-F238E27FC236}">
                <a16:creationId xmlns:a16="http://schemas.microsoft.com/office/drawing/2014/main" id="{09B1A856-F026-C9C7-1CE3-25BA8AD17441}"/>
              </a:ext>
            </a:extLst>
          </p:cNvPr>
          <p:cNvGrpSpPr/>
          <p:nvPr/>
        </p:nvGrpSpPr>
        <p:grpSpPr>
          <a:xfrm>
            <a:off x="8975633" y="1247403"/>
            <a:ext cx="1149383" cy="785291"/>
            <a:chOff x="1038225" y="2495550"/>
            <a:chExt cx="2302669" cy="1123290"/>
          </a:xfrm>
        </p:grpSpPr>
        <p:cxnSp>
          <p:nvCxnSpPr>
            <p:cNvPr id="62" name="Straight Connector 61">
              <a:extLst>
                <a:ext uri="{FF2B5EF4-FFF2-40B4-BE49-F238E27FC236}">
                  <a16:creationId xmlns:a16="http://schemas.microsoft.com/office/drawing/2014/main" id="{6FF53BCC-0238-C63C-5C35-2A646F107B3F}"/>
                </a:ext>
              </a:extLst>
            </p:cNvPr>
            <p:cNvCxnSpPr>
              <a:cxnSpLocks/>
            </p:cNvCxnSpPr>
            <p:nvPr/>
          </p:nvCxnSpPr>
          <p:spPr>
            <a:xfrm>
              <a:off x="1038225" y="2495550"/>
              <a:ext cx="1185863" cy="194076"/>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6142CCE8-01BE-CF3F-C7A7-C1439E8C1FAE}"/>
                </a:ext>
              </a:extLst>
            </p:cNvPr>
            <p:cNvCxnSpPr>
              <a:cxnSpLocks/>
            </p:cNvCxnSpPr>
            <p:nvPr/>
          </p:nvCxnSpPr>
          <p:spPr>
            <a:xfrm>
              <a:off x="2212182" y="2689626"/>
              <a:ext cx="1128712" cy="929214"/>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45" name="Group 144">
            <a:extLst>
              <a:ext uri="{FF2B5EF4-FFF2-40B4-BE49-F238E27FC236}">
                <a16:creationId xmlns:a16="http://schemas.microsoft.com/office/drawing/2014/main" id="{CCA5E5CF-F57F-773F-4F14-3891F12BF4E5}"/>
              </a:ext>
            </a:extLst>
          </p:cNvPr>
          <p:cNvGrpSpPr/>
          <p:nvPr/>
        </p:nvGrpSpPr>
        <p:grpSpPr>
          <a:xfrm>
            <a:off x="8860970" y="2266857"/>
            <a:ext cx="1905017" cy="1104627"/>
            <a:chOff x="8634065" y="2333673"/>
            <a:chExt cx="1905017" cy="1104627"/>
          </a:xfrm>
        </p:grpSpPr>
        <p:grpSp>
          <p:nvGrpSpPr>
            <p:cNvPr id="18" name="Group 17">
              <a:extLst>
                <a:ext uri="{FF2B5EF4-FFF2-40B4-BE49-F238E27FC236}">
                  <a16:creationId xmlns:a16="http://schemas.microsoft.com/office/drawing/2014/main" id="{64A84835-571C-92B5-A1D2-1CCA0BB2FB9E}"/>
                </a:ext>
              </a:extLst>
            </p:cNvPr>
            <p:cNvGrpSpPr/>
            <p:nvPr/>
          </p:nvGrpSpPr>
          <p:grpSpPr>
            <a:xfrm>
              <a:off x="9003398" y="2333673"/>
              <a:ext cx="1526906" cy="1104627"/>
              <a:chOff x="542925" y="2847975"/>
              <a:chExt cx="1276350" cy="1095375"/>
            </a:xfrm>
          </p:grpSpPr>
          <p:cxnSp>
            <p:nvCxnSpPr>
              <p:cNvPr id="19" name="Straight Arrow Connector 18">
                <a:extLst>
                  <a:ext uri="{FF2B5EF4-FFF2-40B4-BE49-F238E27FC236}">
                    <a16:creationId xmlns:a16="http://schemas.microsoft.com/office/drawing/2014/main" id="{5FD42C87-C2C7-3CE5-F9EC-4BA3343B460B}"/>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55C29E90-519E-7C45-77F5-99624262EAA9}"/>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5" name="TextBox 24">
              <a:extLst>
                <a:ext uri="{FF2B5EF4-FFF2-40B4-BE49-F238E27FC236}">
                  <a16:creationId xmlns:a16="http://schemas.microsoft.com/office/drawing/2014/main" id="{56E8E649-1EAC-C668-CC9D-A5A810C6D4F0}"/>
                </a:ext>
              </a:extLst>
            </p:cNvPr>
            <p:cNvSpPr txBox="1"/>
            <p:nvPr/>
          </p:nvSpPr>
          <p:spPr>
            <a:xfrm rot="16200000">
              <a:off x="8305605" y="2662133"/>
              <a:ext cx="1026252" cy="369332"/>
            </a:xfrm>
            <a:prstGeom prst="rect">
              <a:avLst/>
            </a:prstGeom>
            <a:noFill/>
          </p:spPr>
          <p:txBody>
            <a:bodyPr wrap="square" rtlCol="0">
              <a:spAutoFit/>
            </a:bodyPr>
            <a:lstStyle/>
            <a:p>
              <a:pPr algn="ctr"/>
              <a:r>
                <a:rPr lang="en-US" dirty="0"/>
                <a:t>GPP</a:t>
              </a:r>
            </a:p>
          </p:txBody>
        </p:sp>
        <p:grpSp>
          <p:nvGrpSpPr>
            <p:cNvPr id="66" name="Group 65">
              <a:extLst>
                <a:ext uri="{FF2B5EF4-FFF2-40B4-BE49-F238E27FC236}">
                  <a16:creationId xmlns:a16="http://schemas.microsoft.com/office/drawing/2014/main" id="{D5577058-51CD-BB3D-A503-DFCC95D5EC31}"/>
                </a:ext>
              </a:extLst>
            </p:cNvPr>
            <p:cNvGrpSpPr/>
            <p:nvPr/>
          </p:nvGrpSpPr>
          <p:grpSpPr>
            <a:xfrm flipV="1">
              <a:off x="9076017" y="2672092"/>
              <a:ext cx="1381665" cy="407963"/>
              <a:chOff x="5389270" y="2536292"/>
              <a:chExt cx="1381665" cy="357897"/>
            </a:xfrm>
          </p:grpSpPr>
          <p:cxnSp>
            <p:nvCxnSpPr>
              <p:cNvPr id="67" name="Straight Connector 66">
                <a:extLst>
                  <a:ext uri="{FF2B5EF4-FFF2-40B4-BE49-F238E27FC236}">
                    <a16:creationId xmlns:a16="http://schemas.microsoft.com/office/drawing/2014/main" id="{84E60FB0-99A0-3110-BA9C-12803AF3F04A}"/>
                  </a:ext>
                </a:extLst>
              </p:cNvPr>
              <p:cNvCxnSpPr>
                <a:cxnSpLocks/>
              </p:cNvCxnSpPr>
              <p:nvPr/>
            </p:nvCxnSpPr>
            <p:spPr>
              <a:xfrm>
                <a:off x="5389270" y="2568980"/>
                <a:ext cx="306658" cy="212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F7D3638E-9472-AFF5-F4F4-A0DF75E93081}"/>
                  </a:ext>
                </a:extLst>
              </p:cNvPr>
              <p:cNvCxnSpPr>
                <a:cxnSpLocks/>
              </p:cNvCxnSpPr>
              <p:nvPr/>
            </p:nvCxnSpPr>
            <p:spPr>
              <a:xfrm flipV="1">
                <a:off x="5680137" y="2542497"/>
                <a:ext cx="751282" cy="236408"/>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19839402-65A2-22B3-E659-37D256F08DAD}"/>
                  </a:ext>
                </a:extLst>
              </p:cNvPr>
              <p:cNvCxnSpPr>
                <a:cxnSpLocks/>
              </p:cNvCxnSpPr>
              <p:nvPr/>
            </p:nvCxnSpPr>
            <p:spPr>
              <a:xfrm>
                <a:off x="6428035" y="2536292"/>
                <a:ext cx="342900" cy="357897"/>
              </a:xfrm>
              <a:prstGeom prst="line">
                <a:avLst/>
              </a:prstGeom>
            </p:spPr>
            <p:style>
              <a:lnRef idx="2">
                <a:schemeClr val="accent1"/>
              </a:lnRef>
              <a:fillRef idx="0">
                <a:schemeClr val="accent1"/>
              </a:fillRef>
              <a:effectRef idx="1">
                <a:schemeClr val="accent1"/>
              </a:effectRef>
              <a:fontRef idx="minor">
                <a:schemeClr val="tx1"/>
              </a:fontRef>
            </p:style>
          </p:cxnSp>
        </p:grpSp>
        <p:sp>
          <p:nvSpPr>
            <p:cNvPr id="70" name="TextBox 69">
              <a:extLst>
                <a:ext uri="{FF2B5EF4-FFF2-40B4-BE49-F238E27FC236}">
                  <a16:creationId xmlns:a16="http://schemas.microsoft.com/office/drawing/2014/main" id="{D75E050D-9570-EC60-5106-40B3447B306A}"/>
                </a:ext>
              </a:extLst>
            </p:cNvPr>
            <p:cNvSpPr txBox="1"/>
            <p:nvPr/>
          </p:nvSpPr>
          <p:spPr>
            <a:xfrm>
              <a:off x="9703830" y="2661055"/>
              <a:ext cx="252850" cy="369332"/>
            </a:xfrm>
            <a:prstGeom prst="rect">
              <a:avLst/>
            </a:prstGeom>
            <a:noFill/>
          </p:spPr>
          <p:txBody>
            <a:bodyPr wrap="square" rtlCol="0">
              <a:spAutoFit/>
            </a:bodyPr>
            <a:lstStyle/>
            <a:p>
              <a:r>
                <a:rPr lang="en-US" dirty="0"/>
                <a:t>2</a:t>
              </a:r>
            </a:p>
          </p:txBody>
        </p:sp>
        <p:sp>
          <p:nvSpPr>
            <p:cNvPr id="71" name="TextBox 70">
              <a:extLst>
                <a:ext uri="{FF2B5EF4-FFF2-40B4-BE49-F238E27FC236}">
                  <a16:creationId xmlns:a16="http://schemas.microsoft.com/office/drawing/2014/main" id="{F1D154E2-7F26-2F53-44D8-BCFD1121257E}"/>
                </a:ext>
              </a:extLst>
            </p:cNvPr>
            <p:cNvSpPr txBox="1"/>
            <p:nvPr/>
          </p:nvSpPr>
          <p:spPr>
            <a:xfrm>
              <a:off x="10286232" y="2762443"/>
              <a:ext cx="252850" cy="369332"/>
            </a:xfrm>
            <a:prstGeom prst="rect">
              <a:avLst/>
            </a:prstGeom>
            <a:noFill/>
          </p:spPr>
          <p:txBody>
            <a:bodyPr wrap="square" rtlCol="0">
              <a:spAutoFit/>
            </a:bodyPr>
            <a:lstStyle/>
            <a:p>
              <a:r>
                <a:rPr lang="en-US" dirty="0"/>
                <a:t>3</a:t>
              </a:r>
            </a:p>
          </p:txBody>
        </p:sp>
        <p:sp>
          <p:nvSpPr>
            <p:cNvPr id="72" name="TextBox 71">
              <a:extLst>
                <a:ext uri="{FF2B5EF4-FFF2-40B4-BE49-F238E27FC236}">
                  <a16:creationId xmlns:a16="http://schemas.microsoft.com/office/drawing/2014/main" id="{32C7C772-965A-987B-6E32-33F4AFF2F32B}"/>
                </a:ext>
              </a:extLst>
            </p:cNvPr>
            <p:cNvSpPr txBox="1"/>
            <p:nvPr/>
          </p:nvSpPr>
          <p:spPr>
            <a:xfrm>
              <a:off x="8990329" y="2665959"/>
              <a:ext cx="252850" cy="369332"/>
            </a:xfrm>
            <a:prstGeom prst="rect">
              <a:avLst/>
            </a:prstGeom>
            <a:noFill/>
          </p:spPr>
          <p:txBody>
            <a:bodyPr wrap="square" rtlCol="0">
              <a:spAutoFit/>
            </a:bodyPr>
            <a:lstStyle/>
            <a:p>
              <a:r>
                <a:rPr lang="en-US" dirty="0"/>
                <a:t>1</a:t>
              </a:r>
            </a:p>
          </p:txBody>
        </p:sp>
      </p:grpSp>
      <p:sp>
        <p:nvSpPr>
          <p:cNvPr id="73" name="TextBox 72">
            <a:extLst>
              <a:ext uri="{FF2B5EF4-FFF2-40B4-BE49-F238E27FC236}">
                <a16:creationId xmlns:a16="http://schemas.microsoft.com/office/drawing/2014/main" id="{3283227D-EDEE-742C-8A29-CFF51615EBA9}"/>
              </a:ext>
            </a:extLst>
          </p:cNvPr>
          <p:cNvSpPr txBox="1"/>
          <p:nvPr/>
        </p:nvSpPr>
        <p:spPr>
          <a:xfrm>
            <a:off x="9182587" y="999912"/>
            <a:ext cx="1162787" cy="369332"/>
          </a:xfrm>
          <a:prstGeom prst="rect">
            <a:avLst/>
          </a:prstGeom>
          <a:noFill/>
        </p:spPr>
        <p:txBody>
          <a:bodyPr wrap="square" rtlCol="0">
            <a:spAutoFit/>
          </a:bodyPr>
          <a:lstStyle/>
          <a:p>
            <a:r>
              <a:rPr lang="en-US" dirty="0"/>
              <a:t>1</a:t>
            </a:r>
          </a:p>
        </p:txBody>
      </p:sp>
      <p:sp>
        <p:nvSpPr>
          <p:cNvPr id="74" name="TextBox 73">
            <a:extLst>
              <a:ext uri="{FF2B5EF4-FFF2-40B4-BE49-F238E27FC236}">
                <a16:creationId xmlns:a16="http://schemas.microsoft.com/office/drawing/2014/main" id="{57BF530A-A564-374C-EB50-8BAD356D7F86}"/>
              </a:ext>
            </a:extLst>
          </p:cNvPr>
          <p:cNvSpPr txBox="1"/>
          <p:nvPr/>
        </p:nvSpPr>
        <p:spPr>
          <a:xfrm>
            <a:off x="9901961" y="1511692"/>
            <a:ext cx="352932" cy="369332"/>
          </a:xfrm>
          <a:prstGeom prst="rect">
            <a:avLst/>
          </a:prstGeom>
          <a:noFill/>
        </p:spPr>
        <p:txBody>
          <a:bodyPr wrap="square" rtlCol="0">
            <a:spAutoFit/>
          </a:bodyPr>
          <a:lstStyle/>
          <a:p>
            <a:r>
              <a:rPr lang="en-US" dirty="0"/>
              <a:t>2</a:t>
            </a:r>
          </a:p>
        </p:txBody>
      </p:sp>
      <p:grpSp>
        <p:nvGrpSpPr>
          <p:cNvPr id="80" name="Group 79">
            <a:extLst>
              <a:ext uri="{FF2B5EF4-FFF2-40B4-BE49-F238E27FC236}">
                <a16:creationId xmlns:a16="http://schemas.microsoft.com/office/drawing/2014/main" id="{B3A6D9A7-1B44-467D-4608-AE9B0C745C09}"/>
              </a:ext>
            </a:extLst>
          </p:cNvPr>
          <p:cNvGrpSpPr/>
          <p:nvPr/>
        </p:nvGrpSpPr>
        <p:grpSpPr>
          <a:xfrm>
            <a:off x="7076793" y="2252834"/>
            <a:ext cx="1803688" cy="1268577"/>
            <a:chOff x="7966840" y="2458444"/>
            <a:chExt cx="1201551" cy="1045355"/>
          </a:xfrm>
        </p:grpSpPr>
        <p:sp>
          <p:nvSpPr>
            <p:cNvPr id="77" name="TextBox 76">
              <a:extLst>
                <a:ext uri="{FF2B5EF4-FFF2-40B4-BE49-F238E27FC236}">
                  <a16:creationId xmlns:a16="http://schemas.microsoft.com/office/drawing/2014/main" id="{12108412-346F-5E28-D621-284FCB65FEE1}"/>
                </a:ext>
              </a:extLst>
            </p:cNvPr>
            <p:cNvSpPr txBox="1"/>
            <p:nvPr/>
          </p:nvSpPr>
          <p:spPr>
            <a:xfrm>
              <a:off x="7984532" y="2458444"/>
              <a:ext cx="1092228" cy="246221"/>
            </a:xfrm>
            <a:prstGeom prst="rect">
              <a:avLst/>
            </a:prstGeom>
            <a:noFill/>
          </p:spPr>
          <p:txBody>
            <a:bodyPr wrap="square" rtlCol="0">
              <a:spAutoFit/>
            </a:bodyPr>
            <a:lstStyle/>
            <a:p>
              <a:pPr algn="ctr"/>
              <a:r>
                <a:rPr lang="en-US" sz="1000" dirty="0"/>
                <a:t>1: increased light attenuation</a:t>
              </a:r>
            </a:p>
          </p:txBody>
        </p:sp>
        <p:sp>
          <p:nvSpPr>
            <p:cNvPr id="78" name="TextBox 77">
              <a:extLst>
                <a:ext uri="{FF2B5EF4-FFF2-40B4-BE49-F238E27FC236}">
                  <a16:creationId xmlns:a16="http://schemas.microsoft.com/office/drawing/2014/main" id="{D248375A-9379-485D-B5DE-1D9E6B74868C}"/>
                </a:ext>
              </a:extLst>
            </p:cNvPr>
            <p:cNvSpPr txBox="1"/>
            <p:nvPr/>
          </p:nvSpPr>
          <p:spPr>
            <a:xfrm>
              <a:off x="7966840" y="2743720"/>
              <a:ext cx="1201551" cy="415498"/>
            </a:xfrm>
            <a:prstGeom prst="rect">
              <a:avLst/>
            </a:prstGeom>
            <a:noFill/>
          </p:spPr>
          <p:txBody>
            <a:bodyPr wrap="square" rtlCol="0">
              <a:spAutoFit/>
            </a:bodyPr>
            <a:lstStyle/>
            <a:p>
              <a:pPr algn="ctr"/>
              <a:r>
                <a:rPr lang="en-US" sz="1000" dirty="0"/>
                <a:t>2: Flood plain interaction spurs productivity</a:t>
              </a:r>
            </a:p>
          </p:txBody>
        </p:sp>
        <p:sp>
          <p:nvSpPr>
            <p:cNvPr id="79" name="TextBox 78">
              <a:extLst>
                <a:ext uri="{FF2B5EF4-FFF2-40B4-BE49-F238E27FC236}">
                  <a16:creationId xmlns:a16="http://schemas.microsoft.com/office/drawing/2014/main" id="{A47154D2-3A15-3F07-0EFD-D9145DC01053}"/>
                </a:ext>
              </a:extLst>
            </p:cNvPr>
            <p:cNvSpPr txBox="1"/>
            <p:nvPr/>
          </p:nvSpPr>
          <p:spPr>
            <a:xfrm>
              <a:off x="8019692" y="3047284"/>
              <a:ext cx="1138944" cy="456515"/>
            </a:xfrm>
            <a:prstGeom prst="rect">
              <a:avLst/>
            </a:prstGeom>
            <a:noFill/>
          </p:spPr>
          <p:txBody>
            <a:bodyPr wrap="square" rtlCol="0">
              <a:spAutoFit/>
            </a:bodyPr>
            <a:lstStyle/>
            <a:p>
              <a:pPr algn="ctr"/>
              <a:r>
                <a:rPr lang="en-US" sz="1000" dirty="0"/>
                <a:t>3: Productivity unstable with increasing depth/river water and crashes</a:t>
              </a:r>
            </a:p>
          </p:txBody>
        </p:sp>
      </p:grpSp>
      <p:grpSp>
        <p:nvGrpSpPr>
          <p:cNvPr id="89" name="Group 88">
            <a:extLst>
              <a:ext uri="{FF2B5EF4-FFF2-40B4-BE49-F238E27FC236}">
                <a16:creationId xmlns:a16="http://schemas.microsoft.com/office/drawing/2014/main" id="{EE3696EC-E836-E0E5-7221-CC3A17F3E236}"/>
              </a:ext>
            </a:extLst>
          </p:cNvPr>
          <p:cNvGrpSpPr/>
          <p:nvPr/>
        </p:nvGrpSpPr>
        <p:grpSpPr>
          <a:xfrm>
            <a:off x="5806717" y="4029045"/>
            <a:ext cx="1526906" cy="2284118"/>
            <a:chOff x="5493020" y="1133475"/>
            <a:chExt cx="1526906" cy="2284118"/>
          </a:xfrm>
        </p:grpSpPr>
        <p:grpSp>
          <p:nvGrpSpPr>
            <p:cNvPr id="90" name="Group 89">
              <a:extLst>
                <a:ext uri="{FF2B5EF4-FFF2-40B4-BE49-F238E27FC236}">
                  <a16:creationId xmlns:a16="http://schemas.microsoft.com/office/drawing/2014/main" id="{88FDDFE0-65FF-7D13-41E4-6974C2C868B4}"/>
                </a:ext>
              </a:extLst>
            </p:cNvPr>
            <p:cNvGrpSpPr/>
            <p:nvPr/>
          </p:nvGrpSpPr>
          <p:grpSpPr>
            <a:xfrm>
              <a:off x="5493020" y="1133475"/>
              <a:ext cx="1526906" cy="1104627"/>
              <a:chOff x="542925" y="2847975"/>
              <a:chExt cx="1276350" cy="1095375"/>
            </a:xfrm>
          </p:grpSpPr>
          <p:cxnSp>
            <p:nvCxnSpPr>
              <p:cNvPr id="94" name="Straight Arrow Connector 93">
                <a:extLst>
                  <a:ext uri="{FF2B5EF4-FFF2-40B4-BE49-F238E27FC236}">
                    <a16:creationId xmlns:a16="http://schemas.microsoft.com/office/drawing/2014/main" id="{C65C4C52-C4BA-3757-C051-2C98E0431B8F}"/>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5" name="Straight Arrow Connector 94">
                <a:extLst>
                  <a:ext uri="{FF2B5EF4-FFF2-40B4-BE49-F238E27FC236}">
                    <a16:creationId xmlns:a16="http://schemas.microsoft.com/office/drawing/2014/main" id="{EE18A780-E197-38C3-D451-1676A34B1EC8}"/>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91" name="Group 90">
              <a:extLst>
                <a:ext uri="{FF2B5EF4-FFF2-40B4-BE49-F238E27FC236}">
                  <a16:creationId xmlns:a16="http://schemas.microsoft.com/office/drawing/2014/main" id="{F65CC7E7-DADE-7CCB-15D4-363754049C4D}"/>
                </a:ext>
              </a:extLst>
            </p:cNvPr>
            <p:cNvGrpSpPr/>
            <p:nvPr/>
          </p:nvGrpSpPr>
          <p:grpSpPr>
            <a:xfrm>
              <a:off x="5493020" y="2312966"/>
              <a:ext cx="1526906" cy="1104627"/>
              <a:chOff x="542925" y="2847975"/>
              <a:chExt cx="1276350" cy="1095375"/>
            </a:xfrm>
          </p:grpSpPr>
          <p:cxnSp>
            <p:nvCxnSpPr>
              <p:cNvPr id="92" name="Straight Arrow Connector 91">
                <a:extLst>
                  <a:ext uri="{FF2B5EF4-FFF2-40B4-BE49-F238E27FC236}">
                    <a16:creationId xmlns:a16="http://schemas.microsoft.com/office/drawing/2014/main" id="{0F63C959-C323-1CD3-1697-0BAED4082536}"/>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3" name="Straight Arrow Connector 92">
                <a:extLst>
                  <a:ext uri="{FF2B5EF4-FFF2-40B4-BE49-F238E27FC236}">
                    <a16:creationId xmlns:a16="http://schemas.microsoft.com/office/drawing/2014/main" id="{C1BFE06F-8859-6EF0-1AA2-A7A8D49A6D1E}"/>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grpSp>
        <p:nvGrpSpPr>
          <p:cNvPr id="96" name="Group 95">
            <a:extLst>
              <a:ext uri="{FF2B5EF4-FFF2-40B4-BE49-F238E27FC236}">
                <a16:creationId xmlns:a16="http://schemas.microsoft.com/office/drawing/2014/main" id="{08380D16-DC68-D0DA-5A72-EE50A252CBE2}"/>
              </a:ext>
            </a:extLst>
          </p:cNvPr>
          <p:cNvGrpSpPr/>
          <p:nvPr/>
        </p:nvGrpSpPr>
        <p:grpSpPr>
          <a:xfrm>
            <a:off x="9271096" y="4118133"/>
            <a:ext cx="1526906" cy="2284118"/>
            <a:chOff x="5493020" y="1133475"/>
            <a:chExt cx="1526906" cy="2284118"/>
          </a:xfrm>
        </p:grpSpPr>
        <p:grpSp>
          <p:nvGrpSpPr>
            <p:cNvPr id="97" name="Group 96">
              <a:extLst>
                <a:ext uri="{FF2B5EF4-FFF2-40B4-BE49-F238E27FC236}">
                  <a16:creationId xmlns:a16="http://schemas.microsoft.com/office/drawing/2014/main" id="{D529576D-C3FA-B7A2-F8C1-401E3ED0A748}"/>
                </a:ext>
              </a:extLst>
            </p:cNvPr>
            <p:cNvGrpSpPr/>
            <p:nvPr/>
          </p:nvGrpSpPr>
          <p:grpSpPr>
            <a:xfrm>
              <a:off x="5493020" y="1133475"/>
              <a:ext cx="1526906" cy="1104627"/>
              <a:chOff x="542925" y="2847975"/>
              <a:chExt cx="1276350" cy="1095375"/>
            </a:xfrm>
          </p:grpSpPr>
          <p:cxnSp>
            <p:nvCxnSpPr>
              <p:cNvPr id="101" name="Straight Arrow Connector 100">
                <a:extLst>
                  <a:ext uri="{FF2B5EF4-FFF2-40B4-BE49-F238E27FC236}">
                    <a16:creationId xmlns:a16="http://schemas.microsoft.com/office/drawing/2014/main" id="{C09A0B8F-C08D-AE95-BA6E-28625A94B1F7}"/>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2" name="Straight Arrow Connector 101">
                <a:extLst>
                  <a:ext uri="{FF2B5EF4-FFF2-40B4-BE49-F238E27FC236}">
                    <a16:creationId xmlns:a16="http://schemas.microsoft.com/office/drawing/2014/main" id="{9754EF3E-71DA-A573-8D3C-E1398A6448E9}"/>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98" name="Group 97">
              <a:extLst>
                <a:ext uri="{FF2B5EF4-FFF2-40B4-BE49-F238E27FC236}">
                  <a16:creationId xmlns:a16="http://schemas.microsoft.com/office/drawing/2014/main" id="{1C232715-EA0D-6052-ABCE-C1779E855807}"/>
                </a:ext>
              </a:extLst>
            </p:cNvPr>
            <p:cNvGrpSpPr/>
            <p:nvPr/>
          </p:nvGrpSpPr>
          <p:grpSpPr>
            <a:xfrm>
              <a:off x="5493020" y="2312966"/>
              <a:ext cx="1526906" cy="1104627"/>
              <a:chOff x="542925" y="2847975"/>
              <a:chExt cx="1276350" cy="1095375"/>
            </a:xfrm>
          </p:grpSpPr>
          <p:cxnSp>
            <p:nvCxnSpPr>
              <p:cNvPr id="99" name="Straight Arrow Connector 98">
                <a:extLst>
                  <a:ext uri="{FF2B5EF4-FFF2-40B4-BE49-F238E27FC236}">
                    <a16:creationId xmlns:a16="http://schemas.microsoft.com/office/drawing/2014/main" id="{925A9347-2ED6-5191-C2F1-292E3B5C14EF}"/>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0" name="Straight Arrow Connector 99">
                <a:extLst>
                  <a:ext uri="{FF2B5EF4-FFF2-40B4-BE49-F238E27FC236}">
                    <a16:creationId xmlns:a16="http://schemas.microsoft.com/office/drawing/2014/main" id="{41FBA715-E5A4-9DD4-DA8D-BFA348B0FD86}"/>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grpSp>
        <p:nvGrpSpPr>
          <p:cNvPr id="130" name="Group 129">
            <a:extLst>
              <a:ext uri="{FF2B5EF4-FFF2-40B4-BE49-F238E27FC236}">
                <a16:creationId xmlns:a16="http://schemas.microsoft.com/office/drawing/2014/main" id="{AC2BFB26-B319-4949-3468-92C921695B0A}"/>
              </a:ext>
            </a:extLst>
          </p:cNvPr>
          <p:cNvGrpSpPr/>
          <p:nvPr/>
        </p:nvGrpSpPr>
        <p:grpSpPr>
          <a:xfrm>
            <a:off x="4961186" y="4015365"/>
            <a:ext cx="528060" cy="2251245"/>
            <a:chOff x="5087390" y="3886694"/>
            <a:chExt cx="528060" cy="2251245"/>
          </a:xfrm>
        </p:grpSpPr>
        <p:sp>
          <p:nvSpPr>
            <p:cNvPr id="103" name="TextBox 102">
              <a:extLst>
                <a:ext uri="{FF2B5EF4-FFF2-40B4-BE49-F238E27FC236}">
                  <a16:creationId xmlns:a16="http://schemas.microsoft.com/office/drawing/2014/main" id="{C38C6317-8567-4162-B931-58F9B8BB825B}"/>
                </a:ext>
              </a:extLst>
            </p:cNvPr>
            <p:cNvSpPr txBox="1"/>
            <p:nvPr/>
          </p:nvSpPr>
          <p:spPr>
            <a:xfrm rot="16200000">
              <a:off x="4815385" y="4158699"/>
              <a:ext cx="1067229" cy="523220"/>
            </a:xfrm>
            <a:prstGeom prst="rect">
              <a:avLst/>
            </a:prstGeom>
            <a:noFill/>
          </p:spPr>
          <p:txBody>
            <a:bodyPr wrap="square" rtlCol="0">
              <a:spAutoFit/>
            </a:bodyPr>
            <a:lstStyle/>
            <a:p>
              <a:pPr algn="ctr"/>
              <a:r>
                <a:rPr lang="en-US" sz="1400" dirty="0"/>
                <a:t>More vulnerable: </a:t>
              </a:r>
            </a:p>
          </p:txBody>
        </p:sp>
        <p:sp>
          <p:nvSpPr>
            <p:cNvPr id="104" name="TextBox 103">
              <a:extLst>
                <a:ext uri="{FF2B5EF4-FFF2-40B4-BE49-F238E27FC236}">
                  <a16:creationId xmlns:a16="http://schemas.microsoft.com/office/drawing/2014/main" id="{9D2ACE37-BF03-F6E5-D322-3DFC20BCEDF0}"/>
                </a:ext>
              </a:extLst>
            </p:cNvPr>
            <p:cNvSpPr txBox="1"/>
            <p:nvPr/>
          </p:nvSpPr>
          <p:spPr>
            <a:xfrm rot="16200000">
              <a:off x="4820225" y="5342715"/>
              <a:ext cx="1067229" cy="523220"/>
            </a:xfrm>
            <a:prstGeom prst="rect">
              <a:avLst/>
            </a:prstGeom>
            <a:noFill/>
          </p:spPr>
          <p:txBody>
            <a:bodyPr wrap="square" rtlCol="0">
              <a:spAutoFit/>
            </a:bodyPr>
            <a:lstStyle/>
            <a:p>
              <a:pPr algn="ctr"/>
              <a:r>
                <a:rPr lang="en-US" sz="1400" dirty="0"/>
                <a:t>Less vulnerable: </a:t>
              </a:r>
            </a:p>
          </p:txBody>
        </p:sp>
      </p:grpSp>
      <p:sp>
        <p:nvSpPr>
          <p:cNvPr id="105" name="TextBox 104">
            <a:extLst>
              <a:ext uri="{FF2B5EF4-FFF2-40B4-BE49-F238E27FC236}">
                <a16:creationId xmlns:a16="http://schemas.microsoft.com/office/drawing/2014/main" id="{B1168351-90B4-675E-72F8-B7DE366EF804}"/>
              </a:ext>
            </a:extLst>
          </p:cNvPr>
          <p:cNvSpPr txBox="1"/>
          <p:nvPr/>
        </p:nvSpPr>
        <p:spPr>
          <a:xfrm rot="16200000">
            <a:off x="5088463" y="4354433"/>
            <a:ext cx="1104627" cy="369332"/>
          </a:xfrm>
          <a:prstGeom prst="rect">
            <a:avLst/>
          </a:prstGeom>
          <a:noFill/>
        </p:spPr>
        <p:txBody>
          <a:bodyPr wrap="square" rtlCol="0">
            <a:spAutoFit/>
          </a:bodyPr>
          <a:lstStyle/>
          <a:p>
            <a:pPr algn="ctr"/>
            <a:r>
              <a:rPr lang="en-US" dirty="0"/>
              <a:t>CO2</a:t>
            </a:r>
          </a:p>
        </p:txBody>
      </p:sp>
      <p:sp>
        <p:nvSpPr>
          <p:cNvPr id="106" name="TextBox 105">
            <a:extLst>
              <a:ext uri="{FF2B5EF4-FFF2-40B4-BE49-F238E27FC236}">
                <a16:creationId xmlns:a16="http://schemas.microsoft.com/office/drawing/2014/main" id="{1E4CD460-7F3E-F6B3-32CF-9C7996B419DA}"/>
              </a:ext>
            </a:extLst>
          </p:cNvPr>
          <p:cNvSpPr txBox="1"/>
          <p:nvPr/>
        </p:nvSpPr>
        <p:spPr>
          <a:xfrm rot="16200000">
            <a:off x="5040598" y="5534670"/>
            <a:ext cx="1104627" cy="369332"/>
          </a:xfrm>
          <a:prstGeom prst="rect">
            <a:avLst/>
          </a:prstGeom>
          <a:noFill/>
        </p:spPr>
        <p:txBody>
          <a:bodyPr wrap="square" rtlCol="0">
            <a:spAutoFit/>
          </a:bodyPr>
          <a:lstStyle/>
          <a:p>
            <a:pPr algn="ctr"/>
            <a:r>
              <a:rPr lang="en-US" dirty="0"/>
              <a:t>CO2</a:t>
            </a:r>
          </a:p>
        </p:txBody>
      </p:sp>
      <p:sp>
        <p:nvSpPr>
          <p:cNvPr id="107" name="TextBox 106">
            <a:extLst>
              <a:ext uri="{FF2B5EF4-FFF2-40B4-BE49-F238E27FC236}">
                <a16:creationId xmlns:a16="http://schemas.microsoft.com/office/drawing/2014/main" id="{9258820F-BC75-DEEC-A107-3AF230470A87}"/>
              </a:ext>
            </a:extLst>
          </p:cNvPr>
          <p:cNvSpPr txBox="1"/>
          <p:nvPr/>
        </p:nvSpPr>
        <p:spPr>
          <a:xfrm rot="16200000">
            <a:off x="8534117" y="5608413"/>
            <a:ext cx="1104627" cy="369332"/>
          </a:xfrm>
          <a:prstGeom prst="rect">
            <a:avLst/>
          </a:prstGeom>
          <a:noFill/>
        </p:spPr>
        <p:txBody>
          <a:bodyPr wrap="square" rtlCol="0">
            <a:spAutoFit/>
          </a:bodyPr>
          <a:lstStyle/>
          <a:p>
            <a:pPr algn="ctr"/>
            <a:r>
              <a:rPr lang="en-US" dirty="0"/>
              <a:t>ER</a:t>
            </a:r>
          </a:p>
        </p:txBody>
      </p:sp>
      <p:sp>
        <p:nvSpPr>
          <p:cNvPr id="108" name="TextBox 107">
            <a:extLst>
              <a:ext uri="{FF2B5EF4-FFF2-40B4-BE49-F238E27FC236}">
                <a16:creationId xmlns:a16="http://schemas.microsoft.com/office/drawing/2014/main" id="{ADB1CB95-21E9-08CD-C1F4-A7D39304668E}"/>
              </a:ext>
            </a:extLst>
          </p:cNvPr>
          <p:cNvSpPr txBox="1"/>
          <p:nvPr/>
        </p:nvSpPr>
        <p:spPr>
          <a:xfrm rot="16200000">
            <a:off x="8581982" y="4504223"/>
            <a:ext cx="1104627" cy="369332"/>
          </a:xfrm>
          <a:prstGeom prst="rect">
            <a:avLst/>
          </a:prstGeom>
          <a:noFill/>
        </p:spPr>
        <p:txBody>
          <a:bodyPr wrap="square" rtlCol="0">
            <a:spAutoFit/>
          </a:bodyPr>
          <a:lstStyle/>
          <a:p>
            <a:pPr algn="ctr"/>
            <a:r>
              <a:rPr lang="en-US" dirty="0"/>
              <a:t>ER</a:t>
            </a:r>
          </a:p>
        </p:txBody>
      </p:sp>
      <p:grpSp>
        <p:nvGrpSpPr>
          <p:cNvPr id="110" name="Group 109">
            <a:extLst>
              <a:ext uri="{FF2B5EF4-FFF2-40B4-BE49-F238E27FC236}">
                <a16:creationId xmlns:a16="http://schemas.microsoft.com/office/drawing/2014/main" id="{A1ED1C80-EC3E-09BF-7F15-1247EFEE3397}"/>
              </a:ext>
            </a:extLst>
          </p:cNvPr>
          <p:cNvGrpSpPr/>
          <p:nvPr/>
        </p:nvGrpSpPr>
        <p:grpSpPr>
          <a:xfrm rot="7132000">
            <a:off x="6045946" y="5358718"/>
            <a:ext cx="881825" cy="804262"/>
            <a:chOff x="6446642" y="1325555"/>
            <a:chExt cx="881825" cy="804262"/>
          </a:xfrm>
        </p:grpSpPr>
        <p:cxnSp>
          <p:nvCxnSpPr>
            <p:cNvPr id="111" name="Straight Connector 110">
              <a:extLst>
                <a:ext uri="{FF2B5EF4-FFF2-40B4-BE49-F238E27FC236}">
                  <a16:creationId xmlns:a16="http://schemas.microsoft.com/office/drawing/2014/main" id="{D4599E9B-13FD-C5C0-CDAC-693389715176}"/>
                </a:ext>
              </a:extLst>
            </p:cNvPr>
            <p:cNvCxnSpPr>
              <a:cxnSpLocks/>
            </p:cNvCxnSpPr>
            <p:nvPr/>
          </p:nvCxnSpPr>
          <p:spPr>
            <a:xfrm>
              <a:off x="6446642" y="1325555"/>
              <a:ext cx="342900" cy="49148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F1834AED-79A5-A2A6-8929-A44C1566662F}"/>
                </a:ext>
              </a:extLst>
            </p:cNvPr>
            <p:cNvCxnSpPr>
              <a:cxnSpLocks/>
            </p:cNvCxnSpPr>
            <p:nvPr/>
          </p:nvCxnSpPr>
          <p:spPr>
            <a:xfrm rot="14754247" flipH="1">
              <a:off x="6878480" y="1679829"/>
              <a:ext cx="427806" cy="472169"/>
            </a:xfrm>
            <a:prstGeom prst="line">
              <a:avLst/>
            </a:prstGeom>
          </p:spPr>
          <p:style>
            <a:lnRef idx="2">
              <a:schemeClr val="accent1"/>
            </a:lnRef>
            <a:fillRef idx="0">
              <a:schemeClr val="accent1"/>
            </a:fillRef>
            <a:effectRef idx="1">
              <a:schemeClr val="accent1"/>
            </a:effectRef>
            <a:fontRef idx="minor">
              <a:schemeClr val="tx1"/>
            </a:fontRef>
          </p:style>
        </p:cxnSp>
      </p:grpSp>
      <p:sp>
        <p:nvSpPr>
          <p:cNvPr id="114" name="TextBox 113">
            <a:extLst>
              <a:ext uri="{FF2B5EF4-FFF2-40B4-BE49-F238E27FC236}">
                <a16:creationId xmlns:a16="http://schemas.microsoft.com/office/drawing/2014/main" id="{C002D4AC-7019-6383-1500-15A4AAEFEB62}"/>
              </a:ext>
            </a:extLst>
          </p:cNvPr>
          <p:cNvSpPr txBox="1"/>
          <p:nvPr/>
        </p:nvSpPr>
        <p:spPr>
          <a:xfrm>
            <a:off x="6161214" y="1097145"/>
            <a:ext cx="1162787" cy="369332"/>
          </a:xfrm>
          <a:prstGeom prst="rect">
            <a:avLst/>
          </a:prstGeom>
          <a:noFill/>
        </p:spPr>
        <p:txBody>
          <a:bodyPr wrap="square" rtlCol="0">
            <a:spAutoFit/>
          </a:bodyPr>
          <a:lstStyle/>
          <a:p>
            <a:r>
              <a:rPr lang="en-US" dirty="0"/>
              <a:t>1</a:t>
            </a:r>
          </a:p>
        </p:txBody>
      </p:sp>
      <p:sp>
        <p:nvSpPr>
          <p:cNvPr id="115" name="TextBox 114">
            <a:extLst>
              <a:ext uri="{FF2B5EF4-FFF2-40B4-BE49-F238E27FC236}">
                <a16:creationId xmlns:a16="http://schemas.microsoft.com/office/drawing/2014/main" id="{29212A10-C9AE-2D61-A1D2-D2FC4D2DF7A8}"/>
              </a:ext>
            </a:extLst>
          </p:cNvPr>
          <p:cNvSpPr txBox="1"/>
          <p:nvPr/>
        </p:nvSpPr>
        <p:spPr>
          <a:xfrm>
            <a:off x="6821443" y="1484922"/>
            <a:ext cx="1162787" cy="369332"/>
          </a:xfrm>
          <a:prstGeom prst="rect">
            <a:avLst/>
          </a:prstGeom>
          <a:noFill/>
        </p:spPr>
        <p:txBody>
          <a:bodyPr wrap="square" rtlCol="0">
            <a:spAutoFit/>
          </a:bodyPr>
          <a:lstStyle/>
          <a:p>
            <a:r>
              <a:rPr lang="en-US" dirty="0"/>
              <a:t>2</a:t>
            </a:r>
          </a:p>
        </p:txBody>
      </p:sp>
      <p:grpSp>
        <p:nvGrpSpPr>
          <p:cNvPr id="116" name="Group 115">
            <a:extLst>
              <a:ext uri="{FF2B5EF4-FFF2-40B4-BE49-F238E27FC236}">
                <a16:creationId xmlns:a16="http://schemas.microsoft.com/office/drawing/2014/main" id="{7EF19B41-35DE-DDD5-7F4E-3C9CD4941AC2}"/>
              </a:ext>
            </a:extLst>
          </p:cNvPr>
          <p:cNvGrpSpPr/>
          <p:nvPr/>
        </p:nvGrpSpPr>
        <p:grpSpPr>
          <a:xfrm rot="7132000">
            <a:off x="6214552" y="4112914"/>
            <a:ext cx="725291" cy="1036883"/>
            <a:chOff x="6603176" y="1092934"/>
            <a:chExt cx="725291" cy="1036883"/>
          </a:xfrm>
        </p:grpSpPr>
        <p:cxnSp>
          <p:nvCxnSpPr>
            <p:cNvPr id="117" name="Straight Connector 116">
              <a:extLst>
                <a:ext uri="{FF2B5EF4-FFF2-40B4-BE49-F238E27FC236}">
                  <a16:creationId xmlns:a16="http://schemas.microsoft.com/office/drawing/2014/main" id="{B5B0CD47-59DC-6811-A819-3ABAB440E0C5}"/>
                </a:ext>
              </a:extLst>
            </p:cNvPr>
            <p:cNvCxnSpPr>
              <a:cxnSpLocks/>
            </p:cNvCxnSpPr>
            <p:nvPr/>
          </p:nvCxnSpPr>
          <p:spPr>
            <a:xfrm rot="14468000" flipH="1" flipV="1">
              <a:off x="6335059" y="1361051"/>
              <a:ext cx="723793" cy="18756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512C3BD5-9D1D-FF78-BB9D-AE2E9CDCAA62}"/>
                </a:ext>
              </a:extLst>
            </p:cNvPr>
            <p:cNvCxnSpPr>
              <a:cxnSpLocks/>
            </p:cNvCxnSpPr>
            <p:nvPr/>
          </p:nvCxnSpPr>
          <p:spPr>
            <a:xfrm rot="14754247" flipH="1">
              <a:off x="6878480" y="1679829"/>
              <a:ext cx="427806" cy="472169"/>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20" name="Group 119">
            <a:extLst>
              <a:ext uri="{FF2B5EF4-FFF2-40B4-BE49-F238E27FC236}">
                <a16:creationId xmlns:a16="http://schemas.microsoft.com/office/drawing/2014/main" id="{9BAED7F1-EF93-47D6-16B5-94057202216F}"/>
              </a:ext>
            </a:extLst>
          </p:cNvPr>
          <p:cNvGrpSpPr/>
          <p:nvPr/>
        </p:nvGrpSpPr>
        <p:grpSpPr>
          <a:xfrm rot="10195598">
            <a:off x="9531044" y="4454423"/>
            <a:ext cx="1069231" cy="465301"/>
            <a:chOff x="5885498" y="1380191"/>
            <a:chExt cx="1442056" cy="465301"/>
          </a:xfrm>
        </p:grpSpPr>
        <p:cxnSp>
          <p:nvCxnSpPr>
            <p:cNvPr id="121" name="Straight Connector 120">
              <a:extLst>
                <a:ext uri="{FF2B5EF4-FFF2-40B4-BE49-F238E27FC236}">
                  <a16:creationId xmlns:a16="http://schemas.microsoft.com/office/drawing/2014/main" id="{694F96A4-F5A4-ADCC-FF02-FD49D2526256}"/>
                </a:ext>
              </a:extLst>
            </p:cNvPr>
            <p:cNvCxnSpPr>
              <a:cxnSpLocks/>
            </p:cNvCxnSpPr>
            <p:nvPr/>
          </p:nvCxnSpPr>
          <p:spPr>
            <a:xfrm rot="11174114" flipH="1" flipV="1">
              <a:off x="5885498" y="1380191"/>
              <a:ext cx="917062" cy="39796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2316BFFC-0D3E-835B-7E69-F10B54764CC1}"/>
                </a:ext>
              </a:extLst>
            </p:cNvPr>
            <p:cNvCxnSpPr>
              <a:cxnSpLocks/>
            </p:cNvCxnSpPr>
            <p:nvPr/>
          </p:nvCxnSpPr>
          <p:spPr>
            <a:xfrm rot="11174114" flipH="1">
              <a:off x="6788637" y="1548505"/>
              <a:ext cx="538917" cy="296987"/>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23" name="Group 122">
            <a:extLst>
              <a:ext uri="{FF2B5EF4-FFF2-40B4-BE49-F238E27FC236}">
                <a16:creationId xmlns:a16="http://schemas.microsoft.com/office/drawing/2014/main" id="{AC8C36E3-2DF9-82B9-DBC7-E9A9942213CF}"/>
              </a:ext>
            </a:extLst>
          </p:cNvPr>
          <p:cNvGrpSpPr/>
          <p:nvPr/>
        </p:nvGrpSpPr>
        <p:grpSpPr>
          <a:xfrm flipV="1">
            <a:off x="9389533" y="5618102"/>
            <a:ext cx="1381665" cy="407963"/>
            <a:chOff x="5389270" y="2536292"/>
            <a:chExt cx="1381665" cy="357897"/>
          </a:xfrm>
        </p:grpSpPr>
        <p:cxnSp>
          <p:nvCxnSpPr>
            <p:cNvPr id="124" name="Straight Connector 123">
              <a:extLst>
                <a:ext uri="{FF2B5EF4-FFF2-40B4-BE49-F238E27FC236}">
                  <a16:creationId xmlns:a16="http://schemas.microsoft.com/office/drawing/2014/main" id="{82832B85-48C2-D66F-BDDE-561467A8639F}"/>
                </a:ext>
              </a:extLst>
            </p:cNvPr>
            <p:cNvCxnSpPr>
              <a:cxnSpLocks/>
            </p:cNvCxnSpPr>
            <p:nvPr/>
          </p:nvCxnSpPr>
          <p:spPr>
            <a:xfrm>
              <a:off x="5389270" y="2568980"/>
              <a:ext cx="306658" cy="212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7B7656D0-404A-5E99-234C-33F1D6C68D8B}"/>
                </a:ext>
              </a:extLst>
            </p:cNvPr>
            <p:cNvCxnSpPr>
              <a:cxnSpLocks/>
            </p:cNvCxnSpPr>
            <p:nvPr/>
          </p:nvCxnSpPr>
          <p:spPr>
            <a:xfrm flipV="1">
              <a:off x="5680137" y="2542497"/>
              <a:ext cx="751282" cy="23640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6592FA6D-76B0-D9CB-4095-9CD5947A56DE}"/>
                </a:ext>
              </a:extLst>
            </p:cNvPr>
            <p:cNvCxnSpPr>
              <a:cxnSpLocks/>
            </p:cNvCxnSpPr>
            <p:nvPr/>
          </p:nvCxnSpPr>
          <p:spPr>
            <a:xfrm>
              <a:off x="6428035" y="2536292"/>
              <a:ext cx="342900" cy="357897"/>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31" name="Group 130">
            <a:extLst>
              <a:ext uri="{FF2B5EF4-FFF2-40B4-BE49-F238E27FC236}">
                <a16:creationId xmlns:a16="http://schemas.microsoft.com/office/drawing/2014/main" id="{07A13634-AC06-9E72-1B9A-8D9258F90506}"/>
              </a:ext>
            </a:extLst>
          </p:cNvPr>
          <p:cNvGrpSpPr/>
          <p:nvPr/>
        </p:nvGrpSpPr>
        <p:grpSpPr>
          <a:xfrm>
            <a:off x="4696618" y="1120239"/>
            <a:ext cx="528060" cy="2251245"/>
            <a:chOff x="5334102" y="1211408"/>
            <a:chExt cx="528060" cy="2251245"/>
          </a:xfrm>
        </p:grpSpPr>
        <p:sp>
          <p:nvSpPr>
            <p:cNvPr id="128" name="TextBox 127">
              <a:extLst>
                <a:ext uri="{FF2B5EF4-FFF2-40B4-BE49-F238E27FC236}">
                  <a16:creationId xmlns:a16="http://schemas.microsoft.com/office/drawing/2014/main" id="{891B53DC-BD26-71E0-9343-BB1633E5A73A}"/>
                </a:ext>
              </a:extLst>
            </p:cNvPr>
            <p:cNvSpPr txBox="1"/>
            <p:nvPr/>
          </p:nvSpPr>
          <p:spPr>
            <a:xfrm rot="16200000">
              <a:off x="5062097" y="1483413"/>
              <a:ext cx="1067229" cy="523220"/>
            </a:xfrm>
            <a:prstGeom prst="rect">
              <a:avLst/>
            </a:prstGeom>
            <a:noFill/>
          </p:spPr>
          <p:txBody>
            <a:bodyPr wrap="square" rtlCol="0">
              <a:spAutoFit/>
            </a:bodyPr>
            <a:lstStyle/>
            <a:p>
              <a:pPr algn="ctr"/>
              <a:r>
                <a:rPr lang="en-US" sz="1400" dirty="0"/>
                <a:t>More vulnerable: </a:t>
              </a:r>
            </a:p>
          </p:txBody>
        </p:sp>
        <p:sp>
          <p:nvSpPr>
            <p:cNvPr id="129" name="TextBox 128">
              <a:extLst>
                <a:ext uri="{FF2B5EF4-FFF2-40B4-BE49-F238E27FC236}">
                  <a16:creationId xmlns:a16="http://schemas.microsoft.com/office/drawing/2014/main" id="{342CDF2F-FD53-219E-428D-B12B6CB0B43D}"/>
                </a:ext>
              </a:extLst>
            </p:cNvPr>
            <p:cNvSpPr txBox="1"/>
            <p:nvPr/>
          </p:nvSpPr>
          <p:spPr>
            <a:xfrm rot="16200000">
              <a:off x="5066937" y="2667429"/>
              <a:ext cx="1067229" cy="523220"/>
            </a:xfrm>
            <a:prstGeom prst="rect">
              <a:avLst/>
            </a:prstGeom>
            <a:noFill/>
          </p:spPr>
          <p:txBody>
            <a:bodyPr wrap="square" rtlCol="0">
              <a:spAutoFit/>
            </a:bodyPr>
            <a:lstStyle/>
            <a:p>
              <a:pPr algn="ctr"/>
              <a:r>
                <a:rPr lang="en-US" sz="1400" dirty="0"/>
                <a:t>Less vulnerable: </a:t>
              </a:r>
            </a:p>
          </p:txBody>
        </p:sp>
      </p:grpSp>
      <p:sp>
        <p:nvSpPr>
          <p:cNvPr id="136" name="TextBox 135">
            <a:extLst>
              <a:ext uri="{FF2B5EF4-FFF2-40B4-BE49-F238E27FC236}">
                <a16:creationId xmlns:a16="http://schemas.microsoft.com/office/drawing/2014/main" id="{7CA63DCA-3F2A-A3D8-27DB-4F65DC48406B}"/>
              </a:ext>
            </a:extLst>
          </p:cNvPr>
          <p:cNvSpPr txBox="1"/>
          <p:nvPr/>
        </p:nvSpPr>
        <p:spPr>
          <a:xfrm>
            <a:off x="5976157" y="4285656"/>
            <a:ext cx="344212" cy="369332"/>
          </a:xfrm>
          <a:prstGeom prst="rect">
            <a:avLst/>
          </a:prstGeom>
          <a:noFill/>
        </p:spPr>
        <p:txBody>
          <a:bodyPr wrap="square" rtlCol="0">
            <a:spAutoFit/>
          </a:bodyPr>
          <a:lstStyle/>
          <a:p>
            <a:r>
              <a:rPr lang="en-US" dirty="0"/>
              <a:t>1</a:t>
            </a:r>
          </a:p>
        </p:txBody>
      </p:sp>
      <p:sp>
        <p:nvSpPr>
          <p:cNvPr id="137" name="TextBox 136">
            <a:extLst>
              <a:ext uri="{FF2B5EF4-FFF2-40B4-BE49-F238E27FC236}">
                <a16:creationId xmlns:a16="http://schemas.microsoft.com/office/drawing/2014/main" id="{77819A68-FC8F-2770-2057-3AED7B20CAD6}"/>
              </a:ext>
            </a:extLst>
          </p:cNvPr>
          <p:cNvSpPr txBox="1"/>
          <p:nvPr/>
        </p:nvSpPr>
        <p:spPr>
          <a:xfrm>
            <a:off x="5939876" y="5548330"/>
            <a:ext cx="326425" cy="369332"/>
          </a:xfrm>
          <a:prstGeom prst="rect">
            <a:avLst/>
          </a:prstGeom>
          <a:noFill/>
        </p:spPr>
        <p:txBody>
          <a:bodyPr wrap="square" rtlCol="0">
            <a:spAutoFit/>
          </a:bodyPr>
          <a:lstStyle/>
          <a:p>
            <a:r>
              <a:rPr lang="en-US" dirty="0"/>
              <a:t>1</a:t>
            </a:r>
          </a:p>
        </p:txBody>
      </p:sp>
      <p:sp>
        <p:nvSpPr>
          <p:cNvPr id="142" name="TextBox 141">
            <a:extLst>
              <a:ext uri="{FF2B5EF4-FFF2-40B4-BE49-F238E27FC236}">
                <a16:creationId xmlns:a16="http://schemas.microsoft.com/office/drawing/2014/main" id="{3A675AFA-D54B-BFBF-6FEF-DE1205E03E24}"/>
              </a:ext>
            </a:extLst>
          </p:cNvPr>
          <p:cNvSpPr txBox="1"/>
          <p:nvPr/>
        </p:nvSpPr>
        <p:spPr>
          <a:xfrm>
            <a:off x="9478267" y="4363128"/>
            <a:ext cx="344212" cy="369332"/>
          </a:xfrm>
          <a:prstGeom prst="rect">
            <a:avLst/>
          </a:prstGeom>
          <a:noFill/>
        </p:spPr>
        <p:txBody>
          <a:bodyPr wrap="square" rtlCol="0">
            <a:spAutoFit/>
          </a:bodyPr>
          <a:lstStyle/>
          <a:p>
            <a:r>
              <a:rPr lang="en-US" dirty="0"/>
              <a:t>1</a:t>
            </a:r>
          </a:p>
        </p:txBody>
      </p:sp>
      <p:sp>
        <p:nvSpPr>
          <p:cNvPr id="144" name="TextBox 143">
            <a:extLst>
              <a:ext uri="{FF2B5EF4-FFF2-40B4-BE49-F238E27FC236}">
                <a16:creationId xmlns:a16="http://schemas.microsoft.com/office/drawing/2014/main" id="{A7101FD1-78E7-E71E-4D49-1A31BE02D5CE}"/>
              </a:ext>
            </a:extLst>
          </p:cNvPr>
          <p:cNvSpPr txBox="1"/>
          <p:nvPr/>
        </p:nvSpPr>
        <p:spPr>
          <a:xfrm>
            <a:off x="9344066" y="5514920"/>
            <a:ext cx="344212" cy="369332"/>
          </a:xfrm>
          <a:prstGeom prst="rect">
            <a:avLst/>
          </a:prstGeom>
          <a:noFill/>
        </p:spPr>
        <p:txBody>
          <a:bodyPr wrap="square" rtlCol="0">
            <a:spAutoFit/>
          </a:bodyPr>
          <a:lstStyle/>
          <a:p>
            <a:r>
              <a:rPr lang="en-US" dirty="0"/>
              <a:t>1</a:t>
            </a:r>
          </a:p>
        </p:txBody>
      </p:sp>
      <p:grpSp>
        <p:nvGrpSpPr>
          <p:cNvPr id="147" name="Group 146">
            <a:extLst>
              <a:ext uri="{FF2B5EF4-FFF2-40B4-BE49-F238E27FC236}">
                <a16:creationId xmlns:a16="http://schemas.microsoft.com/office/drawing/2014/main" id="{D644BBF5-0238-6C3A-E1FF-21EC2BC83290}"/>
              </a:ext>
            </a:extLst>
          </p:cNvPr>
          <p:cNvGrpSpPr/>
          <p:nvPr/>
        </p:nvGrpSpPr>
        <p:grpSpPr>
          <a:xfrm>
            <a:off x="10599748" y="1896258"/>
            <a:ext cx="1722427" cy="1077805"/>
            <a:chOff x="7900415" y="2241745"/>
            <a:chExt cx="1147418" cy="888152"/>
          </a:xfrm>
        </p:grpSpPr>
        <p:sp>
          <p:nvSpPr>
            <p:cNvPr id="148" name="TextBox 147">
              <a:extLst>
                <a:ext uri="{FF2B5EF4-FFF2-40B4-BE49-F238E27FC236}">
                  <a16:creationId xmlns:a16="http://schemas.microsoft.com/office/drawing/2014/main" id="{9F94F0EA-94D4-5B76-838D-6842D08021DF}"/>
                </a:ext>
              </a:extLst>
            </p:cNvPr>
            <p:cNvSpPr txBox="1"/>
            <p:nvPr/>
          </p:nvSpPr>
          <p:spPr>
            <a:xfrm>
              <a:off x="7955604" y="2241745"/>
              <a:ext cx="1092228" cy="329706"/>
            </a:xfrm>
            <a:prstGeom prst="rect">
              <a:avLst/>
            </a:prstGeom>
            <a:noFill/>
          </p:spPr>
          <p:txBody>
            <a:bodyPr wrap="square" rtlCol="0">
              <a:spAutoFit/>
            </a:bodyPr>
            <a:lstStyle/>
            <a:p>
              <a:pPr algn="ctr"/>
              <a:r>
                <a:rPr lang="en-US" sz="1000" dirty="0"/>
                <a:t>1: Flood plain interaction spurs productivity</a:t>
              </a:r>
            </a:p>
          </p:txBody>
        </p:sp>
        <p:sp>
          <p:nvSpPr>
            <p:cNvPr id="149" name="TextBox 148">
              <a:extLst>
                <a:ext uri="{FF2B5EF4-FFF2-40B4-BE49-F238E27FC236}">
                  <a16:creationId xmlns:a16="http://schemas.microsoft.com/office/drawing/2014/main" id="{F8B33C8C-8900-34B6-73D9-70A006BD161C}"/>
                </a:ext>
              </a:extLst>
            </p:cNvPr>
            <p:cNvSpPr txBox="1"/>
            <p:nvPr/>
          </p:nvSpPr>
          <p:spPr>
            <a:xfrm>
              <a:off x="7908889" y="2525957"/>
              <a:ext cx="1138944" cy="329706"/>
            </a:xfrm>
            <a:prstGeom prst="rect">
              <a:avLst/>
            </a:prstGeom>
            <a:noFill/>
          </p:spPr>
          <p:txBody>
            <a:bodyPr wrap="square" rtlCol="0">
              <a:spAutoFit/>
            </a:bodyPr>
            <a:lstStyle/>
            <a:p>
              <a:pPr algn="ctr"/>
              <a:r>
                <a:rPr lang="en-US" sz="1000" dirty="0"/>
                <a:t>2: Productivity unstable with increasing depth</a:t>
              </a:r>
            </a:p>
          </p:txBody>
        </p:sp>
        <p:sp>
          <p:nvSpPr>
            <p:cNvPr id="150" name="TextBox 149">
              <a:extLst>
                <a:ext uri="{FF2B5EF4-FFF2-40B4-BE49-F238E27FC236}">
                  <a16:creationId xmlns:a16="http://schemas.microsoft.com/office/drawing/2014/main" id="{0DE06998-41CB-E950-E990-5C142088C66C}"/>
                </a:ext>
              </a:extLst>
            </p:cNvPr>
            <p:cNvSpPr txBox="1"/>
            <p:nvPr/>
          </p:nvSpPr>
          <p:spPr>
            <a:xfrm>
              <a:off x="7900415" y="2800191"/>
              <a:ext cx="1138944" cy="329706"/>
            </a:xfrm>
            <a:prstGeom prst="rect">
              <a:avLst/>
            </a:prstGeom>
            <a:noFill/>
          </p:spPr>
          <p:txBody>
            <a:bodyPr wrap="square" rtlCol="0">
              <a:spAutoFit/>
            </a:bodyPr>
            <a:lstStyle/>
            <a:p>
              <a:pPr algn="ctr"/>
              <a:r>
                <a:rPr lang="en-US" sz="1000" dirty="0"/>
                <a:t>3: River nutrients spur productivity???</a:t>
              </a:r>
            </a:p>
          </p:txBody>
        </p:sp>
      </p:grpSp>
      <p:sp>
        <p:nvSpPr>
          <p:cNvPr id="152" name="TextBox 151">
            <a:extLst>
              <a:ext uri="{FF2B5EF4-FFF2-40B4-BE49-F238E27FC236}">
                <a16:creationId xmlns:a16="http://schemas.microsoft.com/office/drawing/2014/main" id="{F95ED72F-4BC8-FB09-6053-A6831FADF2D7}"/>
              </a:ext>
            </a:extLst>
          </p:cNvPr>
          <p:cNvSpPr txBox="1"/>
          <p:nvPr/>
        </p:nvSpPr>
        <p:spPr>
          <a:xfrm>
            <a:off x="7182997" y="5331586"/>
            <a:ext cx="1639580" cy="400110"/>
          </a:xfrm>
          <a:prstGeom prst="rect">
            <a:avLst/>
          </a:prstGeom>
          <a:noFill/>
        </p:spPr>
        <p:txBody>
          <a:bodyPr wrap="square" rtlCol="0">
            <a:spAutoFit/>
          </a:bodyPr>
          <a:lstStyle/>
          <a:p>
            <a:pPr algn="ctr"/>
            <a:r>
              <a:rPr lang="en-US" sz="1000" dirty="0"/>
              <a:t>1: increased light attenuation</a:t>
            </a:r>
          </a:p>
        </p:txBody>
      </p:sp>
      <p:sp>
        <p:nvSpPr>
          <p:cNvPr id="154" name="TextBox 153">
            <a:extLst>
              <a:ext uri="{FF2B5EF4-FFF2-40B4-BE49-F238E27FC236}">
                <a16:creationId xmlns:a16="http://schemas.microsoft.com/office/drawing/2014/main" id="{24D0B804-4C18-BBF5-6685-50BDF05E0F00}"/>
              </a:ext>
            </a:extLst>
          </p:cNvPr>
          <p:cNvSpPr txBox="1"/>
          <p:nvPr/>
        </p:nvSpPr>
        <p:spPr>
          <a:xfrm>
            <a:off x="6785903" y="4144357"/>
            <a:ext cx="352932" cy="369332"/>
          </a:xfrm>
          <a:prstGeom prst="rect">
            <a:avLst/>
          </a:prstGeom>
          <a:noFill/>
        </p:spPr>
        <p:txBody>
          <a:bodyPr wrap="square" rtlCol="0">
            <a:spAutoFit/>
          </a:bodyPr>
          <a:lstStyle/>
          <a:p>
            <a:r>
              <a:rPr lang="en-US" dirty="0"/>
              <a:t>2</a:t>
            </a:r>
          </a:p>
        </p:txBody>
      </p:sp>
      <p:grpSp>
        <p:nvGrpSpPr>
          <p:cNvPr id="156" name="Group 155">
            <a:extLst>
              <a:ext uri="{FF2B5EF4-FFF2-40B4-BE49-F238E27FC236}">
                <a16:creationId xmlns:a16="http://schemas.microsoft.com/office/drawing/2014/main" id="{97F14AF9-AA4A-96FF-14D6-12B610E74E87}"/>
              </a:ext>
            </a:extLst>
          </p:cNvPr>
          <p:cNvGrpSpPr/>
          <p:nvPr/>
        </p:nvGrpSpPr>
        <p:grpSpPr>
          <a:xfrm>
            <a:off x="7154163" y="3776965"/>
            <a:ext cx="1707084" cy="1227035"/>
            <a:chOff x="7258172" y="3701289"/>
            <a:chExt cx="1707084" cy="1227035"/>
          </a:xfrm>
        </p:grpSpPr>
        <p:sp>
          <p:nvSpPr>
            <p:cNvPr id="151" name="TextBox 150">
              <a:extLst>
                <a:ext uri="{FF2B5EF4-FFF2-40B4-BE49-F238E27FC236}">
                  <a16:creationId xmlns:a16="http://schemas.microsoft.com/office/drawing/2014/main" id="{1E7DBB89-5EE9-60E4-A9E0-9BA1FBA778BC}"/>
                </a:ext>
              </a:extLst>
            </p:cNvPr>
            <p:cNvSpPr txBox="1"/>
            <p:nvPr/>
          </p:nvSpPr>
          <p:spPr>
            <a:xfrm>
              <a:off x="7258172" y="3701289"/>
              <a:ext cx="1639580" cy="400110"/>
            </a:xfrm>
            <a:prstGeom prst="rect">
              <a:avLst/>
            </a:prstGeom>
            <a:noFill/>
          </p:spPr>
          <p:txBody>
            <a:bodyPr wrap="square" rtlCol="0">
              <a:spAutoFit/>
            </a:bodyPr>
            <a:lstStyle/>
            <a:p>
              <a:pPr algn="ctr"/>
              <a:r>
                <a:rPr lang="en-US" sz="1000" dirty="0"/>
                <a:t>1: increased light attenuation</a:t>
              </a:r>
            </a:p>
          </p:txBody>
        </p:sp>
        <p:sp>
          <p:nvSpPr>
            <p:cNvPr id="153" name="TextBox 152">
              <a:extLst>
                <a:ext uri="{FF2B5EF4-FFF2-40B4-BE49-F238E27FC236}">
                  <a16:creationId xmlns:a16="http://schemas.microsoft.com/office/drawing/2014/main" id="{C924D495-DCE9-9B0A-6F4B-ABA64797460B}"/>
                </a:ext>
              </a:extLst>
            </p:cNvPr>
            <p:cNvSpPr txBox="1"/>
            <p:nvPr/>
          </p:nvSpPr>
          <p:spPr>
            <a:xfrm>
              <a:off x="7366442" y="4022105"/>
              <a:ext cx="1598814" cy="553998"/>
            </a:xfrm>
            <a:prstGeom prst="rect">
              <a:avLst/>
            </a:prstGeom>
            <a:noFill/>
          </p:spPr>
          <p:txBody>
            <a:bodyPr wrap="square" rtlCol="0">
              <a:spAutoFit/>
            </a:bodyPr>
            <a:lstStyle/>
            <a:p>
              <a:pPr algn="ctr"/>
              <a:r>
                <a:rPr lang="en-US" sz="1000" dirty="0"/>
                <a:t>2: River water with less CO2 replacing or mixing with spring water</a:t>
              </a:r>
            </a:p>
          </p:txBody>
        </p:sp>
        <p:sp>
          <p:nvSpPr>
            <p:cNvPr id="155" name="TextBox 154">
              <a:extLst>
                <a:ext uri="{FF2B5EF4-FFF2-40B4-BE49-F238E27FC236}">
                  <a16:creationId xmlns:a16="http://schemas.microsoft.com/office/drawing/2014/main" id="{AB297C8D-53F1-4CFE-7DB7-5110B656DD79}"/>
                </a:ext>
              </a:extLst>
            </p:cNvPr>
            <p:cNvSpPr txBox="1"/>
            <p:nvPr/>
          </p:nvSpPr>
          <p:spPr>
            <a:xfrm>
              <a:off x="7418734" y="4528214"/>
              <a:ext cx="1532490" cy="400110"/>
            </a:xfrm>
            <a:prstGeom prst="rect">
              <a:avLst/>
            </a:prstGeom>
            <a:noFill/>
          </p:spPr>
          <p:txBody>
            <a:bodyPr wrap="square" rtlCol="0">
              <a:spAutoFit/>
            </a:bodyPr>
            <a:lstStyle/>
            <a:p>
              <a:pPr algn="ctr"/>
              <a:r>
                <a:rPr lang="en-US" sz="1000" dirty="0"/>
                <a:t>2: River nutrients spur productivity</a:t>
              </a:r>
            </a:p>
          </p:txBody>
        </p:sp>
      </p:grpSp>
      <p:sp>
        <p:nvSpPr>
          <p:cNvPr id="157" name="TextBox 156">
            <a:extLst>
              <a:ext uri="{FF2B5EF4-FFF2-40B4-BE49-F238E27FC236}">
                <a16:creationId xmlns:a16="http://schemas.microsoft.com/office/drawing/2014/main" id="{480FB344-5DA4-FD45-C71C-6B6D46593175}"/>
              </a:ext>
            </a:extLst>
          </p:cNvPr>
          <p:cNvSpPr txBox="1"/>
          <p:nvPr/>
        </p:nvSpPr>
        <p:spPr>
          <a:xfrm>
            <a:off x="7171353" y="5795097"/>
            <a:ext cx="1639580" cy="400110"/>
          </a:xfrm>
          <a:prstGeom prst="rect">
            <a:avLst/>
          </a:prstGeom>
          <a:noFill/>
        </p:spPr>
        <p:txBody>
          <a:bodyPr wrap="square" rtlCol="0">
            <a:spAutoFit/>
          </a:bodyPr>
          <a:lstStyle/>
          <a:p>
            <a:pPr algn="ctr"/>
            <a:r>
              <a:rPr lang="en-US" sz="1000" dirty="0"/>
              <a:t>2: River DOC spurring respiration </a:t>
            </a:r>
          </a:p>
        </p:txBody>
      </p:sp>
      <p:sp>
        <p:nvSpPr>
          <p:cNvPr id="158" name="TextBox 157">
            <a:extLst>
              <a:ext uri="{FF2B5EF4-FFF2-40B4-BE49-F238E27FC236}">
                <a16:creationId xmlns:a16="http://schemas.microsoft.com/office/drawing/2014/main" id="{005A0681-3CBC-A0EA-EE4E-BF681E22A912}"/>
              </a:ext>
            </a:extLst>
          </p:cNvPr>
          <p:cNvSpPr txBox="1"/>
          <p:nvPr/>
        </p:nvSpPr>
        <p:spPr>
          <a:xfrm>
            <a:off x="2717653" y="4803945"/>
            <a:ext cx="1639580" cy="400110"/>
          </a:xfrm>
          <a:prstGeom prst="rect">
            <a:avLst/>
          </a:prstGeom>
          <a:noFill/>
        </p:spPr>
        <p:txBody>
          <a:bodyPr wrap="square" rtlCol="0">
            <a:spAutoFit/>
          </a:bodyPr>
          <a:lstStyle/>
          <a:p>
            <a:pPr algn="ctr"/>
            <a:r>
              <a:rPr lang="en-US" sz="1000" dirty="0"/>
              <a:t>2: River DOC spurring respiration </a:t>
            </a:r>
          </a:p>
        </p:txBody>
      </p:sp>
      <p:sp>
        <p:nvSpPr>
          <p:cNvPr id="160" name="TextBox 159">
            <a:extLst>
              <a:ext uri="{FF2B5EF4-FFF2-40B4-BE49-F238E27FC236}">
                <a16:creationId xmlns:a16="http://schemas.microsoft.com/office/drawing/2014/main" id="{FCED494A-7E09-8963-6DF9-6BF196B898F1}"/>
              </a:ext>
            </a:extLst>
          </p:cNvPr>
          <p:cNvSpPr txBox="1"/>
          <p:nvPr/>
        </p:nvSpPr>
        <p:spPr>
          <a:xfrm>
            <a:off x="993099" y="5463571"/>
            <a:ext cx="1639580" cy="400110"/>
          </a:xfrm>
          <a:prstGeom prst="rect">
            <a:avLst/>
          </a:prstGeom>
          <a:noFill/>
        </p:spPr>
        <p:txBody>
          <a:bodyPr wrap="square" rtlCol="0">
            <a:spAutoFit/>
          </a:bodyPr>
          <a:lstStyle/>
          <a:p>
            <a:pPr algn="ctr"/>
            <a:r>
              <a:rPr lang="en-US" sz="1000" dirty="0"/>
              <a:t>1: increased light attenuation</a:t>
            </a:r>
          </a:p>
        </p:txBody>
      </p:sp>
      <p:sp>
        <p:nvSpPr>
          <p:cNvPr id="161" name="TextBox 160">
            <a:extLst>
              <a:ext uri="{FF2B5EF4-FFF2-40B4-BE49-F238E27FC236}">
                <a16:creationId xmlns:a16="http://schemas.microsoft.com/office/drawing/2014/main" id="{23615437-915C-66D9-A5D3-33BC19EED8C5}"/>
              </a:ext>
            </a:extLst>
          </p:cNvPr>
          <p:cNvSpPr txBox="1"/>
          <p:nvPr/>
        </p:nvSpPr>
        <p:spPr>
          <a:xfrm>
            <a:off x="1044798" y="1776968"/>
            <a:ext cx="1639580" cy="298798"/>
          </a:xfrm>
          <a:prstGeom prst="rect">
            <a:avLst/>
          </a:prstGeom>
          <a:noFill/>
        </p:spPr>
        <p:txBody>
          <a:bodyPr wrap="square" rtlCol="0">
            <a:spAutoFit/>
          </a:bodyPr>
          <a:lstStyle/>
          <a:p>
            <a:pPr algn="ctr"/>
            <a:r>
              <a:rPr lang="en-US" sz="1000" dirty="0"/>
              <a:t>1: increased light attenuation</a:t>
            </a:r>
          </a:p>
        </p:txBody>
      </p:sp>
      <p:sp>
        <p:nvSpPr>
          <p:cNvPr id="162" name="TextBox 161">
            <a:extLst>
              <a:ext uri="{FF2B5EF4-FFF2-40B4-BE49-F238E27FC236}">
                <a16:creationId xmlns:a16="http://schemas.microsoft.com/office/drawing/2014/main" id="{07BCDF7A-A6F3-1A26-1B22-A443734FF080}"/>
              </a:ext>
            </a:extLst>
          </p:cNvPr>
          <p:cNvSpPr txBox="1"/>
          <p:nvPr/>
        </p:nvSpPr>
        <p:spPr>
          <a:xfrm>
            <a:off x="2637047" y="2520494"/>
            <a:ext cx="1639580" cy="400110"/>
          </a:xfrm>
          <a:prstGeom prst="rect">
            <a:avLst/>
          </a:prstGeom>
          <a:noFill/>
        </p:spPr>
        <p:txBody>
          <a:bodyPr wrap="square" rtlCol="0">
            <a:spAutoFit/>
          </a:bodyPr>
          <a:lstStyle/>
          <a:p>
            <a:pPr algn="ctr"/>
            <a:r>
              <a:rPr lang="en-US" sz="1000" dirty="0"/>
              <a:t>2: Light occluded and DO is limited</a:t>
            </a:r>
          </a:p>
        </p:txBody>
      </p:sp>
      <p:sp>
        <p:nvSpPr>
          <p:cNvPr id="163" name="TextBox 162">
            <a:extLst>
              <a:ext uri="{FF2B5EF4-FFF2-40B4-BE49-F238E27FC236}">
                <a16:creationId xmlns:a16="http://schemas.microsoft.com/office/drawing/2014/main" id="{65188DBE-7837-AE90-EBD1-D192AD060AF0}"/>
              </a:ext>
            </a:extLst>
          </p:cNvPr>
          <p:cNvSpPr txBox="1"/>
          <p:nvPr/>
        </p:nvSpPr>
        <p:spPr>
          <a:xfrm>
            <a:off x="6629624" y="1097145"/>
            <a:ext cx="1959318" cy="415498"/>
          </a:xfrm>
          <a:prstGeom prst="rect">
            <a:avLst/>
          </a:prstGeom>
          <a:noFill/>
        </p:spPr>
        <p:txBody>
          <a:bodyPr wrap="square" rtlCol="0">
            <a:spAutoFit/>
          </a:bodyPr>
          <a:lstStyle/>
          <a:p>
            <a:pPr algn="ctr"/>
            <a:r>
              <a:rPr lang="en-US" sz="1050" dirty="0"/>
              <a:t>2: Mixing of higher-DO river water slows decline</a:t>
            </a:r>
          </a:p>
        </p:txBody>
      </p:sp>
      <p:sp>
        <p:nvSpPr>
          <p:cNvPr id="166" name="TextBox 165">
            <a:extLst>
              <a:ext uri="{FF2B5EF4-FFF2-40B4-BE49-F238E27FC236}">
                <a16:creationId xmlns:a16="http://schemas.microsoft.com/office/drawing/2014/main" id="{21B11355-17CA-E6B4-B1F9-7A1989AB89D1}"/>
              </a:ext>
            </a:extLst>
          </p:cNvPr>
          <p:cNvSpPr txBox="1"/>
          <p:nvPr/>
        </p:nvSpPr>
        <p:spPr>
          <a:xfrm>
            <a:off x="10658475" y="2897131"/>
            <a:ext cx="1533525" cy="553998"/>
          </a:xfrm>
          <a:prstGeom prst="rect">
            <a:avLst/>
          </a:prstGeom>
          <a:noFill/>
        </p:spPr>
        <p:txBody>
          <a:bodyPr wrap="square" rtlCol="0">
            <a:spAutoFit/>
          </a:bodyPr>
          <a:lstStyle/>
          <a:p>
            <a:pPr algn="ctr"/>
            <a:r>
              <a:rPr lang="en-US" sz="1000" dirty="0"/>
              <a:t>3: No change in DO but change in depth= GPP </a:t>
            </a:r>
            <a:r>
              <a:rPr lang="en-US" sz="1000" dirty="0" err="1"/>
              <a:t>inc</a:t>
            </a:r>
            <a:r>
              <a:rPr lang="en-US" sz="1000" dirty="0"/>
              <a:t>?</a:t>
            </a:r>
          </a:p>
        </p:txBody>
      </p:sp>
      <p:sp>
        <p:nvSpPr>
          <p:cNvPr id="168" name="TextBox 167">
            <a:extLst>
              <a:ext uri="{FF2B5EF4-FFF2-40B4-BE49-F238E27FC236}">
                <a16:creationId xmlns:a16="http://schemas.microsoft.com/office/drawing/2014/main" id="{EE156ABC-36C4-713F-6C34-CBF40E693CB8}"/>
              </a:ext>
            </a:extLst>
          </p:cNvPr>
          <p:cNvSpPr txBox="1"/>
          <p:nvPr/>
        </p:nvSpPr>
        <p:spPr>
          <a:xfrm>
            <a:off x="10473072" y="3654804"/>
            <a:ext cx="1639579" cy="400110"/>
          </a:xfrm>
          <a:prstGeom prst="rect">
            <a:avLst/>
          </a:prstGeom>
          <a:noFill/>
        </p:spPr>
        <p:txBody>
          <a:bodyPr wrap="square" rtlCol="0">
            <a:spAutoFit/>
          </a:bodyPr>
          <a:lstStyle/>
          <a:p>
            <a:pPr algn="ctr"/>
            <a:r>
              <a:rPr lang="en-US" sz="1000" dirty="0"/>
              <a:t>1: Flood plain interaction spurs productivity</a:t>
            </a:r>
          </a:p>
        </p:txBody>
      </p:sp>
      <p:sp>
        <p:nvSpPr>
          <p:cNvPr id="169" name="TextBox 168">
            <a:extLst>
              <a:ext uri="{FF2B5EF4-FFF2-40B4-BE49-F238E27FC236}">
                <a16:creationId xmlns:a16="http://schemas.microsoft.com/office/drawing/2014/main" id="{0BCED889-1C16-19A4-2FCD-77F7BA8F6B54}"/>
              </a:ext>
            </a:extLst>
          </p:cNvPr>
          <p:cNvSpPr txBox="1"/>
          <p:nvPr/>
        </p:nvSpPr>
        <p:spPr>
          <a:xfrm>
            <a:off x="10439499" y="4039525"/>
            <a:ext cx="1639580" cy="400110"/>
          </a:xfrm>
          <a:prstGeom prst="rect">
            <a:avLst/>
          </a:prstGeom>
          <a:noFill/>
        </p:spPr>
        <p:txBody>
          <a:bodyPr wrap="square" rtlCol="0">
            <a:spAutoFit/>
          </a:bodyPr>
          <a:lstStyle/>
          <a:p>
            <a:pPr algn="ctr"/>
            <a:r>
              <a:rPr lang="en-US" sz="1000" dirty="0"/>
              <a:t>2: increased light attenuation</a:t>
            </a:r>
          </a:p>
        </p:txBody>
      </p:sp>
      <p:sp>
        <p:nvSpPr>
          <p:cNvPr id="170" name="TextBox 169">
            <a:extLst>
              <a:ext uri="{FF2B5EF4-FFF2-40B4-BE49-F238E27FC236}">
                <a16:creationId xmlns:a16="http://schemas.microsoft.com/office/drawing/2014/main" id="{86C93071-9350-F074-9E36-9719BFCFDD2A}"/>
              </a:ext>
            </a:extLst>
          </p:cNvPr>
          <p:cNvSpPr txBox="1"/>
          <p:nvPr/>
        </p:nvSpPr>
        <p:spPr>
          <a:xfrm>
            <a:off x="10456285" y="4411547"/>
            <a:ext cx="1639580" cy="400110"/>
          </a:xfrm>
          <a:prstGeom prst="rect">
            <a:avLst/>
          </a:prstGeom>
          <a:noFill/>
        </p:spPr>
        <p:txBody>
          <a:bodyPr wrap="square" rtlCol="0">
            <a:spAutoFit/>
          </a:bodyPr>
          <a:lstStyle/>
          <a:p>
            <a:pPr algn="ctr"/>
            <a:r>
              <a:rPr lang="en-US" sz="1000" dirty="0"/>
              <a:t>2: River DOC spurring respiration </a:t>
            </a:r>
          </a:p>
        </p:txBody>
      </p:sp>
      <p:sp>
        <p:nvSpPr>
          <p:cNvPr id="171" name="TextBox 170">
            <a:extLst>
              <a:ext uri="{FF2B5EF4-FFF2-40B4-BE49-F238E27FC236}">
                <a16:creationId xmlns:a16="http://schemas.microsoft.com/office/drawing/2014/main" id="{2C0F9CAF-2A2E-10DF-ECF3-64AC2554660C}"/>
              </a:ext>
            </a:extLst>
          </p:cNvPr>
          <p:cNvSpPr txBox="1"/>
          <p:nvPr/>
        </p:nvSpPr>
        <p:spPr>
          <a:xfrm>
            <a:off x="10269948" y="4400703"/>
            <a:ext cx="352932" cy="369332"/>
          </a:xfrm>
          <a:prstGeom prst="rect">
            <a:avLst/>
          </a:prstGeom>
          <a:noFill/>
        </p:spPr>
        <p:txBody>
          <a:bodyPr wrap="square" rtlCol="0">
            <a:spAutoFit/>
          </a:bodyPr>
          <a:lstStyle/>
          <a:p>
            <a:r>
              <a:rPr lang="en-US" dirty="0"/>
              <a:t>2</a:t>
            </a:r>
          </a:p>
        </p:txBody>
      </p:sp>
      <p:sp>
        <p:nvSpPr>
          <p:cNvPr id="172" name="TextBox 171">
            <a:extLst>
              <a:ext uri="{FF2B5EF4-FFF2-40B4-BE49-F238E27FC236}">
                <a16:creationId xmlns:a16="http://schemas.microsoft.com/office/drawing/2014/main" id="{7FC36FDB-8A57-6795-685F-0B7C5386C1ED}"/>
              </a:ext>
            </a:extLst>
          </p:cNvPr>
          <p:cNvSpPr txBox="1"/>
          <p:nvPr/>
        </p:nvSpPr>
        <p:spPr>
          <a:xfrm>
            <a:off x="9992442" y="5584016"/>
            <a:ext cx="352932" cy="369332"/>
          </a:xfrm>
          <a:prstGeom prst="rect">
            <a:avLst/>
          </a:prstGeom>
          <a:noFill/>
        </p:spPr>
        <p:txBody>
          <a:bodyPr wrap="square" rtlCol="0">
            <a:spAutoFit/>
          </a:bodyPr>
          <a:lstStyle/>
          <a:p>
            <a:r>
              <a:rPr lang="en-US" dirty="0"/>
              <a:t>2</a:t>
            </a:r>
          </a:p>
        </p:txBody>
      </p:sp>
      <p:sp>
        <p:nvSpPr>
          <p:cNvPr id="173" name="TextBox 172">
            <a:extLst>
              <a:ext uri="{FF2B5EF4-FFF2-40B4-BE49-F238E27FC236}">
                <a16:creationId xmlns:a16="http://schemas.microsoft.com/office/drawing/2014/main" id="{FE5E8A76-3C4F-5934-8187-B9CF50EEC93F}"/>
              </a:ext>
            </a:extLst>
          </p:cNvPr>
          <p:cNvSpPr txBox="1"/>
          <p:nvPr/>
        </p:nvSpPr>
        <p:spPr>
          <a:xfrm>
            <a:off x="10473072" y="5363664"/>
            <a:ext cx="352932" cy="369332"/>
          </a:xfrm>
          <a:prstGeom prst="rect">
            <a:avLst/>
          </a:prstGeom>
          <a:noFill/>
        </p:spPr>
        <p:txBody>
          <a:bodyPr wrap="square" rtlCol="0">
            <a:spAutoFit/>
          </a:bodyPr>
          <a:lstStyle/>
          <a:p>
            <a:r>
              <a:rPr lang="en-US" dirty="0"/>
              <a:t>3</a:t>
            </a:r>
          </a:p>
        </p:txBody>
      </p:sp>
      <p:sp>
        <p:nvSpPr>
          <p:cNvPr id="174" name="TextBox 173">
            <a:extLst>
              <a:ext uri="{FF2B5EF4-FFF2-40B4-BE49-F238E27FC236}">
                <a16:creationId xmlns:a16="http://schemas.microsoft.com/office/drawing/2014/main" id="{F06D98AC-06F7-ACD4-F557-8925F40B65D8}"/>
              </a:ext>
            </a:extLst>
          </p:cNvPr>
          <p:cNvSpPr txBox="1"/>
          <p:nvPr/>
        </p:nvSpPr>
        <p:spPr>
          <a:xfrm>
            <a:off x="10594305" y="5253389"/>
            <a:ext cx="1639579" cy="400110"/>
          </a:xfrm>
          <a:prstGeom prst="rect">
            <a:avLst/>
          </a:prstGeom>
          <a:noFill/>
        </p:spPr>
        <p:txBody>
          <a:bodyPr wrap="square" rtlCol="0">
            <a:spAutoFit/>
          </a:bodyPr>
          <a:lstStyle/>
          <a:p>
            <a:pPr algn="ctr"/>
            <a:r>
              <a:rPr lang="en-US" sz="1000" dirty="0"/>
              <a:t>1: Flood plain interaction spurs productivity</a:t>
            </a:r>
          </a:p>
        </p:txBody>
      </p:sp>
      <p:sp>
        <p:nvSpPr>
          <p:cNvPr id="175" name="TextBox 174">
            <a:extLst>
              <a:ext uri="{FF2B5EF4-FFF2-40B4-BE49-F238E27FC236}">
                <a16:creationId xmlns:a16="http://schemas.microsoft.com/office/drawing/2014/main" id="{0A5E74C5-D54F-33D8-1EDF-84804D299313}"/>
              </a:ext>
            </a:extLst>
          </p:cNvPr>
          <p:cNvSpPr txBox="1"/>
          <p:nvPr/>
        </p:nvSpPr>
        <p:spPr>
          <a:xfrm>
            <a:off x="10638250" y="5584016"/>
            <a:ext cx="1639580" cy="400110"/>
          </a:xfrm>
          <a:prstGeom prst="rect">
            <a:avLst/>
          </a:prstGeom>
          <a:noFill/>
        </p:spPr>
        <p:txBody>
          <a:bodyPr wrap="square" rtlCol="0">
            <a:spAutoFit/>
          </a:bodyPr>
          <a:lstStyle/>
          <a:p>
            <a:pPr algn="ctr"/>
            <a:r>
              <a:rPr lang="en-US" sz="1000" dirty="0"/>
              <a:t>2: increased light attenuation</a:t>
            </a:r>
          </a:p>
        </p:txBody>
      </p:sp>
      <p:sp>
        <p:nvSpPr>
          <p:cNvPr id="176" name="TextBox 175">
            <a:extLst>
              <a:ext uri="{FF2B5EF4-FFF2-40B4-BE49-F238E27FC236}">
                <a16:creationId xmlns:a16="http://schemas.microsoft.com/office/drawing/2014/main" id="{25D057BB-B255-5784-2A01-CDBDA7F56682}"/>
              </a:ext>
            </a:extLst>
          </p:cNvPr>
          <p:cNvSpPr txBox="1"/>
          <p:nvPr/>
        </p:nvSpPr>
        <p:spPr>
          <a:xfrm>
            <a:off x="10591543" y="5917662"/>
            <a:ext cx="1709706" cy="400110"/>
          </a:xfrm>
          <a:prstGeom prst="rect">
            <a:avLst/>
          </a:prstGeom>
          <a:noFill/>
        </p:spPr>
        <p:txBody>
          <a:bodyPr wrap="square" rtlCol="0">
            <a:spAutoFit/>
          </a:bodyPr>
          <a:lstStyle/>
          <a:p>
            <a:pPr algn="ctr"/>
            <a:r>
              <a:rPr lang="en-US" sz="1000" dirty="0"/>
              <a:t>3: River nutrients spur productivity???</a:t>
            </a:r>
          </a:p>
        </p:txBody>
      </p:sp>
      <p:sp>
        <p:nvSpPr>
          <p:cNvPr id="177" name="TextBox 176">
            <a:extLst>
              <a:ext uri="{FF2B5EF4-FFF2-40B4-BE49-F238E27FC236}">
                <a16:creationId xmlns:a16="http://schemas.microsoft.com/office/drawing/2014/main" id="{52FBBAC2-AA9A-A98E-DFC9-BB438B93D125}"/>
              </a:ext>
            </a:extLst>
          </p:cNvPr>
          <p:cNvSpPr txBox="1"/>
          <p:nvPr/>
        </p:nvSpPr>
        <p:spPr>
          <a:xfrm>
            <a:off x="10744305" y="6296534"/>
            <a:ext cx="1533525" cy="553998"/>
          </a:xfrm>
          <a:prstGeom prst="rect">
            <a:avLst/>
          </a:prstGeom>
          <a:noFill/>
        </p:spPr>
        <p:txBody>
          <a:bodyPr wrap="square" rtlCol="0">
            <a:spAutoFit/>
          </a:bodyPr>
          <a:lstStyle/>
          <a:p>
            <a:pPr algn="ctr"/>
            <a:r>
              <a:rPr lang="en-US" sz="1000" dirty="0"/>
              <a:t>3: No change in DO but change in depth= GPP </a:t>
            </a:r>
            <a:r>
              <a:rPr lang="en-US" sz="1000" dirty="0" err="1"/>
              <a:t>inc</a:t>
            </a:r>
            <a:r>
              <a:rPr lang="en-US" sz="1000" dirty="0"/>
              <a:t>?</a:t>
            </a:r>
          </a:p>
        </p:txBody>
      </p:sp>
      <p:sp>
        <p:nvSpPr>
          <p:cNvPr id="178" name="TextBox 177">
            <a:extLst>
              <a:ext uri="{FF2B5EF4-FFF2-40B4-BE49-F238E27FC236}">
                <a16:creationId xmlns:a16="http://schemas.microsoft.com/office/drawing/2014/main" id="{C38ADF85-5E07-EB96-FA2F-84D4F8453EC3}"/>
              </a:ext>
            </a:extLst>
          </p:cNvPr>
          <p:cNvSpPr txBox="1"/>
          <p:nvPr/>
        </p:nvSpPr>
        <p:spPr>
          <a:xfrm rot="16200000">
            <a:off x="-311374" y="4661681"/>
            <a:ext cx="1515956" cy="369332"/>
          </a:xfrm>
          <a:prstGeom prst="rect">
            <a:avLst/>
          </a:prstGeom>
          <a:noFill/>
        </p:spPr>
        <p:txBody>
          <a:bodyPr wrap="square" rtlCol="0">
            <a:spAutoFit/>
          </a:bodyPr>
          <a:lstStyle/>
          <a:p>
            <a:r>
              <a:rPr lang="en-US" dirty="0"/>
              <a:t>CO2/|ER|</a:t>
            </a:r>
          </a:p>
        </p:txBody>
      </p:sp>
      <p:sp>
        <p:nvSpPr>
          <p:cNvPr id="179" name="TextBox 178">
            <a:extLst>
              <a:ext uri="{FF2B5EF4-FFF2-40B4-BE49-F238E27FC236}">
                <a16:creationId xmlns:a16="http://schemas.microsoft.com/office/drawing/2014/main" id="{E5FBD756-ADE9-4136-6C9F-83ABCC66F15A}"/>
              </a:ext>
            </a:extLst>
          </p:cNvPr>
          <p:cNvSpPr txBox="1"/>
          <p:nvPr/>
        </p:nvSpPr>
        <p:spPr>
          <a:xfrm>
            <a:off x="10531190" y="4765430"/>
            <a:ext cx="1639580" cy="246221"/>
          </a:xfrm>
          <a:prstGeom prst="rect">
            <a:avLst/>
          </a:prstGeom>
          <a:noFill/>
        </p:spPr>
        <p:txBody>
          <a:bodyPr wrap="square" rtlCol="0">
            <a:spAutoFit/>
          </a:bodyPr>
          <a:lstStyle/>
          <a:p>
            <a:pPr algn="ctr"/>
            <a:r>
              <a:rPr lang="en-US" sz="1000" dirty="0"/>
              <a:t>2: DO limitation</a:t>
            </a:r>
          </a:p>
        </p:txBody>
      </p:sp>
      <p:sp>
        <p:nvSpPr>
          <p:cNvPr id="180" name="TextBox 179">
            <a:extLst>
              <a:ext uri="{FF2B5EF4-FFF2-40B4-BE49-F238E27FC236}">
                <a16:creationId xmlns:a16="http://schemas.microsoft.com/office/drawing/2014/main" id="{897919AE-0919-0EA3-0E02-E2314BE2C4CC}"/>
              </a:ext>
            </a:extLst>
          </p:cNvPr>
          <p:cNvSpPr txBox="1"/>
          <p:nvPr/>
        </p:nvSpPr>
        <p:spPr>
          <a:xfrm>
            <a:off x="7281602" y="4944551"/>
            <a:ext cx="1639580" cy="246221"/>
          </a:xfrm>
          <a:prstGeom prst="rect">
            <a:avLst/>
          </a:prstGeom>
          <a:noFill/>
        </p:spPr>
        <p:txBody>
          <a:bodyPr wrap="square" rtlCol="0">
            <a:spAutoFit/>
          </a:bodyPr>
          <a:lstStyle/>
          <a:p>
            <a:pPr algn="ctr"/>
            <a:r>
              <a:rPr lang="en-US" sz="1000" dirty="0"/>
              <a:t>2: DO limitation</a:t>
            </a:r>
          </a:p>
        </p:txBody>
      </p:sp>
    </p:spTree>
    <p:extLst>
      <p:ext uri="{BB962C8B-B14F-4D97-AF65-F5344CB8AC3E}">
        <p14:creationId xmlns:p14="http://schemas.microsoft.com/office/powerpoint/2010/main" val="3116752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7E5D-8EB5-F2D4-AD46-0EF38AD9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5A5B6-6E18-FBAA-E326-FB154EE1A0EC}"/>
              </a:ext>
            </a:extLst>
          </p:cNvPr>
          <p:cNvSpPr>
            <a:spLocks noGrp="1"/>
          </p:cNvSpPr>
          <p:nvPr>
            <p:ph type="title"/>
          </p:nvPr>
        </p:nvSpPr>
        <p:spPr>
          <a:xfrm>
            <a:off x="297656" y="199031"/>
            <a:ext cx="11668125" cy="645149"/>
          </a:xfrm>
        </p:spPr>
        <p:txBody>
          <a:bodyPr>
            <a:noAutofit/>
          </a:bodyPr>
          <a:lstStyle/>
          <a:p>
            <a:pPr algn="ctr"/>
            <a:r>
              <a:rPr lang="en-US" sz="2000" b="1" dirty="0"/>
              <a:t>Results: </a:t>
            </a:r>
            <a:r>
              <a:rPr lang="en-US" sz="2000" i="1" dirty="0"/>
              <a:t>The spring metabolic signal will exhibit two breakpoints with depth: spring productivity will moderately decline with increasing stage and undergo a severe dropout at depths that trigger backwater flooding.</a:t>
            </a:r>
            <a:br>
              <a:rPr lang="en-US" sz="2000" i="1" dirty="0"/>
            </a:br>
            <a:endParaRPr lang="en-US" sz="2000" i="1" dirty="0"/>
          </a:p>
        </p:txBody>
      </p:sp>
      <p:grpSp>
        <p:nvGrpSpPr>
          <p:cNvPr id="26" name="Group 25">
            <a:extLst>
              <a:ext uri="{FF2B5EF4-FFF2-40B4-BE49-F238E27FC236}">
                <a16:creationId xmlns:a16="http://schemas.microsoft.com/office/drawing/2014/main" id="{BC4841CD-4E2F-DD8A-3217-59961B436D1A}"/>
              </a:ext>
            </a:extLst>
          </p:cNvPr>
          <p:cNvGrpSpPr/>
          <p:nvPr/>
        </p:nvGrpSpPr>
        <p:grpSpPr>
          <a:xfrm>
            <a:off x="626739" y="1695838"/>
            <a:ext cx="2914651" cy="2124073"/>
            <a:chOff x="542925" y="2847975"/>
            <a:chExt cx="1276350" cy="1095375"/>
          </a:xfrm>
        </p:grpSpPr>
        <p:cxnSp>
          <p:nvCxnSpPr>
            <p:cNvPr id="27" name="Straight Arrow Connector 26">
              <a:extLst>
                <a:ext uri="{FF2B5EF4-FFF2-40B4-BE49-F238E27FC236}">
                  <a16:creationId xmlns:a16="http://schemas.microsoft.com/office/drawing/2014/main" id="{754BD1FD-7119-EAB9-6DA0-9E98E08DC071}"/>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377019DB-80BD-CC08-7327-BD0D2F1DDB2C}"/>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42" name="Group 41">
            <a:extLst>
              <a:ext uri="{FF2B5EF4-FFF2-40B4-BE49-F238E27FC236}">
                <a16:creationId xmlns:a16="http://schemas.microsoft.com/office/drawing/2014/main" id="{1E7CE028-4C5E-A6F6-D653-DB5888AB78E4}"/>
              </a:ext>
            </a:extLst>
          </p:cNvPr>
          <p:cNvGrpSpPr/>
          <p:nvPr/>
        </p:nvGrpSpPr>
        <p:grpSpPr>
          <a:xfrm>
            <a:off x="893439" y="2352665"/>
            <a:ext cx="2302669" cy="1123290"/>
            <a:chOff x="1038225" y="2495550"/>
            <a:chExt cx="2302669" cy="1123290"/>
          </a:xfrm>
        </p:grpSpPr>
        <p:cxnSp>
          <p:nvCxnSpPr>
            <p:cNvPr id="30" name="Straight Connector 29">
              <a:extLst>
                <a:ext uri="{FF2B5EF4-FFF2-40B4-BE49-F238E27FC236}">
                  <a16:creationId xmlns:a16="http://schemas.microsoft.com/office/drawing/2014/main" id="{1B4933BF-3B41-B89C-6E3A-B406B1F55EF2}"/>
                </a:ext>
              </a:extLst>
            </p:cNvPr>
            <p:cNvCxnSpPr>
              <a:cxnSpLocks/>
            </p:cNvCxnSpPr>
            <p:nvPr/>
          </p:nvCxnSpPr>
          <p:spPr>
            <a:xfrm>
              <a:off x="1038225" y="2495550"/>
              <a:ext cx="1185863" cy="1940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904EABE-7C92-3E5A-1CA6-3CE5AD61ADED}"/>
                </a:ext>
              </a:extLst>
            </p:cNvPr>
            <p:cNvCxnSpPr>
              <a:cxnSpLocks/>
            </p:cNvCxnSpPr>
            <p:nvPr/>
          </p:nvCxnSpPr>
          <p:spPr>
            <a:xfrm>
              <a:off x="2212182" y="2689626"/>
              <a:ext cx="1128712" cy="929214"/>
            </a:xfrm>
            <a:prstGeom prst="line">
              <a:avLst/>
            </a:prstGeom>
          </p:spPr>
          <p:style>
            <a:lnRef idx="2">
              <a:schemeClr val="accent1"/>
            </a:lnRef>
            <a:fillRef idx="0">
              <a:schemeClr val="accent1"/>
            </a:fillRef>
            <a:effectRef idx="1">
              <a:schemeClr val="accent1"/>
            </a:effectRef>
            <a:fontRef idx="minor">
              <a:schemeClr val="tx1"/>
            </a:fontRef>
          </p:style>
        </p:cxnSp>
      </p:grpSp>
      <p:sp>
        <p:nvSpPr>
          <p:cNvPr id="44" name="TextBox 43">
            <a:extLst>
              <a:ext uri="{FF2B5EF4-FFF2-40B4-BE49-F238E27FC236}">
                <a16:creationId xmlns:a16="http://schemas.microsoft.com/office/drawing/2014/main" id="{BDCF8AA9-6CA1-D21C-C8CC-EC7E7BF8FE1A}"/>
              </a:ext>
            </a:extLst>
          </p:cNvPr>
          <p:cNvSpPr txBox="1"/>
          <p:nvPr/>
        </p:nvSpPr>
        <p:spPr>
          <a:xfrm rot="16200000">
            <a:off x="-456892" y="2443209"/>
            <a:ext cx="1806990" cy="369332"/>
          </a:xfrm>
          <a:prstGeom prst="rect">
            <a:avLst/>
          </a:prstGeom>
          <a:noFill/>
        </p:spPr>
        <p:txBody>
          <a:bodyPr wrap="square" rtlCol="0">
            <a:spAutoFit/>
          </a:bodyPr>
          <a:lstStyle/>
          <a:p>
            <a:r>
              <a:rPr lang="en-US" dirty="0"/>
              <a:t>DO/GPP/NEP</a:t>
            </a:r>
          </a:p>
        </p:txBody>
      </p:sp>
      <p:sp>
        <p:nvSpPr>
          <p:cNvPr id="46" name="TextBox 45">
            <a:extLst>
              <a:ext uri="{FF2B5EF4-FFF2-40B4-BE49-F238E27FC236}">
                <a16:creationId xmlns:a16="http://schemas.microsoft.com/office/drawing/2014/main" id="{6B2BB61C-694C-E839-2277-1D1AFDEDB6FC}"/>
              </a:ext>
            </a:extLst>
          </p:cNvPr>
          <p:cNvSpPr txBox="1"/>
          <p:nvPr/>
        </p:nvSpPr>
        <p:spPr>
          <a:xfrm>
            <a:off x="987248" y="3787800"/>
            <a:ext cx="2689873" cy="369332"/>
          </a:xfrm>
          <a:prstGeom prst="rect">
            <a:avLst/>
          </a:prstGeom>
          <a:noFill/>
        </p:spPr>
        <p:txBody>
          <a:bodyPr wrap="square" rtlCol="0">
            <a:spAutoFit/>
          </a:bodyPr>
          <a:lstStyle/>
          <a:p>
            <a:r>
              <a:rPr lang="en-US" dirty="0"/>
              <a:t>Stage Percent Change</a:t>
            </a:r>
          </a:p>
        </p:txBody>
      </p:sp>
      <p:sp>
        <p:nvSpPr>
          <p:cNvPr id="48" name="TextBox 47">
            <a:extLst>
              <a:ext uri="{FF2B5EF4-FFF2-40B4-BE49-F238E27FC236}">
                <a16:creationId xmlns:a16="http://schemas.microsoft.com/office/drawing/2014/main" id="{8B66E689-FCEA-C045-BB0E-45C758C445AB}"/>
              </a:ext>
            </a:extLst>
          </p:cNvPr>
          <p:cNvSpPr txBox="1"/>
          <p:nvPr/>
        </p:nvSpPr>
        <p:spPr>
          <a:xfrm>
            <a:off x="784012" y="1448289"/>
            <a:ext cx="2689873" cy="369332"/>
          </a:xfrm>
          <a:prstGeom prst="rect">
            <a:avLst/>
          </a:prstGeom>
          <a:noFill/>
        </p:spPr>
        <p:txBody>
          <a:bodyPr wrap="square" rtlCol="0">
            <a:spAutoFit/>
          </a:bodyPr>
          <a:lstStyle/>
          <a:p>
            <a:pPr algn="ctr"/>
            <a:r>
              <a:rPr lang="en-US" dirty="0"/>
              <a:t>Hypothesis 1</a:t>
            </a:r>
          </a:p>
        </p:txBody>
      </p:sp>
      <p:cxnSp>
        <p:nvCxnSpPr>
          <p:cNvPr id="50" name="Straight Arrow Connector 49">
            <a:extLst>
              <a:ext uri="{FF2B5EF4-FFF2-40B4-BE49-F238E27FC236}">
                <a16:creationId xmlns:a16="http://schemas.microsoft.com/office/drawing/2014/main" id="{E19EF96D-98A9-FBFE-807C-5471085646E4}"/>
              </a:ext>
            </a:extLst>
          </p:cNvPr>
          <p:cNvCxnSpPr>
            <a:cxnSpLocks/>
          </p:cNvCxnSpPr>
          <p:nvPr/>
        </p:nvCxnSpPr>
        <p:spPr>
          <a:xfrm>
            <a:off x="3618398" y="3819911"/>
            <a:ext cx="928196" cy="0"/>
          </a:xfrm>
          <a:prstGeom prst="straightConnector1">
            <a:avLst/>
          </a:prstGeom>
          <a:ln w="152400">
            <a:tailEnd type="triangle"/>
          </a:ln>
        </p:spPr>
        <p:style>
          <a:lnRef idx="2">
            <a:schemeClr val="accent6"/>
          </a:lnRef>
          <a:fillRef idx="0">
            <a:schemeClr val="accent6"/>
          </a:fillRef>
          <a:effectRef idx="1">
            <a:schemeClr val="accent6"/>
          </a:effectRef>
          <a:fontRef idx="minor">
            <a:schemeClr val="tx1"/>
          </a:fontRef>
        </p:style>
      </p:cxnSp>
      <p:sp>
        <p:nvSpPr>
          <p:cNvPr id="51" name="TextBox 50">
            <a:extLst>
              <a:ext uri="{FF2B5EF4-FFF2-40B4-BE49-F238E27FC236}">
                <a16:creationId xmlns:a16="http://schemas.microsoft.com/office/drawing/2014/main" id="{99A65F58-77C4-63B4-0AF6-8CA2CEF23BC9}"/>
              </a:ext>
            </a:extLst>
          </p:cNvPr>
          <p:cNvSpPr txBox="1"/>
          <p:nvPr/>
        </p:nvSpPr>
        <p:spPr>
          <a:xfrm>
            <a:off x="3714704" y="3291289"/>
            <a:ext cx="864758" cy="369332"/>
          </a:xfrm>
          <a:prstGeom prst="rect">
            <a:avLst/>
          </a:prstGeom>
          <a:noFill/>
        </p:spPr>
        <p:txBody>
          <a:bodyPr wrap="square" rtlCol="0">
            <a:spAutoFit/>
          </a:bodyPr>
          <a:lstStyle/>
          <a:p>
            <a:pPr algn="ctr"/>
            <a:r>
              <a:rPr lang="en-US" dirty="0"/>
              <a:t>Actual</a:t>
            </a:r>
          </a:p>
        </p:txBody>
      </p:sp>
      <p:sp>
        <p:nvSpPr>
          <p:cNvPr id="161" name="TextBox 160">
            <a:extLst>
              <a:ext uri="{FF2B5EF4-FFF2-40B4-BE49-F238E27FC236}">
                <a16:creationId xmlns:a16="http://schemas.microsoft.com/office/drawing/2014/main" id="{752CD709-9E94-3C8D-A873-CDBC315ECABE}"/>
              </a:ext>
            </a:extLst>
          </p:cNvPr>
          <p:cNvSpPr txBox="1"/>
          <p:nvPr/>
        </p:nvSpPr>
        <p:spPr>
          <a:xfrm>
            <a:off x="953234" y="2066105"/>
            <a:ext cx="1639580" cy="298798"/>
          </a:xfrm>
          <a:prstGeom prst="rect">
            <a:avLst/>
          </a:prstGeom>
          <a:noFill/>
        </p:spPr>
        <p:txBody>
          <a:bodyPr wrap="square" rtlCol="0">
            <a:spAutoFit/>
          </a:bodyPr>
          <a:lstStyle/>
          <a:p>
            <a:pPr algn="ctr"/>
            <a:r>
              <a:rPr lang="en-US" sz="1000" dirty="0"/>
              <a:t>1: increased light attenuation</a:t>
            </a:r>
          </a:p>
        </p:txBody>
      </p:sp>
      <p:sp>
        <p:nvSpPr>
          <p:cNvPr id="162" name="TextBox 161">
            <a:extLst>
              <a:ext uri="{FF2B5EF4-FFF2-40B4-BE49-F238E27FC236}">
                <a16:creationId xmlns:a16="http://schemas.microsoft.com/office/drawing/2014/main" id="{691F8255-11E7-30DF-DE62-81B9DE632F72}"/>
              </a:ext>
            </a:extLst>
          </p:cNvPr>
          <p:cNvSpPr txBox="1"/>
          <p:nvPr/>
        </p:nvSpPr>
        <p:spPr>
          <a:xfrm>
            <a:off x="2545483" y="2809631"/>
            <a:ext cx="1639580" cy="400110"/>
          </a:xfrm>
          <a:prstGeom prst="rect">
            <a:avLst/>
          </a:prstGeom>
          <a:noFill/>
        </p:spPr>
        <p:txBody>
          <a:bodyPr wrap="square" rtlCol="0">
            <a:spAutoFit/>
          </a:bodyPr>
          <a:lstStyle/>
          <a:p>
            <a:pPr algn="ctr"/>
            <a:r>
              <a:rPr lang="en-US" sz="1000" dirty="0"/>
              <a:t>2: Light occluded and DO is limited</a:t>
            </a:r>
          </a:p>
        </p:txBody>
      </p:sp>
      <p:sp>
        <p:nvSpPr>
          <p:cNvPr id="3" name="Title 1">
            <a:extLst>
              <a:ext uri="{FF2B5EF4-FFF2-40B4-BE49-F238E27FC236}">
                <a16:creationId xmlns:a16="http://schemas.microsoft.com/office/drawing/2014/main" id="{3A1D43C6-E2B3-C1A3-A961-069C543C0C83}"/>
              </a:ext>
            </a:extLst>
          </p:cNvPr>
          <p:cNvSpPr txBox="1">
            <a:spLocks/>
          </p:cNvSpPr>
          <p:nvPr/>
        </p:nvSpPr>
        <p:spPr>
          <a:xfrm>
            <a:off x="261937" y="803140"/>
            <a:ext cx="11668125" cy="6451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a:t>Results: </a:t>
            </a:r>
            <a:r>
              <a:rPr lang="en-US" sz="2000" b="1" i="1" dirty="0"/>
              <a:t>ER and GPP respond complementary to backwater floods resulting in a distinct decline in NEP.</a:t>
            </a:r>
            <a:br>
              <a:rPr lang="en-US" sz="2000" i="1" dirty="0"/>
            </a:br>
            <a:endParaRPr lang="en-US" sz="2000" i="1" dirty="0"/>
          </a:p>
        </p:txBody>
      </p:sp>
      <p:grpSp>
        <p:nvGrpSpPr>
          <p:cNvPr id="5" name="Group 4">
            <a:extLst>
              <a:ext uri="{FF2B5EF4-FFF2-40B4-BE49-F238E27FC236}">
                <a16:creationId xmlns:a16="http://schemas.microsoft.com/office/drawing/2014/main" id="{DEDED2BE-6724-E0FD-D96D-B67A5453CAC0}"/>
              </a:ext>
            </a:extLst>
          </p:cNvPr>
          <p:cNvGrpSpPr/>
          <p:nvPr/>
        </p:nvGrpSpPr>
        <p:grpSpPr>
          <a:xfrm>
            <a:off x="702231" y="4088370"/>
            <a:ext cx="2914651" cy="2124073"/>
            <a:chOff x="542925" y="2847975"/>
            <a:chExt cx="1276350" cy="1095375"/>
          </a:xfrm>
        </p:grpSpPr>
        <p:cxnSp>
          <p:nvCxnSpPr>
            <p:cNvPr id="21" name="Straight Arrow Connector 20">
              <a:extLst>
                <a:ext uri="{FF2B5EF4-FFF2-40B4-BE49-F238E27FC236}">
                  <a16:creationId xmlns:a16="http://schemas.microsoft.com/office/drawing/2014/main" id="{729120CE-42B1-7CB1-D760-7D85596A25CB}"/>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775C240E-C540-09F6-787B-4229E807B082}"/>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32" name="Group 31">
            <a:extLst>
              <a:ext uri="{FF2B5EF4-FFF2-40B4-BE49-F238E27FC236}">
                <a16:creationId xmlns:a16="http://schemas.microsoft.com/office/drawing/2014/main" id="{8F5F9925-5E98-1A5C-B756-4B20B603E096}"/>
              </a:ext>
            </a:extLst>
          </p:cNvPr>
          <p:cNvGrpSpPr/>
          <p:nvPr/>
        </p:nvGrpSpPr>
        <p:grpSpPr>
          <a:xfrm>
            <a:off x="985003" y="4468842"/>
            <a:ext cx="2336621" cy="1046078"/>
            <a:chOff x="1054297" y="4687225"/>
            <a:chExt cx="2336621" cy="1046078"/>
          </a:xfrm>
        </p:grpSpPr>
        <p:cxnSp>
          <p:nvCxnSpPr>
            <p:cNvPr id="35" name="Straight Connector 34">
              <a:extLst>
                <a:ext uri="{FF2B5EF4-FFF2-40B4-BE49-F238E27FC236}">
                  <a16:creationId xmlns:a16="http://schemas.microsoft.com/office/drawing/2014/main" id="{A6B1524A-27EE-300E-6307-29D72D15040A}"/>
                </a:ext>
              </a:extLst>
            </p:cNvPr>
            <p:cNvCxnSpPr>
              <a:cxnSpLocks/>
            </p:cNvCxnSpPr>
            <p:nvPr/>
          </p:nvCxnSpPr>
          <p:spPr>
            <a:xfrm flipV="1">
              <a:off x="1054297" y="5455042"/>
              <a:ext cx="1190626" cy="278261"/>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925351A-2F8A-800F-BFB3-F24357A38DE9}"/>
                </a:ext>
              </a:extLst>
            </p:cNvPr>
            <p:cNvCxnSpPr>
              <a:cxnSpLocks/>
            </p:cNvCxnSpPr>
            <p:nvPr/>
          </p:nvCxnSpPr>
          <p:spPr>
            <a:xfrm flipV="1">
              <a:off x="2243752" y="4687225"/>
              <a:ext cx="1147166" cy="769408"/>
            </a:xfrm>
            <a:prstGeom prst="line">
              <a:avLst/>
            </a:prstGeom>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35524E93-C73B-CDC9-2CFB-1913801C240D}"/>
              </a:ext>
            </a:extLst>
          </p:cNvPr>
          <p:cNvSpPr txBox="1"/>
          <p:nvPr/>
        </p:nvSpPr>
        <p:spPr>
          <a:xfrm rot="16200000">
            <a:off x="-311374" y="4661681"/>
            <a:ext cx="1515956" cy="369332"/>
          </a:xfrm>
          <a:prstGeom prst="rect">
            <a:avLst/>
          </a:prstGeom>
          <a:noFill/>
        </p:spPr>
        <p:txBody>
          <a:bodyPr wrap="square" rtlCol="0">
            <a:spAutoFit/>
          </a:bodyPr>
          <a:lstStyle/>
          <a:p>
            <a:r>
              <a:rPr lang="en-US" dirty="0"/>
              <a:t>CO2/|ER|</a:t>
            </a:r>
          </a:p>
        </p:txBody>
      </p:sp>
      <p:sp>
        <p:nvSpPr>
          <p:cNvPr id="49" name="TextBox 48">
            <a:extLst>
              <a:ext uri="{FF2B5EF4-FFF2-40B4-BE49-F238E27FC236}">
                <a16:creationId xmlns:a16="http://schemas.microsoft.com/office/drawing/2014/main" id="{72F6F2F9-9A6B-A7E6-19EA-76D51B570F8D}"/>
              </a:ext>
            </a:extLst>
          </p:cNvPr>
          <p:cNvSpPr txBox="1"/>
          <p:nvPr/>
        </p:nvSpPr>
        <p:spPr>
          <a:xfrm>
            <a:off x="1062740" y="6212443"/>
            <a:ext cx="2689873" cy="369332"/>
          </a:xfrm>
          <a:prstGeom prst="rect">
            <a:avLst/>
          </a:prstGeom>
          <a:noFill/>
        </p:spPr>
        <p:txBody>
          <a:bodyPr wrap="square" rtlCol="0">
            <a:spAutoFit/>
          </a:bodyPr>
          <a:lstStyle/>
          <a:p>
            <a:r>
              <a:rPr lang="en-US" dirty="0"/>
              <a:t>Stage Percent Change</a:t>
            </a:r>
          </a:p>
        </p:txBody>
      </p:sp>
      <p:sp>
        <p:nvSpPr>
          <p:cNvPr id="52" name="TextBox 51">
            <a:extLst>
              <a:ext uri="{FF2B5EF4-FFF2-40B4-BE49-F238E27FC236}">
                <a16:creationId xmlns:a16="http://schemas.microsoft.com/office/drawing/2014/main" id="{68A99A66-E6FF-6EAC-5ED0-3EBA8C164CE4}"/>
              </a:ext>
            </a:extLst>
          </p:cNvPr>
          <p:cNvSpPr txBox="1"/>
          <p:nvPr/>
        </p:nvSpPr>
        <p:spPr>
          <a:xfrm>
            <a:off x="993099" y="5463571"/>
            <a:ext cx="1639580" cy="400110"/>
          </a:xfrm>
          <a:prstGeom prst="rect">
            <a:avLst/>
          </a:prstGeom>
          <a:noFill/>
        </p:spPr>
        <p:txBody>
          <a:bodyPr wrap="square" rtlCol="0">
            <a:spAutoFit/>
          </a:bodyPr>
          <a:lstStyle/>
          <a:p>
            <a:pPr algn="ctr"/>
            <a:r>
              <a:rPr lang="en-US" sz="1000" dirty="0"/>
              <a:t>1: increased light attenuation</a:t>
            </a:r>
          </a:p>
        </p:txBody>
      </p:sp>
      <p:grpSp>
        <p:nvGrpSpPr>
          <p:cNvPr id="53" name="Group 52">
            <a:extLst>
              <a:ext uri="{FF2B5EF4-FFF2-40B4-BE49-F238E27FC236}">
                <a16:creationId xmlns:a16="http://schemas.microsoft.com/office/drawing/2014/main" id="{29F6812E-7A78-4849-E53F-5C7E30FF815A}"/>
              </a:ext>
            </a:extLst>
          </p:cNvPr>
          <p:cNvGrpSpPr/>
          <p:nvPr/>
        </p:nvGrpSpPr>
        <p:grpSpPr>
          <a:xfrm>
            <a:off x="5359287" y="1468861"/>
            <a:ext cx="5548125" cy="4046059"/>
            <a:chOff x="542925" y="2847975"/>
            <a:chExt cx="1276350" cy="1095375"/>
          </a:xfrm>
        </p:grpSpPr>
        <p:cxnSp>
          <p:nvCxnSpPr>
            <p:cNvPr id="55" name="Straight Arrow Connector 54">
              <a:extLst>
                <a:ext uri="{FF2B5EF4-FFF2-40B4-BE49-F238E27FC236}">
                  <a16:creationId xmlns:a16="http://schemas.microsoft.com/office/drawing/2014/main" id="{4293278B-5656-2619-BADE-0E3EF46C4C3E}"/>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4" name="Straight Arrow Connector 63">
              <a:extLst>
                <a:ext uri="{FF2B5EF4-FFF2-40B4-BE49-F238E27FC236}">
                  <a16:creationId xmlns:a16="http://schemas.microsoft.com/office/drawing/2014/main" id="{DB4A570C-E26E-E61F-73EF-9FE65EDF5184}"/>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75" name="Group 74">
            <a:extLst>
              <a:ext uri="{FF2B5EF4-FFF2-40B4-BE49-F238E27FC236}">
                <a16:creationId xmlns:a16="http://schemas.microsoft.com/office/drawing/2014/main" id="{F66972D9-3342-009A-07A7-88BA9E331D1B}"/>
              </a:ext>
            </a:extLst>
          </p:cNvPr>
          <p:cNvGrpSpPr/>
          <p:nvPr/>
        </p:nvGrpSpPr>
        <p:grpSpPr>
          <a:xfrm>
            <a:off x="5667379" y="1712979"/>
            <a:ext cx="3802591" cy="3479920"/>
            <a:chOff x="1038225" y="2495550"/>
            <a:chExt cx="2032109" cy="1429486"/>
          </a:xfrm>
        </p:grpSpPr>
        <p:cxnSp>
          <p:nvCxnSpPr>
            <p:cNvPr id="76" name="Straight Connector 75">
              <a:extLst>
                <a:ext uri="{FF2B5EF4-FFF2-40B4-BE49-F238E27FC236}">
                  <a16:creationId xmlns:a16="http://schemas.microsoft.com/office/drawing/2014/main" id="{559CF01D-944D-0275-8A65-9BCC10E456DE}"/>
                </a:ext>
              </a:extLst>
            </p:cNvPr>
            <p:cNvCxnSpPr>
              <a:cxnSpLocks/>
            </p:cNvCxnSpPr>
            <p:nvPr/>
          </p:nvCxnSpPr>
          <p:spPr>
            <a:xfrm>
              <a:off x="1038225" y="2495550"/>
              <a:ext cx="1118409" cy="354796"/>
            </a:xfrm>
            <a:prstGeom prst="line">
              <a:avLst/>
            </a:prstGeom>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DCE3C3E7-247F-56B0-68C4-A50143E12D26}"/>
                </a:ext>
              </a:extLst>
            </p:cNvPr>
            <p:cNvCxnSpPr>
              <a:cxnSpLocks/>
            </p:cNvCxnSpPr>
            <p:nvPr/>
          </p:nvCxnSpPr>
          <p:spPr>
            <a:xfrm>
              <a:off x="2156634" y="2850346"/>
              <a:ext cx="913700" cy="1074690"/>
            </a:xfrm>
            <a:prstGeom prst="line">
              <a:avLst/>
            </a:prstGeom>
          </p:spPr>
          <p:style>
            <a:lnRef idx="2">
              <a:schemeClr val="accent1"/>
            </a:lnRef>
            <a:fillRef idx="0">
              <a:schemeClr val="accent1"/>
            </a:fillRef>
            <a:effectRef idx="1">
              <a:schemeClr val="accent1"/>
            </a:effectRef>
            <a:fontRef idx="minor">
              <a:schemeClr val="tx1"/>
            </a:fontRef>
          </p:style>
        </p:cxnSp>
      </p:grpSp>
      <p:sp>
        <p:nvSpPr>
          <p:cNvPr id="85" name="TextBox 84">
            <a:extLst>
              <a:ext uri="{FF2B5EF4-FFF2-40B4-BE49-F238E27FC236}">
                <a16:creationId xmlns:a16="http://schemas.microsoft.com/office/drawing/2014/main" id="{A449529D-C8F3-6360-F4CF-4A0966837E17}"/>
              </a:ext>
            </a:extLst>
          </p:cNvPr>
          <p:cNvSpPr txBox="1"/>
          <p:nvPr/>
        </p:nvSpPr>
        <p:spPr>
          <a:xfrm rot="16200000">
            <a:off x="4253224" y="3346704"/>
            <a:ext cx="1515956" cy="369332"/>
          </a:xfrm>
          <a:prstGeom prst="rect">
            <a:avLst/>
          </a:prstGeom>
          <a:noFill/>
        </p:spPr>
        <p:txBody>
          <a:bodyPr wrap="square" rtlCol="0">
            <a:spAutoFit/>
          </a:bodyPr>
          <a:lstStyle/>
          <a:p>
            <a:pPr algn="ctr"/>
            <a:r>
              <a:rPr lang="en-US" dirty="0"/>
              <a:t>NEP</a:t>
            </a:r>
          </a:p>
        </p:txBody>
      </p:sp>
      <p:sp>
        <p:nvSpPr>
          <p:cNvPr id="86" name="TextBox 85">
            <a:extLst>
              <a:ext uri="{FF2B5EF4-FFF2-40B4-BE49-F238E27FC236}">
                <a16:creationId xmlns:a16="http://schemas.microsoft.com/office/drawing/2014/main" id="{FA48B647-EF12-3FEF-EFF7-94F4DD809DB0}"/>
              </a:ext>
            </a:extLst>
          </p:cNvPr>
          <p:cNvSpPr txBox="1"/>
          <p:nvPr/>
        </p:nvSpPr>
        <p:spPr>
          <a:xfrm>
            <a:off x="7032598" y="5494351"/>
            <a:ext cx="2689873" cy="369332"/>
          </a:xfrm>
          <a:prstGeom prst="rect">
            <a:avLst/>
          </a:prstGeom>
          <a:noFill/>
        </p:spPr>
        <p:txBody>
          <a:bodyPr wrap="square" rtlCol="0">
            <a:spAutoFit/>
          </a:bodyPr>
          <a:lstStyle/>
          <a:p>
            <a:r>
              <a:rPr lang="en-US" dirty="0"/>
              <a:t>Stage Percent Change</a:t>
            </a:r>
          </a:p>
        </p:txBody>
      </p:sp>
      <p:sp>
        <p:nvSpPr>
          <p:cNvPr id="88" name="TextBox 87">
            <a:extLst>
              <a:ext uri="{FF2B5EF4-FFF2-40B4-BE49-F238E27FC236}">
                <a16:creationId xmlns:a16="http://schemas.microsoft.com/office/drawing/2014/main" id="{5AE5A0C5-3A2D-BF06-40C3-990C426C841A}"/>
              </a:ext>
            </a:extLst>
          </p:cNvPr>
          <p:cNvSpPr txBox="1"/>
          <p:nvPr/>
        </p:nvSpPr>
        <p:spPr>
          <a:xfrm>
            <a:off x="9128172" y="3549701"/>
            <a:ext cx="2553386" cy="1477328"/>
          </a:xfrm>
          <a:prstGeom prst="rect">
            <a:avLst/>
          </a:prstGeom>
          <a:noFill/>
        </p:spPr>
        <p:txBody>
          <a:bodyPr wrap="square" rtlCol="0">
            <a:spAutoFit/>
          </a:bodyPr>
          <a:lstStyle/>
          <a:p>
            <a:pPr algn="ctr"/>
            <a:r>
              <a:rPr lang="en-US" dirty="0"/>
              <a:t>2: River DOC spurring respiration </a:t>
            </a:r>
          </a:p>
          <a:p>
            <a:pPr algn="ctr"/>
            <a:r>
              <a:rPr lang="en-US" dirty="0"/>
              <a:t>3. DO limitation and springs reach a hypoxic state </a:t>
            </a:r>
          </a:p>
        </p:txBody>
      </p:sp>
      <p:sp>
        <p:nvSpPr>
          <p:cNvPr id="113" name="TextBox 112">
            <a:extLst>
              <a:ext uri="{FF2B5EF4-FFF2-40B4-BE49-F238E27FC236}">
                <a16:creationId xmlns:a16="http://schemas.microsoft.com/office/drawing/2014/main" id="{3EDC022E-4134-AF83-B325-A255882669ED}"/>
              </a:ext>
            </a:extLst>
          </p:cNvPr>
          <p:cNvSpPr txBox="1"/>
          <p:nvPr/>
        </p:nvSpPr>
        <p:spPr>
          <a:xfrm>
            <a:off x="6522262" y="1514943"/>
            <a:ext cx="2092826" cy="646331"/>
          </a:xfrm>
          <a:prstGeom prst="rect">
            <a:avLst/>
          </a:prstGeom>
          <a:noFill/>
        </p:spPr>
        <p:txBody>
          <a:bodyPr wrap="square" rtlCol="0">
            <a:spAutoFit/>
          </a:bodyPr>
          <a:lstStyle/>
          <a:p>
            <a:pPr algn="ctr"/>
            <a:r>
              <a:rPr lang="en-US" dirty="0"/>
              <a:t>1: increased light attenuation</a:t>
            </a:r>
          </a:p>
        </p:txBody>
      </p:sp>
      <p:sp>
        <p:nvSpPr>
          <p:cNvPr id="4" name="TextBox 3">
            <a:extLst>
              <a:ext uri="{FF2B5EF4-FFF2-40B4-BE49-F238E27FC236}">
                <a16:creationId xmlns:a16="http://schemas.microsoft.com/office/drawing/2014/main" id="{F298D39B-B129-F36A-CC20-7CFE54BDDB37}"/>
              </a:ext>
            </a:extLst>
          </p:cNvPr>
          <p:cNvSpPr txBox="1"/>
          <p:nvPr/>
        </p:nvSpPr>
        <p:spPr>
          <a:xfrm>
            <a:off x="3752613" y="5889393"/>
            <a:ext cx="8324480" cy="646331"/>
          </a:xfrm>
          <a:prstGeom prst="rect">
            <a:avLst/>
          </a:prstGeom>
          <a:noFill/>
        </p:spPr>
        <p:txBody>
          <a:bodyPr wrap="square" rtlCol="0">
            <a:spAutoFit/>
          </a:bodyPr>
          <a:lstStyle/>
          <a:p>
            <a:pPr algn="ctr"/>
            <a:r>
              <a:rPr lang="en-US" b="1" dirty="0">
                <a:highlight>
                  <a:srgbClr val="FFFF00"/>
                </a:highlight>
              </a:rPr>
              <a:t>Bottom Line: There is a tight mechanistic cascade dependent on source water : </a:t>
            </a:r>
          </a:p>
          <a:p>
            <a:pPr algn="ctr"/>
            <a:r>
              <a:rPr lang="en-US" b="1" dirty="0">
                <a:highlight>
                  <a:srgbClr val="FFFF00"/>
                </a:highlight>
              </a:rPr>
              <a:t>Stage ↑ → light attenuation ↑ → GPP → 0 → DO ↓ → CO₂ ↑ → ER ↑ </a:t>
            </a:r>
          </a:p>
        </p:txBody>
      </p:sp>
    </p:spTree>
    <p:extLst>
      <p:ext uri="{BB962C8B-B14F-4D97-AF65-F5344CB8AC3E}">
        <p14:creationId xmlns:p14="http://schemas.microsoft.com/office/powerpoint/2010/main" val="3180685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3103BF7-F083-AD99-3488-35DAFD86ED10}"/>
              </a:ext>
            </a:extLst>
          </p:cNvPr>
          <p:cNvSpPr>
            <a:spLocks noGrp="1"/>
          </p:cNvSpPr>
          <p:nvPr>
            <p:ph type="title"/>
          </p:nvPr>
        </p:nvSpPr>
        <p:spPr>
          <a:xfrm>
            <a:off x="261937" y="568783"/>
            <a:ext cx="11668125" cy="645149"/>
          </a:xfrm>
        </p:spPr>
        <p:txBody>
          <a:bodyPr>
            <a:noAutofit/>
          </a:bodyPr>
          <a:lstStyle/>
          <a:p>
            <a:pPr algn="ctr"/>
            <a:r>
              <a:rPr lang="en-US" sz="2000" b="1"/>
              <a:t>Results: </a:t>
            </a:r>
            <a:r>
              <a:rPr lang="en-US" sz="2000" i="1"/>
              <a:t>Less-disturbed spring runs will have greater tolerance for flood events, experiencing less severe metabolic impacts (</a:t>
            </a:r>
            <a:r>
              <a:rPr lang="en-US" sz="2000" b="1" i="1">
                <a:highlight>
                  <a:srgbClr val="FFFF00"/>
                </a:highlight>
              </a:rPr>
              <a:t>smaller magnitude of change</a:t>
            </a:r>
            <a:r>
              <a:rPr lang="en-US" sz="2000" i="1">
                <a:highlight>
                  <a:srgbClr val="FFFF00"/>
                </a:highlight>
              </a:rPr>
              <a:t>, </a:t>
            </a:r>
            <a:r>
              <a:rPr lang="en-US" sz="2000" i="1"/>
              <a:t>shorter duration, resistance to change, and linear recovery trajectories) as well as faster recovery times compared to more frequently flooded spring runs. </a:t>
            </a:r>
            <a:br>
              <a:rPr lang="en-US" sz="2000"/>
            </a:br>
            <a:br>
              <a:rPr lang="en-US" sz="2000" i="1"/>
            </a:br>
            <a:endParaRPr lang="en-US" sz="2000" i="1" dirty="0"/>
          </a:p>
        </p:txBody>
      </p:sp>
      <p:pic>
        <p:nvPicPr>
          <p:cNvPr id="6" name="Picture 5">
            <a:extLst>
              <a:ext uri="{FF2B5EF4-FFF2-40B4-BE49-F238E27FC236}">
                <a16:creationId xmlns:a16="http://schemas.microsoft.com/office/drawing/2014/main" id="{2C9E18B4-1E09-7436-F02C-3F438452F2AD}"/>
              </a:ext>
            </a:extLst>
          </p:cNvPr>
          <p:cNvPicPr>
            <a:picLocks noChangeAspect="1"/>
          </p:cNvPicPr>
          <p:nvPr/>
        </p:nvPicPr>
        <p:blipFill>
          <a:blip r:embed="rId2"/>
          <a:stretch>
            <a:fillRect/>
          </a:stretch>
        </p:blipFill>
        <p:spPr>
          <a:xfrm>
            <a:off x="261937" y="1352155"/>
            <a:ext cx="3310109" cy="2488019"/>
          </a:xfrm>
          <a:prstGeom prst="rect">
            <a:avLst/>
          </a:prstGeom>
        </p:spPr>
      </p:pic>
      <p:pic>
        <p:nvPicPr>
          <p:cNvPr id="8" name="Picture 7">
            <a:extLst>
              <a:ext uri="{FF2B5EF4-FFF2-40B4-BE49-F238E27FC236}">
                <a16:creationId xmlns:a16="http://schemas.microsoft.com/office/drawing/2014/main" id="{DD90121D-92D3-1662-EEE3-5626558F786B}"/>
              </a:ext>
            </a:extLst>
          </p:cNvPr>
          <p:cNvPicPr>
            <a:picLocks noChangeAspect="1"/>
          </p:cNvPicPr>
          <p:nvPr/>
        </p:nvPicPr>
        <p:blipFill>
          <a:blip r:embed="rId3"/>
          <a:stretch>
            <a:fillRect/>
          </a:stretch>
        </p:blipFill>
        <p:spPr>
          <a:xfrm>
            <a:off x="5815239" y="1091714"/>
            <a:ext cx="5003270" cy="3907908"/>
          </a:xfrm>
          <a:prstGeom prst="rect">
            <a:avLst/>
          </a:prstGeom>
        </p:spPr>
      </p:pic>
      <p:sp>
        <p:nvSpPr>
          <p:cNvPr id="12" name="Title 1">
            <a:extLst>
              <a:ext uri="{FF2B5EF4-FFF2-40B4-BE49-F238E27FC236}">
                <a16:creationId xmlns:a16="http://schemas.microsoft.com/office/drawing/2014/main" id="{DB7BDAA0-12E5-02EE-A075-B93A756CDB69}"/>
              </a:ext>
            </a:extLst>
          </p:cNvPr>
          <p:cNvSpPr txBox="1">
            <a:spLocks/>
          </p:cNvSpPr>
          <p:nvPr/>
        </p:nvSpPr>
        <p:spPr>
          <a:xfrm>
            <a:off x="5188024" y="5211608"/>
            <a:ext cx="6574309"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t>Overall, metabolic productivity declined during floods and the degree of degradation increased with flood severity</a:t>
            </a:r>
            <a:endParaRPr lang="en-US" sz="2000" i="1" dirty="0"/>
          </a:p>
        </p:txBody>
      </p:sp>
      <p:pic>
        <p:nvPicPr>
          <p:cNvPr id="16" name="Picture 15">
            <a:extLst>
              <a:ext uri="{FF2B5EF4-FFF2-40B4-BE49-F238E27FC236}">
                <a16:creationId xmlns:a16="http://schemas.microsoft.com/office/drawing/2014/main" id="{A5E3FA4E-5B00-9976-18B7-8F0906700DFB}"/>
              </a:ext>
            </a:extLst>
          </p:cNvPr>
          <p:cNvPicPr>
            <a:picLocks noChangeAspect="1"/>
          </p:cNvPicPr>
          <p:nvPr/>
        </p:nvPicPr>
        <p:blipFill>
          <a:blip r:embed="rId4"/>
          <a:stretch>
            <a:fillRect/>
          </a:stretch>
        </p:blipFill>
        <p:spPr>
          <a:xfrm>
            <a:off x="106586" y="3914200"/>
            <a:ext cx="4764829" cy="2874842"/>
          </a:xfrm>
          <a:prstGeom prst="rect">
            <a:avLst/>
          </a:prstGeom>
        </p:spPr>
      </p:pic>
      <p:cxnSp>
        <p:nvCxnSpPr>
          <p:cNvPr id="20" name="Straight Arrow Connector 19">
            <a:extLst>
              <a:ext uri="{FF2B5EF4-FFF2-40B4-BE49-F238E27FC236}">
                <a16:creationId xmlns:a16="http://schemas.microsoft.com/office/drawing/2014/main" id="{3E963E3E-53D0-7B0D-F0B3-4A1B0A846959}"/>
              </a:ext>
            </a:extLst>
          </p:cNvPr>
          <p:cNvCxnSpPr/>
          <p:nvPr/>
        </p:nvCxnSpPr>
        <p:spPr>
          <a:xfrm flipV="1">
            <a:off x="2002704" y="5744452"/>
            <a:ext cx="572202" cy="3365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C2E5A744-EE7B-C3BE-0A5C-C4E00D874C3A}"/>
              </a:ext>
            </a:extLst>
          </p:cNvPr>
          <p:cNvCxnSpPr>
            <a:cxnSpLocks/>
          </p:cNvCxnSpPr>
          <p:nvPr/>
        </p:nvCxnSpPr>
        <p:spPr>
          <a:xfrm>
            <a:off x="2964916" y="5683553"/>
            <a:ext cx="381467" cy="3365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250542C-2804-5E3E-8A1A-FBEDF4DEB0E7}"/>
              </a:ext>
            </a:extLst>
          </p:cNvPr>
          <p:cNvCxnSpPr>
            <a:cxnSpLocks/>
          </p:cNvCxnSpPr>
          <p:nvPr/>
        </p:nvCxnSpPr>
        <p:spPr>
          <a:xfrm>
            <a:off x="625262" y="5674040"/>
            <a:ext cx="381467" cy="3365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3E51992-F363-6BA0-4844-1A5F8D76CB70}"/>
              </a:ext>
            </a:extLst>
          </p:cNvPr>
          <p:cNvCxnSpPr>
            <a:cxnSpLocks/>
          </p:cNvCxnSpPr>
          <p:nvPr/>
        </p:nvCxnSpPr>
        <p:spPr>
          <a:xfrm flipV="1">
            <a:off x="1247820" y="5674040"/>
            <a:ext cx="461930" cy="2387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EDFFA968-76E8-4F99-1DDF-67F7A6A35594}"/>
              </a:ext>
            </a:extLst>
          </p:cNvPr>
          <p:cNvSpPr/>
          <p:nvPr/>
        </p:nvSpPr>
        <p:spPr>
          <a:xfrm>
            <a:off x="1773423" y="5144494"/>
            <a:ext cx="1915982" cy="125630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B8FFE7C-638F-6D23-8297-A355B4B4B622}"/>
              </a:ext>
            </a:extLst>
          </p:cNvPr>
          <p:cNvPicPr>
            <a:picLocks noChangeAspect="1"/>
          </p:cNvPicPr>
          <p:nvPr/>
        </p:nvPicPr>
        <p:blipFill>
          <a:blip r:embed="rId5"/>
          <a:stretch>
            <a:fillRect/>
          </a:stretch>
        </p:blipFill>
        <p:spPr>
          <a:xfrm>
            <a:off x="3637946" y="3092235"/>
            <a:ext cx="1885031" cy="784952"/>
          </a:xfrm>
          <a:prstGeom prst="rect">
            <a:avLst/>
          </a:prstGeom>
        </p:spPr>
      </p:pic>
      <p:sp>
        <p:nvSpPr>
          <p:cNvPr id="5" name="Title 1">
            <a:extLst>
              <a:ext uri="{FF2B5EF4-FFF2-40B4-BE49-F238E27FC236}">
                <a16:creationId xmlns:a16="http://schemas.microsoft.com/office/drawing/2014/main" id="{42E6CD8A-82C3-2829-D9F9-516DB6DBBBC2}"/>
              </a:ext>
            </a:extLst>
          </p:cNvPr>
          <p:cNvSpPr txBox="1">
            <a:spLocks/>
          </p:cNvSpPr>
          <p:nvPr/>
        </p:nvSpPr>
        <p:spPr>
          <a:xfrm>
            <a:off x="3669843" y="2836569"/>
            <a:ext cx="1932691"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OS is the least impacted</a:t>
            </a:r>
          </a:p>
        </p:txBody>
      </p:sp>
      <p:pic>
        <p:nvPicPr>
          <p:cNvPr id="9" name="Picture 8">
            <a:extLst>
              <a:ext uri="{FF2B5EF4-FFF2-40B4-BE49-F238E27FC236}">
                <a16:creationId xmlns:a16="http://schemas.microsoft.com/office/drawing/2014/main" id="{D28A2143-4373-890F-DC91-EE23F4646216}"/>
              </a:ext>
            </a:extLst>
          </p:cNvPr>
          <p:cNvPicPr>
            <a:picLocks noChangeAspect="1"/>
          </p:cNvPicPr>
          <p:nvPr/>
        </p:nvPicPr>
        <p:blipFill>
          <a:blip r:embed="rId6"/>
          <a:stretch>
            <a:fillRect/>
          </a:stretch>
        </p:blipFill>
        <p:spPr>
          <a:xfrm>
            <a:off x="9424556" y="3914200"/>
            <a:ext cx="2337777" cy="733149"/>
          </a:xfrm>
          <a:prstGeom prst="rect">
            <a:avLst/>
          </a:prstGeom>
        </p:spPr>
      </p:pic>
      <p:sp>
        <p:nvSpPr>
          <p:cNvPr id="10" name="Title 1">
            <a:extLst>
              <a:ext uri="{FF2B5EF4-FFF2-40B4-BE49-F238E27FC236}">
                <a16:creationId xmlns:a16="http://schemas.microsoft.com/office/drawing/2014/main" id="{27D3471B-7C02-335F-FED5-4D8263420342}"/>
              </a:ext>
            </a:extLst>
          </p:cNvPr>
          <p:cNvSpPr txBox="1">
            <a:spLocks/>
          </p:cNvSpPr>
          <p:nvPr/>
        </p:nvSpPr>
        <p:spPr>
          <a:xfrm>
            <a:off x="3705418" y="5435370"/>
            <a:ext cx="1932691" cy="6402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ER Response Is Dome-Shaped… potentially due to river DOC flushing patterns?</a:t>
            </a:r>
          </a:p>
        </p:txBody>
      </p:sp>
    </p:spTree>
    <p:extLst>
      <p:ext uri="{BB962C8B-B14F-4D97-AF65-F5344CB8AC3E}">
        <p14:creationId xmlns:p14="http://schemas.microsoft.com/office/powerpoint/2010/main" val="3251178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D1375D1-5399-D384-A166-E8F76D6091EE}"/>
              </a:ext>
            </a:extLst>
          </p:cNvPr>
          <p:cNvSpPr>
            <a:spLocks noGrp="1"/>
          </p:cNvSpPr>
          <p:nvPr>
            <p:ph type="title"/>
          </p:nvPr>
        </p:nvSpPr>
        <p:spPr>
          <a:xfrm>
            <a:off x="261937" y="568783"/>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(smaller magnitude of change, </a:t>
            </a:r>
            <a:r>
              <a:rPr lang="en-US" sz="2000" b="1" i="1" dirty="0">
                <a:highlight>
                  <a:srgbClr val="FFFF00"/>
                </a:highlight>
              </a:rPr>
              <a:t>shorter duration</a:t>
            </a:r>
            <a:r>
              <a:rPr lang="en-US" sz="2000" i="1" dirty="0"/>
              <a:t>, resistance to change, and linear recovery trajectories) as well as faster recovery times compared to more frequently flooded spring runs. </a:t>
            </a:r>
            <a:br>
              <a:rPr lang="en-US" sz="2000" dirty="0"/>
            </a:br>
            <a:br>
              <a:rPr lang="en-US" sz="2000" i="1" dirty="0"/>
            </a:br>
            <a:endParaRPr lang="en-US" sz="2000" i="1" dirty="0"/>
          </a:p>
        </p:txBody>
      </p:sp>
      <p:sp>
        <p:nvSpPr>
          <p:cNvPr id="5" name="Title 1">
            <a:extLst>
              <a:ext uri="{FF2B5EF4-FFF2-40B4-BE49-F238E27FC236}">
                <a16:creationId xmlns:a16="http://schemas.microsoft.com/office/drawing/2014/main" id="{48E77CA7-BA9E-36E3-3AC9-7F48CA3A1E0B}"/>
              </a:ext>
            </a:extLst>
          </p:cNvPr>
          <p:cNvSpPr txBox="1">
            <a:spLocks/>
          </p:cNvSpPr>
          <p:nvPr/>
        </p:nvSpPr>
        <p:spPr>
          <a:xfrm>
            <a:off x="234412" y="1174190"/>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More vulnerable springs do not experience longer floods…</a:t>
            </a:r>
          </a:p>
        </p:txBody>
      </p:sp>
      <p:sp>
        <p:nvSpPr>
          <p:cNvPr id="19" name="Title 1">
            <a:extLst>
              <a:ext uri="{FF2B5EF4-FFF2-40B4-BE49-F238E27FC236}">
                <a16:creationId xmlns:a16="http://schemas.microsoft.com/office/drawing/2014/main" id="{007FF298-A231-BD1D-DE3E-E2D40AB5297D}"/>
              </a:ext>
            </a:extLst>
          </p:cNvPr>
          <p:cNvSpPr txBox="1">
            <a:spLocks/>
          </p:cNvSpPr>
          <p:nvPr/>
        </p:nvSpPr>
        <p:spPr>
          <a:xfrm>
            <a:off x="392984" y="3979925"/>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But more severe floods have slightly longer lasting metabolic impacts…</a:t>
            </a:r>
          </a:p>
        </p:txBody>
      </p:sp>
      <p:sp>
        <p:nvSpPr>
          <p:cNvPr id="22" name="Title 1">
            <a:extLst>
              <a:ext uri="{FF2B5EF4-FFF2-40B4-BE49-F238E27FC236}">
                <a16:creationId xmlns:a16="http://schemas.microsoft.com/office/drawing/2014/main" id="{039CF922-1FCC-3679-EB51-81255C1FB853}"/>
              </a:ext>
            </a:extLst>
          </p:cNvPr>
          <p:cNvSpPr txBox="1">
            <a:spLocks/>
          </p:cNvSpPr>
          <p:nvPr/>
        </p:nvSpPr>
        <p:spPr>
          <a:xfrm>
            <a:off x="5248130" y="1416051"/>
            <a:ext cx="6302298"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t>Overall, the rise of the flood lasted as long  or longer than the recession of the flood.</a:t>
            </a:r>
          </a:p>
        </p:txBody>
      </p:sp>
      <p:pic>
        <p:nvPicPr>
          <p:cNvPr id="3" name="Picture 2">
            <a:extLst>
              <a:ext uri="{FF2B5EF4-FFF2-40B4-BE49-F238E27FC236}">
                <a16:creationId xmlns:a16="http://schemas.microsoft.com/office/drawing/2014/main" id="{16CF5410-9FF0-19CE-FCAA-ABB4FD9C6FEA}"/>
              </a:ext>
            </a:extLst>
          </p:cNvPr>
          <p:cNvPicPr>
            <a:picLocks noChangeAspect="1"/>
          </p:cNvPicPr>
          <p:nvPr/>
        </p:nvPicPr>
        <p:blipFill>
          <a:blip r:embed="rId2"/>
          <a:stretch>
            <a:fillRect/>
          </a:stretch>
        </p:blipFill>
        <p:spPr>
          <a:xfrm>
            <a:off x="392984" y="1416051"/>
            <a:ext cx="3399739" cy="2479194"/>
          </a:xfrm>
          <a:prstGeom prst="rect">
            <a:avLst/>
          </a:prstGeom>
        </p:spPr>
      </p:pic>
      <p:pic>
        <p:nvPicPr>
          <p:cNvPr id="7" name="Picture 6">
            <a:extLst>
              <a:ext uri="{FF2B5EF4-FFF2-40B4-BE49-F238E27FC236}">
                <a16:creationId xmlns:a16="http://schemas.microsoft.com/office/drawing/2014/main" id="{6E81FA16-D9CF-2E94-FDC2-6EAC90FE2505}"/>
              </a:ext>
            </a:extLst>
          </p:cNvPr>
          <p:cNvPicPr>
            <a:picLocks noChangeAspect="1"/>
          </p:cNvPicPr>
          <p:nvPr/>
        </p:nvPicPr>
        <p:blipFill>
          <a:blip r:embed="rId3"/>
          <a:stretch>
            <a:fillRect/>
          </a:stretch>
        </p:blipFill>
        <p:spPr>
          <a:xfrm>
            <a:off x="516642" y="4329434"/>
            <a:ext cx="3152422" cy="2269228"/>
          </a:xfrm>
          <a:prstGeom prst="rect">
            <a:avLst/>
          </a:prstGeom>
        </p:spPr>
      </p:pic>
      <p:pic>
        <p:nvPicPr>
          <p:cNvPr id="9" name="Picture 8">
            <a:extLst>
              <a:ext uri="{FF2B5EF4-FFF2-40B4-BE49-F238E27FC236}">
                <a16:creationId xmlns:a16="http://schemas.microsoft.com/office/drawing/2014/main" id="{4CE9EB61-8EF8-5A27-50FF-2CF3F4D08E13}"/>
              </a:ext>
            </a:extLst>
          </p:cNvPr>
          <p:cNvPicPr>
            <a:picLocks noChangeAspect="1"/>
          </p:cNvPicPr>
          <p:nvPr/>
        </p:nvPicPr>
        <p:blipFill>
          <a:blip r:embed="rId4"/>
          <a:stretch>
            <a:fillRect/>
          </a:stretch>
        </p:blipFill>
        <p:spPr>
          <a:xfrm>
            <a:off x="5074731" y="1810221"/>
            <a:ext cx="6302298" cy="4912560"/>
          </a:xfrm>
          <a:prstGeom prst="rect">
            <a:avLst/>
          </a:prstGeom>
        </p:spPr>
      </p:pic>
      <p:pic>
        <p:nvPicPr>
          <p:cNvPr id="11" name="Picture 10">
            <a:extLst>
              <a:ext uri="{FF2B5EF4-FFF2-40B4-BE49-F238E27FC236}">
                <a16:creationId xmlns:a16="http://schemas.microsoft.com/office/drawing/2014/main" id="{47FBAAE2-6D6C-CE0D-775E-69B250E2BDBD}"/>
              </a:ext>
            </a:extLst>
          </p:cNvPr>
          <p:cNvPicPr>
            <a:picLocks noChangeAspect="1"/>
          </p:cNvPicPr>
          <p:nvPr/>
        </p:nvPicPr>
        <p:blipFill>
          <a:blip r:embed="rId5"/>
          <a:stretch>
            <a:fillRect/>
          </a:stretch>
        </p:blipFill>
        <p:spPr>
          <a:xfrm>
            <a:off x="2902865" y="5725675"/>
            <a:ext cx="1617561" cy="416850"/>
          </a:xfrm>
          <a:prstGeom prst="rect">
            <a:avLst/>
          </a:prstGeom>
        </p:spPr>
      </p:pic>
      <p:pic>
        <p:nvPicPr>
          <p:cNvPr id="13" name="Picture 12">
            <a:extLst>
              <a:ext uri="{FF2B5EF4-FFF2-40B4-BE49-F238E27FC236}">
                <a16:creationId xmlns:a16="http://schemas.microsoft.com/office/drawing/2014/main" id="{C47B7A95-9E1E-8F29-FA46-7224A806A579}"/>
              </a:ext>
            </a:extLst>
          </p:cNvPr>
          <p:cNvPicPr>
            <a:picLocks noChangeAspect="1"/>
          </p:cNvPicPr>
          <p:nvPr/>
        </p:nvPicPr>
        <p:blipFill>
          <a:blip r:embed="rId6"/>
          <a:stretch>
            <a:fillRect/>
          </a:stretch>
        </p:blipFill>
        <p:spPr>
          <a:xfrm>
            <a:off x="2902865" y="2910319"/>
            <a:ext cx="1533495" cy="636545"/>
          </a:xfrm>
          <a:prstGeom prst="rect">
            <a:avLst/>
          </a:prstGeom>
        </p:spPr>
      </p:pic>
      <p:sp>
        <p:nvSpPr>
          <p:cNvPr id="14" name="Title 1">
            <a:extLst>
              <a:ext uri="{FF2B5EF4-FFF2-40B4-BE49-F238E27FC236}">
                <a16:creationId xmlns:a16="http://schemas.microsoft.com/office/drawing/2014/main" id="{B1EEF261-8FCB-335D-5638-F5BD01F43029}"/>
              </a:ext>
            </a:extLst>
          </p:cNvPr>
          <p:cNvSpPr txBox="1">
            <a:spLocks/>
          </p:cNvSpPr>
          <p:nvPr/>
        </p:nvSpPr>
        <p:spPr>
          <a:xfrm>
            <a:off x="2702718" y="2671477"/>
            <a:ext cx="1932691"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OS had the shortest floods</a:t>
            </a:r>
          </a:p>
        </p:txBody>
      </p:sp>
    </p:spTree>
    <p:extLst>
      <p:ext uri="{BB962C8B-B14F-4D97-AF65-F5344CB8AC3E}">
        <p14:creationId xmlns:p14="http://schemas.microsoft.com/office/powerpoint/2010/main" val="3990803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66D29-425F-9BB9-19DF-04402EF6EC3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5E4CDDA-7B94-BF48-31D2-8A5E6B3272E1}"/>
              </a:ext>
            </a:extLst>
          </p:cNvPr>
          <p:cNvSpPr>
            <a:spLocks noGrp="1"/>
          </p:cNvSpPr>
          <p:nvPr>
            <p:ph type="title"/>
          </p:nvPr>
        </p:nvSpPr>
        <p:spPr>
          <a:xfrm>
            <a:off x="261937" y="568783"/>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(shorter duration, smaller magnitude of change, </a:t>
            </a:r>
            <a:r>
              <a:rPr lang="en-US" sz="2000" b="1" i="1" dirty="0">
                <a:highlight>
                  <a:srgbClr val="FFFF00"/>
                </a:highlight>
              </a:rPr>
              <a:t>resistance to change</a:t>
            </a:r>
            <a:r>
              <a:rPr lang="en-US" sz="2000" i="1" dirty="0"/>
              <a:t>, and linear recovery trajectories) as well as faster recovery times compared to more frequently flooded spring runs. </a:t>
            </a:r>
            <a:br>
              <a:rPr lang="en-US" sz="2000" dirty="0"/>
            </a:br>
            <a:br>
              <a:rPr lang="en-US" sz="2000" i="1" dirty="0"/>
            </a:br>
            <a:endParaRPr lang="en-US" sz="2000" i="1" dirty="0"/>
          </a:p>
        </p:txBody>
      </p:sp>
      <p:pic>
        <p:nvPicPr>
          <p:cNvPr id="6" name="Picture 5">
            <a:extLst>
              <a:ext uri="{FF2B5EF4-FFF2-40B4-BE49-F238E27FC236}">
                <a16:creationId xmlns:a16="http://schemas.microsoft.com/office/drawing/2014/main" id="{1E0BB471-3528-D703-FCF4-E4838F21E2A9}"/>
              </a:ext>
            </a:extLst>
          </p:cNvPr>
          <p:cNvPicPr>
            <a:picLocks noChangeAspect="1"/>
          </p:cNvPicPr>
          <p:nvPr/>
        </p:nvPicPr>
        <p:blipFill>
          <a:blip r:embed="rId2"/>
          <a:stretch>
            <a:fillRect/>
          </a:stretch>
        </p:blipFill>
        <p:spPr>
          <a:xfrm>
            <a:off x="178471" y="1750141"/>
            <a:ext cx="4049588" cy="4940709"/>
          </a:xfrm>
          <a:prstGeom prst="rect">
            <a:avLst/>
          </a:prstGeom>
        </p:spPr>
      </p:pic>
      <p:pic>
        <p:nvPicPr>
          <p:cNvPr id="8" name="Picture 7">
            <a:extLst>
              <a:ext uri="{FF2B5EF4-FFF2-40B4-BE49-F238E27FC236}">
                <a16:creationId xmlns:a16="http://schemas.microsoft.com/office/drawing/2014/main" id="{52C85B37-E908-D906-C913-75239F05CDE2}"/>
              </a:ext>
            </a:extLst>
          </p:cNvPr>
          <p:cNvPicPr>
            <a:picLocks noChangeAspect="1"/>
          </p:cNvPicPr>
          <p:nvPr/>
        </p:nvPicPr>
        <p:blipFill>
          <a:blip r:embed="rId3"/>
          <a:stretch>
            <a:fillRect/>
          </a:stretch>
        </p:blipFill>
        <p:spPr>
          <a:xfrm>
            <a:off x="4413559" y="1745532"/>
            <a:ext cx="4374258" cy="4940709"/>
          </a:xfrm>
          <a:prstGeom prst="rect">
            <a:avLst/>
          </a:prstGeom>
        </p:spPr>
      </p:pic>
      <p:sp>
        <p:nvSpPr>
          <p:cNvPr id="9" name="Title 1">
            <a:extLst>
              <a:ext uri="{FF2B5EF4-FFF2-40B4-BE49-F238E27FC236}">
                <a16:creationId xmlns:a16="http://schemas.microsoft.com/office/drawing/2014/main" id="{35497756-016F-1B52-8A08-2408E5668F76}"/>
              </a:ext>
            </a:extLst>
          </p:cNvPr>
          <p:cNvSpPr txBox="1">
            <a:spLocks/>
          </p:cNvSpPr>
          <p:nvPr/>
        </p:nvSpPr>
        <p:spPr>
          <a:xfrm>
            <a:off x="4821695" y="1437209"/>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i="1" dirty="0"/>
              <a:t>Peak Delay Summary: </a:t>
            </a:r>
          </a:p>
        </p:txBody>
      </p:sp>
      <p:pic>
        <p:nvPicPr>
          <p:cNvPr id="11" name="Picture 10">
            <a:extLst>
              <a:ext uri="{FF2B5EF4-FFF2-40B4-BE49-F238E27FC236}">
                <a16:creationId xmlns:a16="http://schemas.microsoft.com/office/drawing/2014/main" id="{9D378ECC-B3B9-AD44-4101-64C8D6D6BC0C}"/>
              </a:ext>
            </a:extLst>
          </p:cNvPr>
          <p:cNvPicPr>
            <a:picLocks noChangeAspect="1"/>
          </p:cNvPicPr>
          <p:nvPr/>
        </p:nvPicPr>
        <p:blipFill>
          <a:blip r:embed="rId4"/>
          <a:stretch>
            <a:fillRect/>
          </a:stretch>
        </p:blipFill>
        <p:spPr>
          <a:xfrm>
            <a:off x="9075838" y="2771683"/>
            <a:ext cx="2772162" cy="1314633"/>
          </a:xfrm>
          <a:prstGeom prst="rect">
            <a:avLst/>
          </a:prstGeom>
        </p:spPr>
      </p:pic>
      <p:sp>
        <p:nvSpPr>
          <p:cNvPr id="12" name="Title 1">
            <a:extLst>
              <a:ext uri="{FF2B5EF4-FFF2-40B4-BE49-F238E27FC236}">
                <a16:creationId xmlns:a16="http://schemas.microsoft.com/office/drawing/2014/main" id="{180E739C-50D7-5B4E-A85F-D09D49F5CCFA}"/>
              </a:ext>
            </a:extLst>
          </p:cNvPr>
          <p:cNvSpPr txBox="1">
            <a:spLocks/>
          </p:cNvSpPr>
          <p:nvPr/>
        </p:nvSpPr>
        <p:spPr>
          <a:xfrm>
            <a:off x="8478858" y="4215886"/>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t>Generally, the metabolic signal peaks alongside depth</a:t>
            </a:r>
            <a:r>
              <a:rPr lang="en-US" sz="2000" i="1" dirty="0"/>
              <a:t> </a:t>
            </a:r>
          </a:p>
        </p:txBody>
      </p:sp>
      <p:sp>
        <p:nvSpPr>
          <p:cNvPr id="5" name="Title 1">
            <a:extLst>
              <a:ext uri="{FF2B5EF4-FFF2-40B4-BE49-F238E27FC236}">
                <a16:creationId xmlns:a16="http://schemas.microsoft.com/office/drawing/2014/main" id="{08A70E35-CB99-2D26-26CF-C3CFDC1CFC42}"/>
              </a:ext>
            </a:extLst>
          </p:cNvPr>
          <p:cNvSpPr txBox="1">
            <a:spLocks/>
          </p:cNvSpPr>
          <p:nvPr/>
        </p:nvSpPr>
        <p:spPr>
          <a:xfrm>
            <a:off x="363971" y="1448613"/>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i="1" dirty="0"/>
              <a:t>Resistance to Change: Delay in metabolic peaks: </a:t>
            </a:r>
          </a:p>
        </p:txBody>
      </p:sp>
    </p:spTree>
    <p:extLst>
      <p:ext uri="{BB962C8B-B14F-4D97-AF65-F5344CB8AC3E}">
        <p14:creationId xmlns:p14="http://schemas.microsoft.com/office/powerpoint/2010/main" val="3856107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503B7-9863-81F7-FA7B-B2C64D62FD4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68B418C-2D9F-5804-FCF7-CF1F6EABA36F}"/>
              </a:ext>
            </a:extLst>
          </p:cNvPr>
          <p:cNvSpPr>
            <a:spLocks noGrp="1"/>
          </p:cNvSpPr>
          <p:nvPr>
            <p:ph type="title"/>
          </p:nvPr>
        </p:nvSpPr>
        <p:spPr>
          <a:xfrm>
            <a:off x="261937" y="452696"/>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(shorter duration, smaller magnitude of change, </a:t>
            </a:r>
            <a:r>
              <a:rPr lang="en-US" sz="2000" b="1" i="1" dirty="0">
                <a:highlight>
                  <a:srgbClr val="FFFF00"/>
                </a:highlight>
              </a:rPr>
              <a:t>resistance to change</a:t>
            </a:r>
            <a:r>
              <a:rPr lang="en-US" sz="2000" i="1" dirty="0"/>
              <a:t>, and linear recovery trajectories) as well as faster recovery times compared to more frequently flooded spring runs. </a:t>
            </a:r>
            <a:br>
              <a:rPr lang="en-US" sz="2000" dirty="0"/>
            </a:br>
            <a:br>
              <a:rPr lang="en-US" sz="2000" i="1" dirty="0"/>
            </a:br>
            <a:endParaRPr lang="en-US" sz="2000" i="1" dirty="0"/>
          </a:p>
        </p:txBody>
      </p:sp>
      <p:sp>
        <p:nvSpPr>
          <p:cNvPr id="5" name="Title 1">
            <a:extLst>
              <a:ext uri="{FF2B5EF4-FFF2-40B4-BE49-F238E27FC236}">
                <a16:creationId xmlns:a16="http://schemas.microsoft.com/office/drawing/2014/main" id="{FCE5843B-1E85-59A3-F34B-2A37BD0A79D2}"/>
              </a:ext>
            </a:extLst>
          </p:cNvPr>
          <p:cNvSpPr txBox="1">
            <a:spLocks/>
          </p:cNvSpPr>
          <p:nvPr/>
        </p:nvSpPr>
        <p:spPr>
          <a:xfrm>
            <a:off x="363971" y="1448613"/>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i="1" dirty="0"/>
              <a:t>Resistance to Change: Trajectory of Metabolic Impacts</a:t>
            </a:r>
          </a:p>
        </p:txBody>
      </p:sp>
      <p:pic>
        <p:nvPicPr>
          <p:cNvPr id="7" name="Picture 6">
            <a:extLst>
              <a:ext uri="{FF2B5EF4-FFF2-40B4-BE49-F238E27FC236}">
                <a16:creationId xmlns:a16="http://schemas.microsoft.com/office/drawing/2014/main" id="{076404E1-C5B1-9B55-341B-2405B7289490}"/>
              </a:ext>
            </a:extLst>
          </p:cNvPr>
          <p:cNvPicPr>
            <a:picLocks noChangeAspect="1"/>
          </p:cNvPicPr>
          <p:nvPr/>
        </p:nvPicPr>
        <p:blipFill>
          <a:blip r:embed="rId2"/>
          <a:stretch>
            <a:fillRect/>
          </a:stretch>
        </p:blipFill>
        <p:spPr>
          <a:xfrm>
            <a:off x="1241061" y="1991617"/>
            <a:ext cx="2111739" cy="2016907"/>
          </a:xfrm>
          <a:prstGeom prst="rect">
            <a:avLst/>
          </a:prstGeom>
        </p:spPr>
      </p:pic>
      <p:pic>
        <p:nvPicPr>
          <p:cNvPr id="13" name="Picture 12">
            <a:extLst>
              <a:ext uri="{FF2B5EF4-FFF2-40B4-BE49-F238E27FC236}">
                <a16:creationId xmlns:a16="http://schemas.microsoft.com/office/drawing/2014/main" id="{AA4CC7B3-3C00-F8A8-7D7B-272DA915E62A}"/>
              </a:ext>
            </a:extLst>
          </p:cNvPr>
          <p:cNvPicPr>
            <a:picLocks noChangeAspect="1"/>
          </p:cNvPicPr>
          <p:nvPr/>
        </p:nvPicPr>
        <p:blipFill>
          <a:blip r:embed="rId3"/>
          <a:srcRect t="1830" b="1"/>
          <a:stretch>
            <a:fillRect/>
          </a:stretch>
        </p:blipFill>
        <p:spPr>
          <a:xfrm>
            <a:off x="5514225" y="1241704"/>
            <a:ext cx="5515725" cy="2510567"/>
          </a:xfrm>
          <a:prstGeom prst="rect">
            <a:avLst/>
          </a:prstGeom>
        </p:spPr>
      </p:pic>
      <p:sp>
        <p:nvSpPr>
          <p:cNvPr id="14" name="Title 1">
            <a:extLst>
              <a:ext uri="{FF2B5EF4-FFF2-40B4-BE49-F238E27FC236}">
                <a16:creationId xmlns:a16="http://schemas.microsoft.com/office/drawing/2014/main" id="{A4305EBE-B638-1057-B975-9D688408E624}"/>
              </a:ext>
            </a:extLst>
          </p:cNvPr>
          <p:cNvSpPr txBox="1">
            <a:spLocks/>
          </p:cNvSpPr>
          <p:nvPr/>
        </p:nvSpPr>
        <p:spPr>
          <a:xfrm>
            <a:off x="5424487" y="1025135"/>
            <a:ext cx="5605463"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i="1" dirty="0"/>
              <a:t>The rate of change largely did not differ with flood severity. ER had the lowest R^2</a:t>
            </a:r>
          </a:p>
        </p:txBody>
      </p:sp>
      <p:sp>
        <p:nvSpPr>
          <p:cNvPr id="17" name="Title 1">
            <a:extLst>
              <a:ext uri="{FF2B5EF4-FFF2-40B4-BE49-F238E27FC236}">
                <a16:creationId xmlns:a16="http://schemas.microsoft.com/office/drawing/2014/main" id="{A049AB34-FD3F-98BB-768C-7C925F92486E}"/>
              </a:ext>
            </a:extLst>
          </p:cNvPr>
          <p:cNvSpPr txBox="1">
            <a:spLocks/>
          </p:cNvSpPr>
          <p:nvPr/>
        </p:nvSpPr>
        <p:spPr>
          <a:xfrm>
            <a:off x="5379617" y="3864560"/>
            <a:ext cx="5605463"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i="1" dirty="0"/>
              <a:t>Vulnerable springs reacted to uniquely to flood disturbances compared to less vulnerable springs with the most obvious changes appearing in GPP and ER.</a:t>
            </a:r>
          </a:p>
        </p:txBody>
      </p:sp>
      <p:pic>
        <p:nvPicPr>
          <p:cNvPr id="19" name="Picture 18">
            <a:extLst>
              <a:ext uri="{FF2B5EF4-FFF2-40B4-BE49-F238E27FC236}">
                <a16:creationId xmlns:a16="http://schemas.microsoft.com/office/drawing/2014/main" id="{0BB684C6-31CC-432E-9782-5EC0203B456B}"/>
              </a:ext>
            </a:extLst>
          </p:cNvPr>
          <p:cNvPicPr>
            <a:picLocks noChangeAspect="1"/>
          </p:cNvPicPr>
          <p:nvPr/>
        </p:nvPicPr>
        <p:blipFill>
          <a:blip r:embed="rId4"/>
          <a:stretch>
            <a:fillRect/>
          </a:stretch>
        </p:blipFill>
        <p:spPr>
          <a:xfrm>
            <a:off x="745320" y="4180249"/>
            <a:ext cx="3207555" cy="2458275"/>
          </a:xfrm>
          <a:prstGeom prst="rect">
            <a:avLst/>
          </a:prstGeom>
        </p:spPr>
      </p:pic>
      <p:grpSp>
        <p:nvGrpSpPr>
          <p:cNvPr id="24" name="Group 23">
            <a:extLst>
              <a:ext uri="{FF2B5EF4-FFF2-40B4-BE49-F238E27FC236}">
                <a16:creationId xmlns:a16="http://schemas.microsoft.com/office/drawing/2014/main" id="{C6F9285A-FBB3-88A9-7262-2B705EED2560}"/>
              </a:ext>
            </a:extLst>
          </p:cNvPr>
          <p:cNvGrpSpPr/>
          <p:nvPr/>
        </p:nvGrpSpPr>
        <p:grpSpPr>
          <a:xfrm>
            <a:off x="5424487" y="4180249"/>
            <a:ext cx="5515725" cy="2491527"/>
            <a:chOff x="5514225" y="4008524"/>
            <a:chExt cx="5515725" cy="2491527"/>
          </a:xfrm>
        </p:grpSpPr>
        <p:pic>
          <p:nvPicPr>
            <p:cNvPr id="16" name="Picture 15">
              <a:extLst>
                <a:ext uri="{FF2B5EF4-FFF2-40B4-BE49-F238E27FC236}">
                  <a16:creationId xmlns:a16="http://schemas.microsoft.com/office/drawing/2014/main" id="{0AB1D8B6-3968-483C-3569-46E13DA6D12F}"/>
                </a:ext>
              </a:extLst>
            </p:cNvPr>
            <p:cNvPicPr>
              <a:picLocks noChangeAspect="1"/>
            </p:cNvPicPr>
            <p:nvPr/>
          </p:nvPicPr>
          <p:blipFill>
            <a:blip r:embed="rId5"/>
            <a:srcRect t="2920"/>
            <a:stretch>
              <a:fillRect/>
            </a:stretch>
          </p:blipFill>
          <p:spPr>
            <a:xfrm>
              <a:off x="5514225" y="4008524"/>
              <a:ext cx="5515725" cy="2491527"/>
            </a:xfrm>
            <a:prstGeom prst="rect">
              <a:avLst/>
            </a:prstGeom>
          </p:spPr>
        </p:pic>
        <p:cxnSp>
          <p:nvCxnSpPr>
            <p:cNvPr id="21" name="Straight Arrow Connector 20">
              <a:extLst>
                <a:ext uri="{FF2B5EF4-FFF2-40B4-BE49-F238E27FC236}">
                  <a16:creationId xmlns:a16="http://schemas.microsoft.com/office/drawing/2014/main" id="{A22B660E-EDC3-81A9-3751-D3BD6E70238A}"/>
                </a:ext>
              </a:extLst>
            </p:cNvPr>
            <p:cNvCxnSpPr/>
            <p:nvPr/>
          </p:nvCxnSpPr>
          <p:spPr>
            <a:xfrm flipV="1">
              <a:off x="9986682" y="4338918"/>
              <a:ext cx="490071" cy="209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736F9F6-F6D2-8E21-9426-F59471E1C616}"/>
                </a:ext>
              </a:extLst>
            </p:cNvPr>
            <p:cNvCxnSpPr>
              <a:cxnSpLocks/>
            </p:cNvCxnSpPr>
            <p:nvPr/>
          </p:nvCxnSpPr>
          <p:spPr>
            <a:xfrm>
              <a:off x="10518589" y="4338918"/>
              <a:ext cx="320115" cy="2071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80606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E99-0CB1-1E5C-8C47-057291FD6E9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AACF162-9203-E380-1771-84C6BA3E7261}"/>
              </a:ext>
            </a:extLst>
          </p:cNvPr>
          <p:cNvSpPr>
            <a:spLocks noGrp="1"/>
          </p:cNvSpPr>
          <p:nvPr>
            <p:ph type="title"/>
          </p:nvPr>
        </p:nvSpPr>
        <p:spPr>
          <a:xfrm>
            <a:off x="150295" y="486896"/>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(shorter duration, smaller magnitude of change, resistance to change</a:t>
            </a:r>
            <a:r>
              <a:rPr lang="en-US" sz="2000" dirty="0"/>
              <a:t>, </a:t>
            </a:r>
            <a:r>
              <a:rPr lang="en-US" sz="2000" b="1" i="1" dirty="0">
                <a:highlight>
                  <a:srgbClr val="FFFF00"/>
                </a:highlight>
              </a:rPr>
              <a:t>faster recoveries</a:t>
            </a:r>
            <a:r>
              <a:rPr lang="en-US" sz="2000" i="1" dirty="0"/>
              <a:t>, and linear recovery trajectories)</a:t>
            </a:r>
            <a:r>
              <a:rPr lang="en-US" sz="2000" dirty="0"/>
              <a:t> </a:t>
            </a:r>
            <a:r>
              <a:rPr lang="en-US" sz="2000" i="1" dirty="0"/>
              <a:t>as well as faster recovery times compared to more frequently flooded spring runs. </a:t>
            </a:r>
            <a:br>
              <a:rPr lang="en-US" sz="2000" dirty="0"/>
            </a:br>
            <a:br>
              <a:rPr lang="en-US" sz="2000" i="1" dirty="0"/>
            </a:br>
            <a:endParaRPr lang="en-US" sz="2000" i="1" dirty="0"/>
          </a:p>
        </p:txBody>
      </p:sp>
      <p:sp>
        <p:nvSpPr>
          <p:cNvPr id="5" name="Title 1">
            <a:extLst>
              <a:ext uri="{FF2B5EF4-FFF2-40B4-BE49-F238E27FC236}">
                <a16:creationId xmlns:a16="http://schemas.microsoft.com/office/drawing/2014/main" id="{84022BDD-0D70-AAD4-D1F0-2E3DB418FB33}"/>
              </a:ext>
            </a:extLst>
          </p:cNvPr>
          <p:cNvSpPr txBox="1">
            <a:spLocks/>
          </p:cNvSpPr>
          <p:nvPr/>
        </p:nvSpPr>
        <p:spPr>
          <a:xfrm>
            <a:off x="-254554" y="1205637"/>
            <a:ext cx="4673478"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i="1" dirty="0"/>
              <a:t>End of Flood: </a:t>
            </a:r>
          </a:p>
        </p:txBody>
      </p:sp>
      <p:pic>
        <p:nvPicPr>
          <p:cNvPr id="8" name="Picture 7">
            <a:extLst>
              <a:ext uri="{FF2B5EF4-FFF2-40B4-BE49-F238E27FC236}">
                <a16:creationId xmlns:a16="http://schemas.microsoft.com/office/drawing/2014/main" id="{D4B9A4BC-44A5-395D-0F48-C852BEDADDAD}"/>
              </a:ext>
            </a:extLst>
          </p:cNvPr>
          <p:cNvPicPr>
            <a:picLocks noChangeAspect="1"/>
          </p:cNvPicPr>
          <p:nvPr/>
        </p:nvPicPr>
        <p:blipFill>
          <a:blip r:embed="rId2"/>
          <a:stretch>
            <a:fillRect/>
          </a:stretch>
        </p:blipFill>
        <p:spPr>
          <a:xfrm>
            <a:off x="0" y="1525333"/>
            <a:ext cx="4418924" cy="4328228"/>
          </a:xfrm>
          <a:prstGeom prst="rect">
            <a:avLst/>
          </a:prstGeom>
        </p:spPr>
      </p:pic>
      <p:pic>
        <p:nvPicPr>
          <p:cNvPr id="10" name="Picture 9">
            <a:extLst>
              <a:ext uri="{FF2B5EF4-FFF2-40B4-BE49-F238E27FC236}">
                <a16:creationId xmlns:a16="http://schemas.microsoft.com/office/drawing/2014/main" id="{996494DA-6135-5E2F-04A8-307CDE0452D7}"/>
              </a:ext>
            </a:extLst>
          </p:cNvPr>
          <p:cNvPicPr>
            <a:picLocks noChangeAspect="1"/>
          </p:cNvPicPr>
          <p:nvPr/>
        </p:nvPicPr>
        <p:blipFill>
          <a:blip r:embed="rId3"/>
          <a:stretch>
            <a:fillRect/>
          </a:stretch>
        </p:blipFill>
        <p:spPr>
          <a:xfrm>
            <a:off x="6716067" y="1587552"/>
            <a:ext cx="4758731" cy="4629389"/>
          </a:xfrm>
          <a:prstGeom prst="rect">
            <a:avLst/>
          </a:prstGeom>
        </p:spPr>
      </p:pic>
      <p:sp>
        <p:nvSpPr>
          <p:cNvPr id="12" name="Title 1">
            <a:extLst>
              <a:ext uri="{FF2B5EF4-FFF2-40B4-BE49-F238E27FC236}">
                <a16:creationId xmlns:a16="http://schemas.microsoft.com/office/drawing/2014/main" id="{570EA764-2521-C2F6-D275-57A4D744ED01}"/>
              </a:ext>
            </a:extLst>
          </p:cNvPr>
          <p:cNvSpPr txBox="1">
            <a:spLocks/>
          </p:cNvSpPr>
          <p:nvPr/>
        </p:nvSpPr>
        <p:spPr>
          <a:xfrm>
            <a:off x="6841722" y="1125067"/>
            <a:ext cx="4758731"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t>On average, metabolic variables returned to baseline alongside or shortly after depth</a:t>
            </a:r>
          </a:p>
        </p:txBody>
      </p:sp>
      <p:sp>
        <p:nvSpPr>
          <p:cNvPr id="15" name="Title 1">
            <a:extLst>
              <a:ext uri="{FF2B5EF4-FFF2-40B4-BE49-F238E27FC236}">
                <a16:creationId xmlns:a16="http://schemas.microsoft.com/office/drawing/2014/main" id="{676AC2A1-E2E6-22CF-57C0-EB4C162C6338}"/>
              </a:ext>
            </a:extLst>
          </p:cNvPr>
          <p:cNvSpPr txBox="1">
            <a:spLocks/>
          </p:cNvSpPr>
          <p:nvPr/>
        </p:nvSpPr>
        <p:spPr>
          <a:xfrm>
            <a:off x="6096000" y="6371103"/>
            <a:ext cx="6096000"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t>Generally, both vulnerable and less vulnerable springs returned to baseline in the same amount of time with no obvious pattern.</a:t>
            </a:r>
          </a:p>
        </p:txBody>
      </p:sp>
      <p:pic>
        <p:nvPicPr>
          <p:cNvPr id="7" name="Picture 6">
            <a:extLst>
              <a:ext uri="{FF2B5EF4-FFF2-40B4-BE49-F238E27FC236}">
                <a16:creationId xmlns:a16="http://schemas.microsoft.com/office/drawing/2014/main" id="{A1F21D63-4412-FA16-5C2D-9638C7E1118B}"/>
              </a:ext>
            </a:extLst>
          </p:cNvPr>
          <p:cNvPicPr>
            <a:picLocks noChangeAspect="1"/>
          </p:cNvPicPr>
          <p:nvPr/>
        </p:nvPicPr>
        <p:blipFill>
          <a:blip r:embed="rId4"/>
          <a:stretch>
            <a:fillRect/>
          </a:stretch>
        </p:blipFill>
        <p:spPr>
          <a:xfrm>
            <a:off x="4614842" y="3902246"/>
            <a:ext cx="2035917" cy="1221550"/>
          </a:xfrm>
          <a:prstGeom prst="rect">
            <a:avLst/>
          </a:prstGeom>
        </p:spPr>
      </p:pic>
      <p:pic>
        <p:nvPicPr>
          <p:cNvPr id="11" name="Picture 10">
            <a:extLst>
              <a:ext uri="{FF2B5EF4-FFF2-40B4-BE49-F238E27FC236}">
                <a16:creationId xmlns:a16="http://schemas.microsoft.com/office/drawing/2014/main" id="{B47EB608-9813-0450-50B8-EEBCFE1B8431}"/>
              </a:ext>
            </a:extLst>
          </p:cNvPr>
          <p:cNvPicPr>
            <a:picLocks noChangeAspect="1"/>
          </p:cNvPicPr>
          <p:nvPr/>
        </p:nvPicPr>
        <p:blipFill>
          <a:blip r:embed="rId5"/>
          <a:stretch>
            <a:fillRect/>
          </a:stretch>
        </p:blipFill>
        <p:spPr>
          <a:xfrm>
            <a:off x="4614843" y="2719470"/>
            <a:ext cx="2035917" cy="1047680"/>
          </a:xfrm>
          <a:prstGeom prst="rect">
            <a:avLst/>
          </a:prstGeom>
        </p:spPr>
      </p:pic>
      <p:sp>
        <p:nvSpPr>
          <p:cNvPr id="13" name="Title 1">
            <a:extLst>
              <a:ext uri="{FF2B5EF4-FFF2-40B4-BE49-F238E27FC236}">
                <a16:creationId xmlns:a16="http://schemas.microsoft.com/office/drawing/2014/main" id="{D1E8726C-BCB4-0EB5-EACA-910AD0E985F5}"/>
              </a:ext>
            </a:extLst>
          </p:cNvPr>
          <p:cNvSpPr txBox="1">
            <a:spLocks/>
          </p:cNvSpPr>
          <p:nvPr/>
        </p:nvSpPr>
        <p:spPr>
          <a:xfrm>
            <a:off x="4388922" y="1801170"/>
            <a:ext cx="2357148" cy="6310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100" dirty="0"/>
              <a:t>HI and IU+ ID have the longest recoveries but experience minimal metabolic impacts. This may be an artifact of how I have isolated flood events (slide 6) and may benefits from including an additional depth criteria.</a:t>
            </a:r>
          </a:p>
        </p:txBody>
      </p:sp>
    </p:spTree>
    <p:extLst>
      <p:ext uri="{BB962C8B-B14F-4D97-AF65-F5344CB8AC3E}">
        <p14:creationId xmlns:p14="http://schemas.microsoft.com/office/powerpoint/2010/main" val="615306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16AF1B5-8BF1-AD97-1FBF-86A8209C8021}"/>
              </a:ext>
            </a:extLst>
          </p:cNvPr>
          <p:cNvSpPr>
            <a:spLocks noGrp="1"/>
          </p:cNvSpPr>
          <p:nvPr>
            <p:ph type="title"/>
          </p:nvPr>
        </p:nvSpPr>
        <p:spPr>
          <a:xfrm>
            <a:off x="261937" y="461324"/>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(shorter duration, smaller magnitude of change, resistance to change, faster recoveries, and </a:t>
            </a:r>
            <a:r>
              <a:rPr lang="en-US" sz="2000" b="1" i="1" dirty="0">
                <a:highlight>
                  <a:srgbClr val="FFFF00"/>
                </a:highlight>
              </a:rPr>
              <a:t>linear recovery trajectories</a:t>
            </a:r>
            <a:r>
              <a:rPr lang="en-US" sz="2000" i="1" dirty="0"/>
              <a:t>) as well as faster recovery times compared to more frequently flooded spring runs. </a:t>
            </a:r>
            <a:br>
              <a:rPr lang="en-US" sz="2000" dirty="0"/>
            </a:br>
            <a:br>
              <a:rPr lang="en-US" sz="2000" i="1" dirty="0"/>
            </a:br>
            <a:endParaRPr lang="en-US" sz="2000" i="1" dirty="0"/>
          </a:p>
        </p:txBody>
      </p:sp>
      <p:pic>
        <p:nvPicPr>
          <p:cNvPr id="13" name="Picture 12">
            <a:extLst>
              <a:ext uri="{FF2B5EF4-FFF2-40B4-BE49-F238E27FC236}">
                <a16:creationId xmlns:a16="http://schemas.microsoft.com/office/drawing/2014/main" id="{9D01A500-01B1-7BB9-1EDB-7B57F3E97551}"/>
              </a:ext>
            </a:extLst>
          </p:cNvPr>
          <p:cNvPicPr>
            <a:picLocks noChangeAspect="1"/>
          </p:cNvPicPr>
          <p:nvPr/>
        </p:nvPicPr>
        <p:blipFill>
          <a:blip r:embed="rId2"/>
          <a:stretch>
            <a:fillRect/>
          </a:stretch>
        </p:blipFill>
        <p:spPr>
          <a:xfrm>
            <a:off x="219455" y="3689567"/>
            <a:ext cx="4303805" cy="2707109"/>
          </a:xfrm>
          <a:prstGeom prst="rect">
            <a:avLst/>
          </a:prstGeom>
        </p:spPr>
      </p:pic>
      <p:pic>
        <p:nvPicPr>
          <p:cNvPr id="30" name="Picture 29">
            <a:extLst>
              <a:ext uri="{FF2B5EF4-FFF2-40B4-BE49-F238E27FC236}">
                <a16:creationId xmlns:a16="http://schemas.microsoft.com/office/drawing/2014/main" id="{4C583D3F-9935-5308-262B-E4B8AE2F04C1}"/>
              </a:ext>
            </a:extLst>
          </p:cNvPr>
          <p:cNvPicPr>
            <a:picLocks noChangeAspect="1"/>
          </p:cNvPicPr>
          <p:nvPr/>
        </p:nvPicPr>
        <p:blipFill>
          <a:blip r:embed="rId3"/>
          <a:stretch>
            <a:fillRect/>
          </a:stretch>
        </p:blipFill>
        <p:spPr>
          <a:xfrm>
            <a:off x="1039627" y="1167810"/>
            <a:ext cx="2663462" cy="2306553"/>
          </a:xfrm>
          <a:prstGeom prst="rect">
            <a:avLst/>
          </a:prstGeom>
        </p:spPr>
      </p:pic>
      <p:sp>
        <p:nvSpPr>
          <p:cNvPr id="14" name="Title 1">
            <a:extLst>
              <a:ext uri="{FF2B5EF4-FFF2-40B4-BE49-F238E27FC236}">
                <a16:creationId xmlns:a16="http://schemas.microsoft.com/office/drawing/2014/main" id="{07C7576C-9708-CFBC-944A-B0D685BDF506}"/>
              </a:ext>
            </a:extLst>
          </p:cNvPr>
          <p:cNvSpPr txBox="1">
            <a:spLocks/>
          </p:cNvSpPr>
          <p:nvPr/>
        </p:nvSpPr>
        <p:spPr>
          <a:xfrm>
            <a:off x="5518780" y="783898"/>
            <a:ext cx="5830820" cy="5466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Again, rate of recovery across floods is similar . R2 increases with increasing flood severity.</a:t>
            </a:r>
          </a:p>
        </p:txBody>
      </p:sp>
      <p:pic>
        <p:nvPicPr>
          <p:cNvPr id="32" name="Picture 31">
            <a:extLst>
              <a:ext uri="{FF2B5EF4-FFF2-40B4-BE49-F238E27FC236}">
                <a16:creationId xmlns:a16="http://schemas.microsoft.com/office/drawing/2014/main" id="{EE74C59B-0DBC-1869-7935-D349BA884BC3}"/>
              </a:ext>
            </a:extLst>
          </p:cNvPr>
          <p:cNvPicPr>
            <a:picLocks noChangeAspect="1"/>
          </p:cNvPicPr>
          <p:nvPr/>
        </p:nvPicPr>
        <p:blipFill>
          <a:blip r:embed="rId4"/>
          <a:srcRect t="1998" b="12269"/>
          <a:stretch>
            <a:fillRect/>
          </a:stretch>
        </p:blipFill>
        <p:spPr>
          <a:xfrm>
            <a:off x="6336798" y="1167259"/>
            <a:ext cx="4050030" cy="2108255"/>
          </a:xfrm>
          <a:prstGeom prst="rect">
            <a:avLst/>
          </a:prstGeom>
        </p:spPr>
      </p:pic>
      <p:pic>
        <p:nvPicPr>
          <p:cNvPr id="34" name="Picture 33">
            <a:extLst>
              <a:ext uri="{FF2B5EF4-FFF2-40B4-BE49-F238E27FC236}">
                <a16:creationId xmlns:a16="http://schemas.microsoft.com/office/drawing/2014/main" id="{75D2CB4D-E573-794A-4D5E-7E4980D2A98D}"/>
              </a:ext>
            </a:extLst>
          </p:cNvPr>
          <p:cNvPicPr>
            <a:picLocks noChangeAspect="1"/>
          </p:cNvPicPr>
          <p:nvPr/>
        </p:nvPicPr>
        <p:blipFill>
          <a:blip r:embed="rId5"/>
          <a:srcRect t="2189"/>
          <a:stretch>
            <a:fillRect/>
          </a:stretch>
        </p:blipFill>
        <p:spPr>
          <a:xfrm>
            <a:off x="5888250" y="3939384"/>
            <a:ext cx="4947127" cy="2882521"/>
          </a:xfrm>
          <a:prstGeom prst="rect">
            <a:avLst/>
          </a:prstGeom>
        </p:spPr>
      </p:pic>
      <p:sp>
        <p:nvSpPr>
          <p:cNvPr id="36" name="Title 1">
            <a:extLst>
              <a:ext uri="{FF2B5EF4-FFF2-40B4-BE49-F238E27FC236}">
                <a16:creationId xmlns:a16="http://schemas.microsoft.com/office/drawing/2014/main" id="{2CD7EB16-C99B-65C9-AFB3-432CD6D13513}"/>
              </a:ext>
            </a:extLst>
          </p:cNvPr>
          <p:cNvSpPr txBox="1">
            <a:spLocks/>
          </p:cNvSpPr>
          <p:nvPr/>
        </p:nvSpPr>
        <p:spPr>
          <a:xfrm>
            <a:off x="4728743" y="3334109"/>
            <a:ext cx="7410893" cy="5466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t>At high-vulnerability sites (AM, OS), the recovery path is irregular and poorly described by a linear model. Vulnerable springs may have </a:t>
            </a:r>
            <a:r>
              <a:rPr lang="en-US" sz="1400" dirty="0" err="1"/>
              <a:t>bgc</a:t>
            </a:r>
            <a:r>
              <a:rPr lang="en-US" sz="1400" dirty="0"/>
              <a:t>/micro-</a:t>
            </a:r>
            <a:r>
              <a:rPr lang="en-US" sz="1400" dirty="0" err="1"/>
              <a:t>communitues</a:t>
            </a:r>
            <a:r>
              <a:rPr lang="en-US" sz="1400" dirty="0"/>
              <a:t> of spring and river environments producing a noisier recession signal. The more spring-like the site, the more stereotyped the recovery.</a:t>
            </a:r>
          </a:p>
        </p:txBody>
      </p:sp>
    </p:spTree>
    <p:extLst>
      <p:ext uri="{BB962C8B-B14F-4D97-AF65-F5344CB8AC3E}">
        <p14:creationId xmlns:p14="http://schemas.microsoft.com/office/powerpoint/2010/main" val="3053586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313F6FD-3AC3-F440-71D7-F6B99BFA1585}"/>
              </a:ext>
            </a:extLst>
          </p:cNvPr>
          <p:cNvSpPr>
            <a:spLocks noGrp="1"/>
          </p:cNvSpPr>
          <p:nvPr>
            <p:ph type="title"/>
          </p:nvPr>
        </p:nvSpPr>
        <p:spPr>
          <a:xfrm>
            <a:off x="378896" y="99817"/>
            <a:ext cx="11668125" cy="645149"/>
          </a:xfrm>
        </p:spPr>
        <p:txBody>
          <a:bodyPr>
            <a:noAutofit/>
          </a:bodyPr>
          <a:lstStyle/>
          <a:p>
            <a:pPr algn="ctr"/>
            <a:r>
              <a:rPr lang="en-US" sz="2000" b="1" dirty="0"/>
              <a:t>Results: </a:t>
            </a:r>
            <a:r>
              <a:rPr lang="en-US" sz="2000" i="1" dirty="0"/>
              <a:t>Comparing the trajectories for the rise and fall of flood events</a:t>
            </a:r>
          </a:p>
        </p:txBody>
      </p:sp>
      <p:pic>
        <p:nvPicPr>
          <p:cNvPr id="7" name="Picture 6">
            <a:extLst>
              <a:ext uri="{FF2B5EF4-FFF2-40B4-BE49-F238E27FC236}">
                <a16:creationId xmlns:a16="http://schemas.microsoft.com/office/drawing/2014/main" id="{05D06A4B-5629-7A25-C16B-A85C0077BB29}"/>
              </a:ext>
            </a:extLst>
          </p:cNvPr>
          <p:cNvPicPr>
            <a:picLocks noChangeAspect="1"/>
          </p:cNvPicPr>
          <p:nvPr/>
        </p:nvPicPr>
        <p:blipFill>
          <a:blip r:embed="rId3"/>
          <a:stretch>
            <a:fillRect/>
          </a:stretch>
        </p:blipFill>
        <p:spPr>
          <a:xfrm>
            <a:off x="2508195" y="627498"/>
            <a:ext cx="4030829" cy="2376199"/>
          </a:xfrm>
          <a:prstGeom prst="rect">
            <a:avLst/>
          </a:prstGeom>
        </p:spPr>
      </p:pic>
      <p:pic>
        <p:nvPicPr>
          <p:cNvPr id="9" name="Picture 8">
            <a:extLst>
              <a:ext uri="{FF2B5EF4-FFF2-40B4-BE49-F238E27FC236}">
                <a16:creationId xmlns:a16="http://schemas.microsoft.com/office/drawing/2014/main" id="{C0DDB37E-1FD5-C327-FD74-5C667E87C289}"/>
              </a:ext>
            </a:extLst>
          </p:cNvPr>
          <p:cNvPicPr>
            <a:picLocks noChangeAspect="1"/>
          </p:cNvPicPr>
          <p:nvPr/>
        </p:nvPicPr>
        <p:blipFill>
          <a:blip r:embed="rId4"/>
          <a:stretch>
            <a:fillRect/>
          </a:stretch>
        </p:blipFill>
        <p:spPr>
          <a:xfrm>
            <a:off x="2508195" y="3168501"/>
            <a:ext cx="4161155" cy="2752764"/>
          </a:xfrm>
          <a:prstGeom prst="rect">
            <a:avLst/>
          </a:prstGeom>
        </p:spPr>
      </p:pic>
      <p:pic>
        <p:nvPicPr>
          <p:cNvPr id="11" name="Picture 10">
            <a:extLst>
              <a:ext uri="{FF2B5EF4-FFF2-40B4-BE49-F238E27FC236}">
                <a16:creationId xmlns:a16="http://schemas.microsoft.com/office/drawing/2014/main" id="{CB673BFF-475A-71B4-E5C0-AA847B8BAC0C}"/>
              </a:ext>
            </a:extLst>
          </p:cNvPr>
          <p:cNvPicPr>
            <a:picLocks noChangeAspect="1"/>
          </p:cNvPicPr>
          <p:nvPr/>
        </p:nvPicPr>
        <p:blipFill>
          <a:blip r:embed="rId5"/>
          <a:stretch>
            <a:fillRect/>
          </a:stretch>
        </p:blipFill>
        <p:spPr>
          <a:xfrm>
            <a:off x="6669350" y="754910"/>
            <a:ext cx="3790361" cy="2516583"/>
          </a:xfrm>
          <a:prstGeom prst="rect">
            <a:avLst/>
          </a:prstGeom>
        </p:spPr>
      </p:pic>
      <p:pic>
        <p:nvPicPr>
          <p:cNvPr id="13" name="Picture 12">
            <a:extLst>
              <a:ext uri="{FF2B5EF4-FFF2-40B4-BE49-F238E27FC236}">
                <a16:creationId xmlns:a16="http://schemas.microsoft.com/office/drawing/2014/main" id="{2DD24B36-1548-5C5C-042D-3C177937738A}"/>
              </a:ext>
            </a:extLst>
          </p:cNvPr>
          <p:cNvPicPr>
            <a:picLocks noChangeAspect="1"/>
          </p:cNvPicPr>
          <p:nvPr/>
        </p:nvPicPr>
        <p:blipFill>
          <a:blip r:embed="rId6"/>
          <a:stretch>
            <a:fillRect/>
          </a:stretch>
        </p:blipFill>
        <p:spPr>
          <a:xfrm>
            <a:off x="2508195" y="6034694"/>
            <a:ext cx="4484602" cy="723489"/>
          </a:xfrm>
          <a:prstGeom prst="rect">
            <a:avLst/>
          </a:prstGeom>
        </p:spPr>
      </p:pic>
      <p:sp>
        <p:nvSpPr>
          <p:cNvPr id="14" name="Title 1">
            <a:extLst>
              <a:ext uri="{FF2B5EF4-FFF2-40B4-BE49-F238E27FC236}">
                <a16:creationId xmlns:a16="http://schemas.microsoft.com/office/drawing/2014/main" id="{35281878-5A2F-316C-5AAB-5CD340D41F56}"/>
              </a:ext>
            </a:extLst>
          </p:cNvPr>
          <p:cNvSpPr txBox="1">
            <a:spLocks/>
          </p:cNvSpPr>
          <p:nvPr/>
        </p:nvSpPr>
        <p:spPr>
          <a:xfrm>
            <a:off x="7274256" y="4814617"/>
            <a:ext cx="405884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DO and CO₂ rise more linearly than they recover; ER and GPP ₂ recover more linearly than they rise</a:t>
            </a:r>
          </a:p>
          <a:p>
            <a:pPr marL="171450" indent="-171450" algn="ctr">
              <a:buFont typeface="Arial" panose="020B0604020202020204" pitchFamily="34" charset="0"/>
              <a:buChar char="•"/>
            </a:pPr>
            <a:r>
              <a:rPr lang="en-US" sz="1200" dirty="0"/>
              <a:t>DO and CO₂ are impacted by the incoming flood water in a physically-driven way</a:t>
            </a:r>
          </a:p>
          <a:p>
            <a:pPr marL="171450" indent="-171450" algn="ctr">
              <a:buFont typeface="Arial" panose="020B0604020202020204" pitchFamily="34" charset="0"/>
              <a:buChar char="•"/>
            </a:pPr>
            <a:r>
              <a:rPr lang="en-US" sz="1200" dirty="0"/>
              <a:t>The magnitude of the ER and GPP impacts depends on how much DOC was delivered, which can differ by flood type and flood size</a:t>
            </a:r>
          </a:p>
          <a:p>
            <a:pPr marL="171450" indent="-171450" algn="ctr">
              <a:buFont typeface="Arial" panose="020B0604020202020204" pitchFamily="34" charset="0"/>
              <a:buChar char="•"/>
            </a:pPr>
            <a:r>
              <a:rPr lang="en-US" sz="1200" dirty="0"/>
              <a:t>GPP recovers more linearly consistent with autotrophs recovering along a consistent with autotroph recoverin along light/flow-driven trajectory.</a:t>
            </a:r>
          </a:p>
          <a:p>
            <a:pPr marL="171450" indent="-171450" algn="ctr">
              <a:buFont typeface="Arial" panose="020B0604020202020204" pitchFamily="34" charset="0"/>
              <a:buChar char="•"/>
            </a:pPr>
            <a:r>
              <a:rPr lang="en-US" sz="1200" dirty="0"/>
              <a:t>ER recovery may be more linear because microbial decomposition is a relatively predictable rate</a:t>
            </a:r>
          </a:p>
          <a:p>
            <a:pPr marL="171450" indent="-171450" algn="ctr">
              <a:buFont typeface="Arial" panose="020B0604020202020204" pitchFamily="34" charset="0"/>
              <a:buChar char="•"/>
            </a:pPr>
            <a:endParaRPr lang="en-US" sz="1200" dirty="0"/>
          </a:p>
        </p:txBody>
      </p:sp>
    </p:spTree>
    <p:extLst>
      <p:ext uri="{BB962C8B-B14F-4D97-AF65-F5344CB8AC3E}">
        <p14:creationId xmlns:p14="http://schemas.microsoft.com/office/powerpoint/2010/main" val="3921418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8754-EA23-96BB-F801-5A77AB766EC1}"/>
              </a:ext>
            </a:extLst>
          </p:cNvPr>
          <p:cNvSpPr>
            <a:spLocks noGrp="1"/>
          </p:cNvSpPr>
          <p:nvPr>
            <p:ph type="title"/>
          </p:nvPr>
        </p:nvSpPr>
        <p:spPr>
          <a:xfrm>
            <a:off x="838200" y="-105138"/>
            <a:ext cx="10515600" cy="1325563"/>
          </a:xfrm>
        </p:spPr>
        <p:txBody>
          <a:bodyPr/>
          <a:lstStyle/>
          <a:p>
            <a:r>
              <a:rPr lang="en-US" dirty="0"/>
              <a:t>Key Takeaways:</a:t>
            </a:r>
          </a:p>
        </p:txBody>
      </p:sp>
      <p:sp>
        <p:nvSpPr>
          <p:cNvPr id="3" name="Content Placeholder 2">
            <a:extLst>
              <a:ext uri="{FF2B5EF4-FFF2-40B4-BE49-F238E27FC236}">
                <a16:creationId xmlns:a16="http://schemas.microsoft.com/office/drawing/2014/main" id="{43BD0B42-14A8-A170-D5A3-EAFA94CDD551}"/>
              </a:ext>
            </a:extLst>
          </p:cNvPr>
          <p:cNvSpPr>
            <a:spLocks noGrp="1"/>
          </p:cNvSpPr>
          <p:nvPr>
            <p:ph idx="1"/>
          </p:nvPr>
        </p:nvSpPr>
        <p:spPr>
          <a:xfrm>
            <a:off x="838200" y="914400"/>
            <a:ext cx="10515600" cy="5752214"/>
          </a:xfrm>
        </p:spPr>
        <p:txBody>
          <a:bodyPr>
            <a:normAutofit fontScale="92500" lnSpcReduction="20000"/>
          </a:bodyPr>
          <a:lstStyle/>
          <a:p>
            <a:pPr lvl="1"/>
            <a:r>
              <a:rPr lang="en-US" sz="1800" dirty="0"/>
              <a:t>North Florida spring metabolism is driven by source water, and in turn, light availability. Flood disturbances represent the primary mechanism by which source water shifts from light and DOC-depleted to dark and DOC-rich.</a:t>
            </a:r>
          </a:p>
          <a:p>
            <a:pPr lvl="2"/>
            <a:r>
              <a:rPr lang="en-US" sz="1600" dirty="0"/>
              <a:t>A tight mechanistic cascade follows from source water shifts: Stage ↑ → light attenuation ↑ → GPP ↓ → DO ↓ + CO₂ ↑ </a:t>
            </a:r>
          </a:p>
          <a:p>
            <a:pPr lvl="2"/>
            <a:r>
              <a:rPr lang="en-US" sz="1600" dirty="0"/>
              <a:t>The most vulnerable spring (OS) has the lowest net ecosystem production yet shows comparatively moderate metabolic responses to individual flood events. This suggests that chronically reversing springs may have entrained river-derived DOC and microbial communities into their baseline state, reducing the incremental metabolic impact of any single disturbance.</a:t>
            </a:r>
          </a:p>
          <a:p>
            <a:pPr lvl="2"/>
            <a:r>
              <a:rPr lang="en-US" sz="1600" dirty="0"/>
              <a:t>BO and FR floods produce broadly similar metabolic impacts for GPP and DO, suggesting that light occlusion and labile carbon introduction are the primary metabolic drivers, rather than a complete shift in source water. </a:t>
            </a:r>
          </a:p>
          <a:p>
            <a:pPr lvl="1"/>
            <a:r>
              <a:rPr lang="en-US" sz="1800" dirty="0"/>
              <a:t>Spring metabolism recovers on timescales comparable to, or shorter than, physical stage recovery, though with considerable variability in the trajectory of that recovery.</a:t>
            </a:r>
          </a:p>
          <a:p>
            <a:pPr lvl="2"/>
            <a:r>
              <a:rPr lang="en-US" sz="1600" dirty="0"/>
              <a:t>At high-vulnerability sites (AM, OS), the post-flood recovery path is irregular and poorly described by a linear model. This may reflect mixed biogeochemical and microbial communities that create a hybrid spring-river environment, producing a noisier and less predictable recession signal.</a:t>
            </a:r>
          </a:p>
          <a:p>
            <a:pPr lvl="2"/>
            <a:r>
              <a:rPr lang="en-US" sz="1600" dirty="0"/>
              <a:t>The more spring-like the site, the more stereotyped and predictable the recovery trajectory.</a:t>
            </a:r>
          </a:p>
          <a:p>
            <a:pPr lvl="1"/>
            <a:r>
              <a:rPr lang="en-US" sz="1800" b="1" dirty="0"/>
              <a:t>DO and CO₂ are more consistent indicators of the physical flood signal</a:t>
            </a:r>
            <a:r>
              <a:rPr lang="en-US" sz="1800" dirty="0"/>
              <a:t>. Their response to incoming flood water is linearly and predictably related to stage. </a:t>
            </a:r>
            <a:r>
              <a:rPr lang="en-US" sz="1800" b="1" dirty="0"/>
              <a:t>GPP and ER capture the biological consequences of flooding</a:t>
            </a:r>
            <a:r>
              <a:rPr lang="en-US" sz="1800" dirty="0"/>
              <a:t>, which are more variable across sites and flood types</a:t>
            </a:r>
            <a:r>
              <a:rPr lang="en-US" sz="1800" b="1" dirty="0"/>
              <a:t>. Both sets of variables are necessary</a:t>
            </a:r>
            <a:r>
              <a:rPr lang="en-US" sz="1800" dirty="0"/>
              <a:t> for a complete picture, but they address different aspects of the disturbance.</a:t>
            </a:r>
          </a:p>
          <a:p>
            <a:pPr lvl="2"/>
            <a:r>
              <a:rPr lang="en-US" sz="1600" dirty="0"/>
              <a:t>The most frequently reversing springs experienced comparatively moderate metabolic impacts from individual flood events, consistent with chronic disturbance shifting the baseline metabolic state toward a mixed spring-river community.</a:t>
            </a:r>
          </a:p>
          <a:p>
            <a:pPr lvl="2"/>
            <a:r>
              <a:rPr lang="en-US" sz="1600" dirty="0"/>
              <a:t>DO and CO₂ are more predictably impacted by the physical arrival of flood water (more linear rise signal), but their recovery is noisier due to the interacting biological processes that govern return to baseline.</a:t>
            </a:r>
          </a:p>
          <a:p>
            <a:pPr lvl="2"/>
            <a:r>
              <a:rPr lang="en-US" sz="1600" dirty="0"/>
              <a:t>GPP recovery is relatively linear, consistent with autotrophs tracking the return of stable light and flow conditions. ER recovery is similarly linear because microbial decomposition of river OM proceeds at a relatively predictable rate once flood conditions stabilize</a:t>
            </a:r>
          </a:p>
        </p:txBody>
      </p:sp>
    </p:spTree>
    <p:extLst>
      <p:ext uri="{BB962C8B-B14F-4D97-AF65-F5344CB8AC3E}">
        <p14:creationId xmlns:p14="http://schemas.microsoft.com/office/powerpoint/2010/main" val="989264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3604</TotalTime>
  <Words>2908</Words>
  <Application>Microsoft Office PowerPoint</Application>
  <PresentationFormat>Widescreen</PresentationFormat>
  <Paragraphs>196</Paragraphs>
  <Slides>21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The metabolic and disturbance regime of North Florida Streams </vt:lpstr>
      <vt:lpstr>Introduction: </vt:lpstr>
      <vt:lpstr>Hypotheses</vt:lpstr>
      <vt:lpstr>Methods:</vt:lpstr>
      <vt:lpstr>Stream Metabolism Estimation</vt:lpstr>
      <vt:lpstr>Reaeration Coefficient (K600)</vt:lpstr>
      <vt:lpstr>Messing with K once again…</vt:lpstr>
      <vt:lpstr>Step 1: Flood Event Isolation</vt:lpstr>
      <vt:lpstr>Step 2: Flood Classification (HI / BO / FR)</vt:lpstr>
      <vt:lpstr>Step 4: Disturbance Metrics</vt:lpstr>
      <vt:lpstr>Results: The spring metabolic signal will exhibit two breakpoints with depth: spring productivity will moderately decline with increasing stage and undergo a severe dropout at depths that trigger backwater flooding. </vt:lpstr>
      <vt:lpstr>Results: The spring metabolic signal will exhibit two breakpoints with depth: spring productivity will moderately decline with increasing stage and undergo a severe dropout at depths that trigger backwater flooding. </vt:lpstr>
      <vt:lpstr>Results: The spring metabolic signal will exhibit two breakpoints with depth: spring productivity will moderately decline with increasing stage and undergo a severe dropout at depths that trigger backwater flooding. </vt:lpstr>
      <vt:lpstr>Results: Less-disturbed spring runs will have greater tolerance for flood events, experiencing less severe metabolic impacts (smaller magnitude of change, shorter duration, resistance to change, and linear recovery trajectories) as well as faster recovery times compared to more frequently flooded spring runs.   </vt:lpstr>
      <vt:lpstr>Results: Less-disturbed spring runs will have greater tolerance for flood events, experiencing less severe metabolic impacts (smaller magnitude of change, shorter duration, resistance to change, and linear recovery trajectories) as well as faster recovery times compared to more frequently flooded spring runs.   </vt:lpstr>
      <vt:lpstr>Results: Less-disturbed spring runs will have greater tolerance for flood events, experiencing less severe metabolic impacts (shorter duration, smaller magnitude of change, resistance to change, and linear recovery trajectories) as well as faster recovery times compared to more frequently flooded spring runs.   </vt:lpstr>
      <vt:lpstr>Results: Less-disturbed spring runs will have greater tolerance for flood events, experiencing less severe metabolic impacts (shorter duration, smaller magnitude of change, resistance to change, and linear recovery trajectories) as well as faster recovery times compared to more frequently flooded spring runs.   </vt:lpstr>
      <vt:lpstr>Results: Less-disturbed spring runs will have greater tolerance for flood events, experiencing less severe metabolic impacts (shorter duration, smaller magnitude of change, resistance to change, faster recoveries, and linear recovery trajectories) as well as faster recovery times compared to more frequently flooded spring runs.   </vt:lpstr>
      <vt:lpstr>Results: Less-disturbed spring runs will have greater tolerance for flood events, experiencing less severe metabolic impacts (shorter duration, smaller magnitude of change, resistance to change, faster recoveries, and linear recovery trajectories) as well as faster recovery times compared to more frequently flooded spring runs.   </vt:lpstr>
      <vt:lpstr>Results: Comparing the trajectories for the rise and fall of flood events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Howley,Samantha T</dc:creator>
  <cp:lastModifiedBy>Howley,Samantha T</cp:lastModifiedBy>
  <cp:revision>10</cp:revision>
  <dcterms:created xsi:type="dcterms:W3CDTF">2026-01-13T14:22:16Z</dcterms:created>
  <dcterms:modified xsi:type="dcterms:W3CDTF">2026-05-15T17:14:14Z</dcterms:modified>
</cp:coreProperties>
</file>