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9" r:id="rId4"/>
    <p:sldId id="258" r:id="rId5"/>
    <p:sldId id="260" r:id="rId6"/>
    <p:sldId id="383" r:id="rId7"/>
    <p:sldId id="384" r:id="rId8"/>
    <p:sldId id="385" r:id="rId9"/>
    <p:sldId id="389" r:id="rId10"/>
    <p:sldId id="263" r:id="rId11"/>
    <p:sldId id="261" r:id="rId12"/>
    <p:sldId id="264" r:id="rId13"/>
    <p:sldId id="269" r:id="rId14"/>
    <p:sldId id="265" r:id="rId15"/>
    <p:sldId id="267" r:id="rId16"/>
    <p:sldId id="270" r:id="rId17"/>
    <p:sldId id="268" r:id="rId18"/>
    <p:sldId id="26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7" d="100"/>
          <a:sy n="57" d="100"/>
        </p:scale>
        <p:origin x="962" y="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7EB405-DEDD-4541-821E-E2A7C84FF1EB}" type="datetimeFigureOut">
              <a:rPr lang="en-US" smtClean="0"/>
              <a:t>5/14/2026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24414A-2C1E-4C1F-B6F3-D0B9C9FABFEF}" type="slidenum">
              <a:rPr lang="en-US" smtClean="0"/>
              <a:t>‹#›</a:t>
            </a:fld>
            <a:endParaRPr lang="en-US"/>
          </a:p>
        </p:txBody>
      </p:sp>
    </p:spTree>
    <p:extLst>
      <p:ext uri="{BB962C8B-B14F-4D97-AF65-F5344CB8AC3E}">
        <p14:creationId xmlns:p14="http://schemas.microsoft.com/office/powerpoint/2010/main" val="940145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Met function recovers super fast. Be sure to align </a:t>
            </a:r>
          </a:p>
          <a:p>
            <a:r>
              <a:rPr lang="en-US"/>
              <a:t>How do those effects persist… doesn’t take that long to get the system.</a:t>
            </a:r>
          </a:p>
          <a:p>
            <a:endParaRPr lang="en-US"/>
          </a:p>
          <a:p>
            <a:r>
              <a:rPr lang="en-US"/>
              <a:t>At some point I need to enumerate the “velocity” of recovery. How do you define the baseline </a:t>
            </a:r>
          </a:p>
        </p:txBody>
      </p:sp>
      <p:sp>
        <p:nvSpPr>
          <p:cNvPr id="4" name="Slide Number Placeholder 3"/>
          <p:cNvSpPr>
            <a:spLocks noGrp="1"/>
          </p:cNvSpPr>
          <p:nvPr>
            <p:ph type="sldNum" sz="quarter" idx="5"/>
          </p:nvPr>
        </p:nvSpPr>
        <p:spPr/>
        <p:txBody>
          <a:bodyPr/>
          <a:lstStyle/>
          <a:p>
            <a:fld id="{7078DE6C-5F17-439A-AA51-7B652CAFD1E7}" type="slidenum">
              <a:rPr lang="en-US" smtClean="0"/>
              <a:t>8</a:t>
            </a:fld>
            <a:endParaRPr lang="en-US"/>
          </a:p>
        </p:txBody>
      </p:sp>
    </p:spTree>
    <p:extLst>
      <p:ext uri="{BB962C8B-B14F-4D97-AF65-F5344CB8AC3E}">
        <p14:creationId xmlns:p14="http://schemas.microsoft.com/office/powerpoint/2010/main" val="1116516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Plot proportional decline</a:t>
            </a:r>
          </a:p>
          <a:p>
            <a:r>
              <a:rPr lang="en-US"/>
              <a:t>Before the flood, there was a mean and a variance</a:t>
            </a:r>
          </a:p>
          <a:p>
            <a:r>
              <a:rPr lang="en-US"/>
              <a:t>As soon as </a:t>
            </a:r>
            <a:r>
              <a:rPr lang="en-US" err="1"/>
              <a:t>Im</a:t>
            </a:r>
            <a:r>
              <a:rPr lang="en-US"/>
              <a:t> with </a:t>
            </a:r>
            <a:r>
              <a:rPr lang="en-US" err="1"/>
              <a:t>sd</a:t>
            </a:r>
            <a:r>
              <a:rPr lang="en-US"/>
              <a:t> of an index value…. Stop the regression--- IQR</a:t>
            </a:r>
          </a:p>
        </p:txBody>
      </p:sp>
      <p:sp>
        <p:nvSpPr>
          <p:cNvPr id="4" name="Slide Number Placeholder 3"/>
          <p:cNvSpPr>
            <a:spLocks noGrp="1"/>
          </p:cNvSpPr>
          <p:nvPr>
            <p:ph type="sldNum" sz="quarter" idx="5"/>
          </p:nvPr>
        </p:nvSpPr>
        <p:spPr/>
        <p:txBody>
          <a:bodyPr/>
          <a:lstStyle/>
          <a:p>
            <a:fld id="{7078DE6C-5F17-439A-AA51-7B652CAFD1E7}" type="slidenum">
              <a:rPr lang="en-US" smtClean="0"/>
              <a:t>9</a:t>
            </a:fld>
            <a:endParaRPr lang="en-US"/>
          </a:p>
        </p:txBody>
      </p:sp>
    </p:spTree>
    <p:extLst>
      <p:ext uri="{BB962C8B-B14F-4D97-AF65-F5344CB8AC3E}">
        <p14:creationId xmlns:p14="http://schemas.microsoft.com/office/powerpoint/2010/main" val="2079894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24414A-2C1E-4C1F-B6F3-D0B9C9FABFEF}" type="slidenum">
              <a:rPr lang="en-US" smtClean="0"/>
              <a:t>11</a:t>
            </a:fld>
            <a:endParaRPr lang="en-US"/>
          </a:p>
        </p:txBody>
      </p:sp>
    </p:spTree>
    <p:extLst>
      <p:ext uri="{BB962C8B-B14F-4D97-AF65-F5344CB8AC3E}">
        <p14:creationId xmlns:p14="http://schemas.microsoft.com/office/powerpoint/2010/main" val="3349835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7A91A-8D75-3C8A-04BA-F256A3A9F3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E7E8DF-FAD7-2BEA-ABAF-BA42976BD2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324D0-01B0-098C-25E1-6ACB3DCDF3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7633EA-14BF-C639-F89C-295EB33E49BC}"/>
              </a:ext>
            </a:extLst>
          </p:cNvPr>
          <p:cNvSpPr>
            <a:spLocks noGrp="1"/>
          </p:cNvSpPr>
          <p:nvPr>
            <p:ph type="sldNum" sz="quarter" idx="5"/>
          </p:nvPr>
        </p:nvSpPr>
        <p:spPr/>
        <p:txBody>
          <a:bodyPr/>
          <a:lstStyle/>
          <a:p>
            <a:fld id="{3F24414A-2C1E-4C1F-B6F3-D0B9C9FABFEF}" type="slidenum">
              <a:rPr lang="en-US" smtClean="0"/>
              <a:t>12</a:t>
            </a:fld>
            <a:endParaRPr lang="en-US"/>
          </a:p>
        </p:txBody>
      </p:sp>
    </p:spTree>
    <p:extLst>
      <p:ext uri="{BB962C8B-B14F-4D97-AF65-F5344CB8AC3E}">
        <p14:creationId xmlns:p14="http://schemas.microsoft.com/office/powerpoint/2010/main" val="1683901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58141-ED1A-A6CD-FDC0-D86B5419BEA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2EB036-6DE4-A1AA-1426-4B8CB858B9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E7B4FF-ED1C-F3DD-62A0-9C04F0D0F6C6}"/>
              </a:ext>
            </a:extLst>
          </p:cNvPr>
          <p:cNvSpPr>
            <a:spLocks noGrp="1"/>
          </p:cNvSpPr>
          <p:nvPr>
            <p:ph type="dt" sz="half" idx="10"/>
          </p:nvPr>
        </p:nvSpPr>
        <p:spPr/>
        <p:txBody>
          <a:bodyPr/>
          <a:lstStyle/>
          <a:p>
            <a:fld id="{C589767D-62E5-4712-865D-4E2246D5EC60}" type="datetimeFigureOut">
              <a:rPr lang="en-US" smtClean="0"/>
              <a:t>5/14/2026</a:t>
            </a:fld>
            <a:endParaRPr lang="en-US"/>
          </a:p>
        </p:txBody>
      </p:sp>
      <p:sp>
        <p:nvSpPr>
          <p:cNvPr id="5" name="Footer Placeholder 4">
            <a:extLst>
              <a:ext uri="{FF2B5EF4-FFF2-40B4-BE49-F238E27FC236}">
                <a16:creationId xmlns:a16="http://schemas.microsoft.com/office/drawing/2014/main" id="{F895D033-1390-48E0-2FA3-65A6E0EFD4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5317D6-12AD-DBF5-72D9-0EEF2F4ED44D}"/>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582237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BF272-87F9-56F5-5B68-A985F1568B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6509C8-2BB4-4472-2727-24885478FC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E64EF1-6C5F-F3DB-CF5D-9FB372B7C724}"/>
              </a:ext>
            </a:extLst>
          </p:cNvPr>
          <p:cNvSpPr>
            <a:spLocks noGrp="1"/>
          </p:cNvSpPr>
          <p:nvPr>
            <p:ph type="dt" sz="half" idx="10"/>
          </p:nvPr>
        </p:nvSpPr>
        <p:spPr/>
        <p:txBody>
          <a:bodyPr/>
          <a:lstStyle/>
          <a:p>
            <a:fld id="{C589767D-62E5-4712-865D-4E2246D5EC60}" type="datetimeFigureOut">
              <a:rPr lang="en-US" smtClean="0"/>
              <a:t>5/14/2026</a:t>
            </a:fld>
            <a:endParaRPr lang="en-US"/>
          </a:p>
        </p:txBody>
      </p:sp>
      <p:sp>
        <p:nvSpPr>
          <p:cNvPr id="5" name="Footer Placeholder 4">
            <a:extLst>
              <a:ext uri="{FF2B5EF4-FFF2-40B4-BE49-F238E27FC236}">
                <a16:creationId xmlns:a16="http://schemas.microsoft.com/office/drawing/2014/main" id="{0DE13ECA-C1D9-5C04-2EC8-A17D494320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F5AEBE-5D1F-1B1C-130E-A01DD7DABC75}"/>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3800799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0E024-06CF-589F-CA2E-843F65458C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A94E1D2-0D48-5354-9D47-B2C7999AE1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153BC3-3431-3B9A-D71D-73578954D214}"/>
              </a:ext>
            </a:extLst>
          </p:cNvPr>
          <p:cNvSpPr>
            <a:spLocks noGrp="1"/>
          </p:cNvSpPr>
          <p:nvPr>
            <p:ph type="dt" sz="half" idx="10"/>
          </p:nvPr>
        </p:nvSpPr>
        <p:spPr/>
        <p:txBody>
          <a:bodyPr/>
          <a:lstStyle/>
          <a:p>
            <a:fld id="{C589767D-62E5-4712-865D-4E2246D5EC60}" type="datetimeFigureOut">
              <a:rPr lang="en-US" smtClean="0"/>
              <a:t>5/14/2026</a:t>
            </a:fld>
            <a:endParaRPr lang="en-US"/>
          </a:p>
        </p:txBody>
      </p:sp>
      <p:sp>
        <p:nvSpPr>
          <p:cNvPr id="5" name="Footer Placeholder 4">
            <a:extLst>
              <a:ext uri="{FF2B5EF4-FFF2-40B4-BE49-F238E27FC236}">
                <a16:creationId xmlns:a16="http://schemas.microsoft.com/office/drawing/2014/main" id="{1D27BEF5-F33B-1133-1E56-DC6C0914CF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D1EC52-83B3-2D28-E03E-CEA70C8C91F0}"/>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299237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672EE-9FBC-2866-B5F4-93AAFBAD41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8D578B-81C7-0386-F168-747084F8D5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55B323-FF33-E390-7AB9-E76967DA18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DCC724-2829-9C82-3FCA-E06BED644CC8}"/>
              </a:ext>
            </a:extLst>
          </p:cNvPr>
          <p:cNvSpPr>
            <a:spLocks noGrp="1"/>
          </p:cNvSpPr>
          <p:nvPr>
            <p:ph type="dt" sz="half" idx="10"/>
          </p:nvPr>
        </p:nvSpPr>
        <p:spPr/>
        <p:txBody>
          <a:bodyPr/>
          <a:lstStyle/>
          <a:p>
            <a:fld id="{C589767D-62E5-4712-865D-4E2246D5EC60}" type="datetimeFigureOut">
              <a:rPr lang="en-US" smtClean="0"/>
              <a:t>5/14/2026</a:t>
            </a:fld>
            <a:endParaRPr lang="en-US"/>
          </a:p>
        </p:txBody>
      </p:sp>
      <p:sp>
        <p:nvSpPr>
          <p:cNvPr id="6" name="Footer Placeholder 5">
            <a:extLst>
              <a:ext uri="{FF2B5EF4-FFF2-40B4-BE49-F238E27FC236}">
                <a16:creationId xmlns:a16="http://schemas.microsoft.com/office/drawing/2014/main" id="{5BDE285C-42AC-5502-1158-95766CEF78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CF28DF-7B66-2E92-EE2A-E204E3DD4CF3}"/>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1054952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1CF0F-3DA5-046A-5171-EB3676CE4A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1D85818-4232-CDFB-CB1C-07F1CE7A90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CBD755-AED2-D18B-6A69-BC8A3EEF5A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8799C80-DCC4-E099-9D0D-57E6CBDA14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D06532-97AE-D738-E592-4673F4592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B15CBC-B078-C55F-A355-2007954241F0}"/>
              </a:ext>
            </a:extLst>
          </p:cNvPr>
          <p:cNvSpPr>
            <a:spLocks noGrp="1"/>
          </p:cNvSpPr>
          <p:nvPr>
            <p:ph type="dt" sz="half" idx="10"/>
          </p:nvPr>
        </p:nvSpPr>
        <p:spPr/>
        <p:txBody>
          <a:bodyPr/>
          <a:lstStyle/>
          <a:p>
            <a:fld id="{C589767D-62E5-4712-865D-4E2246D5EC60}" type="datetimeFigureOut">
              <a:rPr lang="en-US" smtClean="0"/>
              <a:t>5/14/2026</a:t>
            </a:fld>
            <a:endParaRPr lang="en-US"/>
          </a:p>
        </p:txBody>
      </p:sp>
      <p:sp>
        <p:nvSpPr>
          <p:cNvPr id="8" name="Footer Placeholder 7">
            <a:extLst>
              <a:ext uri="{FF2B5EF4-FFF2-40B4-BE49-F238E27FC236}">
                <a16:creationId xmlns:a16="http://schemas.microsoft.com/office/drawing/2014/main" id="{5E02EE0C-547C-68F0-9145-BBC21E6761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ECA7F1-3760-D381-921A-14055E126BF3}"/>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1673328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71560-A5B9-29FD-4EC3-7846F3FF05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B211B67-6DA3-737B-B090-9F23EE9535A3}"/>
              </a:ext>
            </a:extLst>
          </p:cNvPr>
          <p:cNvSpPr>
            <a:spLocks noGrp="1"/>
          </p:cNvSpPr>
          <p:nvPr>
            <p:ph type="dt" sz="half" idx="10"/>
          </p:nvPr>
        </p:nvSpPr>
        <p:spPr/>
        <p:txBody>
          <a:bodyPr/>
          <a:lstStyle/>
          <a:p>
            <a:fld id="{C589767D-62E5-4712-865D-4E2246D5EC60}" type="datetimeFigureOut">
              <a:rPr lang="en-US" smtClean="0"/>
              <a:t>5/14/2026</a:t>
            </a:fld>
            <a:endParaRPr lang="en-US"/>
          </a:p>
        </p:txBody>
      </p:sp>
      <p:sp>
        <p:nvSpPr>
          <p:cNvPr id="4" name="Footer Placeholder 3">
            <a:extLst>
              <a:ext uri="{FF2B5EF4-FFF2-40B4-BE49-F238E27FC236}">
                <a16:creationId xmlns:a16="http://schemas.microsoft.com/office/drawing/2014/main" id="{DD921613-0E6D-C7DF-BF1F-342FA373AD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682B229-6C9B-6856-6DEE-94C5FCB11417}"/>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2815637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66A99C-ED65-58A1-37B3-F45777F1EB62}"/>
              </a:ext>
            </a:extLst>
          </p:cNvPr>
          <p:cNvSpPr>
            <a:spLocks noGrp="1"/>
          </p:cNvSpPr>
          <p:nvPr>
            <p:ph type="dt" sz="half" idx="10"/>
          </p:nvPr>
        </p:nvSpPr>
        <p:spPr/>
        <p:txBody>
          <a:bodyPr/>
          <a:lstStyle/>
          <a:p>
            <a:fld id="{C589767D-62E5-4712-865D-4E2246D5EC60}" type="datetimeFigureOut">
              <a:rPr lang="en-US" smtClean="0"/>
              <a:t>5/14/2026</a:t>
            </a:fld>
            <a:endParaRPr lang="en-US"/>
          </a:p>
        </p:txBody>
      </p:sp>
      <p:sp>
        <p:nvSpPr>
          <p:cNvPr id="3" name="Footer Placeholder 2">
            <a:extLst>
              <a:ext uri="{FF2B5EF4-FFF2-40B4-BE49-F238E27FC236}">
                <a16:creationId xmlns:a16="http://schemas.microsoft.com/office/drawing/2014/main" id="{70A7AF5C-EEBC-6AE6-F348-3010982269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056D17-F1CA-9FE5-D58D-62A3C1C67F3F}"/>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3214154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CCE6C-32A6-EDD7-171D-EC15795A4B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5F88DB-FF62-FA3F-DD22-D6F852E84D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70DEFC-058B-FD7C-EDD8-EF32DB38A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CE843C-934A-D29E-2F1E-0FC5D5EDE15A}"/>
              </a:ext>
            </a:extLst>
          </p:cNvPr>
          <p:cNvSpPr>
            <a:spLocks noGrp="1"/>
          </p:cNvSpPr>
          <p:nvPr>
            <p:ph type="dt" sz="half" idx="10"/>
          </p:nvPr>
        </p:nvSpPr>
        <p:spPr/>
        <p:txBody>
          <a:bodyPr/>
          <a:lstStyle/>
          <a:p>
            <a:fld id="{C589767D-62E5-4712-865D-4E2246D5EC60}" type="datetimeFigureOut">
              <a:rPr lang="en-US" smtClean="0"/>
              <a:t>5/14/2026</a:t>
            </a:fld>
            <a:endParaRPr lang="en-US"/>
          </a:p>
        </p:txBody>
      </p:sp>
      <p:sp>
        <p:nvSpPr>
          <p:cNvPr id="6" name="Footer Placeholder 5">
            <a:extLst>
              <a:ext uri="{FF2B5EF4-FFF2-40B4-BE49-F238E27FC236}">
                <a16:creationId xmlns:a16="http://schemas.microsoft.com/office/drawing/2014/main" id="{94D96698-4846-5279-7F0C-50E6A1E9B3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07843-E0E7-36A6-2B1D-2DF1E23BA065}"/>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463385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A9526-4D7F-F6A6-74A1-AF6EEE69D0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5A9E72-0E87-9CF7-5982-838E39A053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73076A-D61B-0D1B-4A7A-210B15C774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28D521-1E81-ACB6-EBF8-FC767486E8FC}"/>
              </a:ext>
            </a:extLst>
          </p:cNvPr>
          <p:cNvSpPr>
            <a:spLocks noGrp="1"/>
          </p:cNvSpPr>
          <p:nvPr>
            <p:ph type="dt" sz="half" idx="10"/>
          </p:nvPr>
        </p:nvSpPr>
        <p:spPr/>
        <p:txBody>
          <a:bodyPr/>
          <a:lstStyle/>
          <a:p>
            <a:fld id="{C589767D-62E5-4712-865D-4E2246D5EC60}" type="datetimeFigureOut">
              <a:rPr lang="en-US" smtClean="0"/>
              <a:t>5/14/2026</a:t>
            </a:fld>
            <a:endParaRPr lang="en-US"/>
          </a:p>
        </p:txBody>
      </p:sp>
      <p:sp>
        <p:nvSpPr>
          <p:cNvPr id="6" name="Footer Placeholder 5">
            <a:extLst>
              <a:ext uri="{FF2B5EF4-FFF2-40B4-BE49-F238E27FC236}">
                <a16:creationId xmlns:a16="http://schemas.microsoft.com/office/drawing/2014/main" id="{1E553915-9328-ED57-D44C-72D2EFB555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945C55-264F-FC13-3626-20D3AC2F0F11}"/>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2779242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4257B-841B-E72A-C663-C6836D89EC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14A1CD-FC41-00F4-3EAD-96DC08AF48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AC3643-2D15-A79D-D06D-D69C40870746}"/>
              </a:ext>
            </a:extLst>
          </p:cNvPr>
          <p:cNvSpPr>
            <a:spLocks noGrp="1"/>
          </p:cNvSpPr>
          <p:nvPr>
            <p:ph type="dt" sz="half" idx="10"/>
          </p:nvPr>
        </p:nvSpPr>
        <p:spPr/>
        <p:txBody>
          <a:bodyPr/>
          <a:lstStyle/>
          <a:p>
            <a:fld id="{C589767D-62E5-4712-865D-4E2246D5EC60}" type="datetimeFigureOut">
              <a:rPr lang="en-US" smtClean="0"/>
              <a:t>5/14/2026</a:t>
            </a:fld>
            <a:endParaRPr lang="en-US"/>
          </a:p>
        </p:txBody>
      </p:sp>
      <p:sp>
        <p:nvSpPr>
          <p:cNvPr id="5" name="Footer Placeholder 4">
            <a:extLst>
              <a:ext uri="{FF2B5EF4-FFF2-40B4-BE49-F238E27FC236}">
                <a16:creationId xmlns:a16="http://schemas.microsoft.com/office/drawing/2014/main" id="{0390F7B3-D2E6-7434-0DBB-43393134CC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2907EC-3291-3E6F-FC1E-7A85047E3CED}"/>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2451656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8C2D9B-BEBC-6240-3D46-2D96E6861A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2CAF1D-72CE-FCFB-5127-3FD61A73A4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D3932C-7DE2-D460-38CB-D7706296C7F1}"/>
              </a:ext>
            </a:extLst>
          </p:cNvPr>
          <p:cNvSpPr>
            <a:spLocks noGrp="1"/>
          </p:cNvSpPr>
          <p:nvPr>
            <p:ph type="dt" sz="half" idx="10"/>
          </p:nvPr>
        </p:nvSpPr>
        <p:spPr/>
        <p:txBody>
          <a:bodyPr/>
          <a:lstStyle/>
          <a:p>
            <a:fld id="{C589767D-62E5-4712-865D-4E2246D5EC60}" type="datetimeFigureOut">
              <a:rPr lang="en-US" smtClean="0"/>
              <a:t>5/14/2026</a:t>
            </a:fld>
            <a:endParaRPr lang="en-US"/>
          </a:p>
        </p:txBody>
      </p:sp>
      <p:sp>
        <p:nvSpPr>
          <p:cNvPr id="5" name="Footer Placeholder 4">
            <a:extLst>
              <a:ext uri="{FF2B5EF4-FFF2-40B4-BE49-F238E27FC236}">
                <a16:creationId xmlns:a16="http://schemas.microsoft.com/office/drawing/2014/main" id="{CBEBBAEB-307B-B554-D8B2-6E66FD7D24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7B6D4C-EF13-B8F7-1A56-34561D1AE737}"/>
              </a:ext>
            </a:extLst>
          </p:cNvPr>
          <p:cNvSpPr>
            <a:spLocks noGrp="1"/>
          </p:cNvSpPr>
          <p:nvPr>
            <p:ph type="sldNum" sz="quarter" idx="12"/>
          </p:nvPr>
        </p:nvSpPr>
        <p:spPr/>
        <p:txBody>
          <a:bodyPr/>
          <a:lstStyle/>
          <a:p>
            <a:fld id="{70D0EC54-1C02-43CD-8172-6E2EA02AA51A}" type="slidenum">
              <a:rPr lang="en-US" smtClean="0"/>
              <a:t>‹#›</a:t>
            </a:fld>
            <a:endParaRPr lang="en-US"/>
          </a:p>
        </p:txBody>
      </p:sp>
    </p:spTree>
    <p:extLst>
      <p:ext uri="{BB962C8B-B14F-4D97-AF65-F5344CB8AC3E}">
        <p14:creationId xmlns:p14="http://schemas.microsoft.com/office/powerpoint/2010/main" val="2570249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3901EA-367F-CE50-F932-E22160E22E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473871-939F-6115-A19C-EEEBC947C6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E2BEDD-C3CE-7480-B561-1EFA635245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89767D-62E5-4712-865D-4E2246D5EC60}" type="datetimeFigureOut">
              <a:rPr lang="en-US" smtClean="0"/>
              <a:t>5/14/2026</a:t>
            </a:fld>
            <a:endParaRPr lang="en-US"/>
          </a:p>
        </p:txBody>
      </p:sp>
      <p:sp>
        <p:nvSpPr>
          <p:cNvPr id="5" name="Footer Placeholder 4">
            <a:extLst>
              <a:ext uri="{FF2B5EF4-FFF2-40B4-BE49-F238E27FC236}">
                <a16:creationId xmlns:a16="http://schemas.microsoft.com/office/drawing/2014/main" id="{FA502F30-AD98-B0FA-8A87-41098E89F2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A8CA75C-E5B9-4558-7A0F-D56EC50465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D0EC54-1C02-43CD-8172-6E2EA02AA51A}" type="slidenum">
              <a:rPr lang="en-US" smtClean="0"/>
              <a:t>‹#›</a:t>
            </a:fld>
            <a:endParaRPr lang="en-US"/>
          </a:p>
        </p:txBody>
      </p:sp>
    </p:spTree>
    <p:extLst>
      <p:ext uri="{BB962C8B-B14F-4D97-AF65-F5344CB8AC3E}">
        <p14:creationId xmlns:p14="http://schemas.microsoft.com/office/powerpoint/2010/main" val="3341550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77068-EAEB-4C0D-513B-BC2690E2FDD2}"/>
              </a:ext>
            </a:extLst>
          </p:cNvPr>
          <p:cNvSpPr>
            <a:spLocks noGrp="1"/>
          </p:cNvSpPr>
          <p:nvPr>
            <p:ph type="ctrTitle"/>
          </p:nvPr>
        </p:nvSpPr>
        <p:spPr/>
        <p:txBody>
          <a:bodyPr>
            <a:normAutofit fontScale="90000"/>
          </a:bodyPr>
          <a:lstStyle/>
          <a:p>
            <a:r>
              <a:rPr lang="en-US" dirty="0"/>
              <a:t>The metabolic and disturbance regime of North Florida Streams </a:t>
            </a:r>
          </a:p>
        </p:txBody>
      </p:sp>
      <p:sp>
        <p:nvSpPr>
          <p:cNvPr id="3" name="Subtitle 2">
            <a:extLst>
              <a:ext uri="{FF2B5EF4-FFF2-40B4-BE49-F238E27FC236}">
                <a16:creationId xmlns:a16="http://schemas.microsoft.com/office/drawing/2014/main" id="{8DA69D70-C8BE-0386-7033-851793C4641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8395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8754-EA23-96BB-F801-5A77AB766EC1}"/>
              </a:ext>
            </a:extLst>
          </p:cNvPr>
          <p:cNvSpPr>
            <a:spLocks noGrp="1"/>
          </p:cNvSpPr>
          <p:nvPr>
            <p:ph type="title"/>
          </p:nvPr>
        </p:nvSpPr>
        <p:spPr/>
        <p:txBody>
          <a:bodyPr/>
          <a:lstStyle/>
          <a:p>
            <a:r>
              <a:rPr lang="en-US" dirty="0"/>
              <a:t>Key Takeaways:</a:t>
            </a:r>
          </a:p>
        </p:txBody>
      </p:sp>
      <p:sp>
        <p:nvSpPr>
          <p:cNvPr id="3" name="Content Placeholder 2">
            <a:extLst>
              <a:ext uri="{FF2B5EF4-FFF2-40B4-BE49-F238E27FC236}">
                <a16:creationId xmlns:a16="http://schemas.microsoft.com/office/drawing/2014/main" id="{43BD0B42-14A8-A170-D5A3-EAFA94CDD551}"/>
              </a:ext>
            </a:extLst>
          </p:cNvPr>
          <p:cNvSpPr>
            <a:spLocks noGrp="1"/>
          </p:cNvSpPr>
          <p:nvPr>
            <p:ph idx="1"/>
          </p:nvPr>
        </p:nvSpPr>
        <p:spPr/>
        <p:txBody>
          <a:bodyPr>
            <a:normAutofit fontScale="92500" lnSpcReduction="10000"/>
          </a:bodyPr>
          <a:lstStyle/>
          <a:p>
            <a:r>
              <a:rPr lang="en-US" dirty="0"/>
              <a:t>North Florida spring metabolism is driven mainly by light. Greater but clears depth experience an increase in net productivity whereas backwater flood events halt primary productivity.</a:t>
            </a:r>
          </a:p>
          <a:p>
            <a:r>
              <a:rPr lang="en-US" dirty="0"/>
              <a:t> Spring metabolism recovers immediately post-flood despite clear visual differences between more-disturbed and less-disturbed springs, indicating metabolism may not be an accurate metric of recovery in these settings (floods without bed scour).</a:t>
            </a:r>
          </a:p>
          <a:p>
            <a:r>
              <a:rPr lang="en-US" i="1" dirty="0"/>
              <a:t>Springs more vulnerable to flood events did not experience more severe impacts than less vulnerable springs </a:t>
            </a:r>
            <a:endParaRPr lang="en-US" dirty="0"/>
          </a:p>
          <a:p>
            <a:r>
              <a:rPr lang="en-US" dirty="0"/>
              <a:t>A novel approach to modeling stream metabolism in backwater flooding systems, where source waters change.</a:t>
            </a:r>
          </a:p>
        </p:txBody>
      </p:sp>
    </p:spTree>
    <p:extLst>
      <p:ext uri="{BB962C8B-B14F-4D97-AF65-F5344CB8AC3E}">
        <p14:creationId xmlns:p14="http://schemas.microsoft.com/office/powerpoint/2010/main" val="3620555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9844E-C384-F6DE-18EE-D23F15A57D91}"/>
              </a:ext>
            </a:extLst>
          </p:cNvPr>
          <p:cNvSpPr>
            <a:spLocks noGrp="1"/>
          </p:cNvSpPr>
          <p:nvPr>
            <p:ph type="title"/>
          </p:nvPr>
        </p:nvSpPr>
        <p:spPr>
          <a:xfrm>
            <a:off x="742950" y="-187325"/>
            <a:ext cx="10515600" cy="1325563"/>
          </a:xfrm>
        </p:spPr>
        <p:txBody>
          <a:bodyPr/>
          <a:lstStyle/>
          <a:p>
            <a:r>
              <a:rPr lang="en-US" dirty="0"/>
              <a:t>Introduction: </a:t>
            </a:r>
          </a:p>
        </p:txBody>
      </p:sp>
      <p:sp>
        <p:nvSpPr>
          <p:cNvPr id="3" name="Content Placeholder 2">
            <a:extLst>
              <a:ext uri="{FF2B5EF4-FFF2-40B4-BE49-F238E27FC236}">
                <a16:creationId xmlns:a16="http://schemas.microsoft.com/office/drawing/2014/main" id="{A49DC225-05B1-3A16-176B-3A705E53F057}"/>
              </a:ext>
            </a:extLst>
          </p:cNvPr>
          <p:cNvSpPr>
            <a:spLocks noGrp="1"/>
          </p:cNvSpPr>
          <p:nvPr>
            <p:ph idx="1"/>
          </p:nvPr>
        </p:nvSpPr>
        <p:spPr>
          <a:xfrm>
            <a:off x="838200" y="1138237"/>
            <a:ext cx="10515600" cy="5038725"/>
          </a:xfrm>
        </p:spPr>
        <p:txBody>
          <a:bodyPr>
            <a:normAutofit fontScale="70000" lnSpcReduction="20000"/>
          </a:bodyPr>
          <a:lstStyle/>
          <a:p>
            <a:r>
              <a:rPr lang="en-US" dirty="0"/>
              <a:t> Stream metabolism is governed by a suite of well-established drivers, with light serving as the primary control.</a:t>
            </a:r>
          </a:p>
          <a:p>
            <a:r>
              <a:rPr lang="en-US" dirty="0"/>
              <a:t>Disturbances such as floods can simultaneously alter multiple drivers, making them acute factor of lotic metabolism.</a:t>
            </a:r>
          </a:p>
          <a:p>
            <a:r>
              <a:rPr lang="en-US" dirty="0"/>
              <a:t>North Florida springs rank among the most productive and hydrologically stable flowing waters </a:t>
            </a:r>
            <a:r>
              <a:rPr lang="en-US" dirty="0" err="1"/>
              <a:t>globally.However</a:t>
            </a:r>
            <a:r>
              <a:rPr lang="en-US" dirty="0"/>
              <a:t>, these systems are increasingly experiencing disturbances that are shifting them from SAV-dominated states to filamentous algal dominance.</a:t>
            </a:r>
          </a:p>
          <a:p>
            <a:r>
              <a:rPr lang="en-US" dirty="0"/>
              <a:t>Many North Florida spring runs discharge into downstream tannic, blackwater rivers. During prolonged or intense precipitation events, rising river stages can generate backwater flood conditions.</a:t>
            </a:r>
          </a:p>
          <a:p>
            <a:r>
              <a:rPr lang="en-US" dirty="0"/>
              <a:t>Both typical floods and spring backwater floods drive shifts in the energetic and metabolic dynamics of flowing waters, with flow velocity representing a key distinction. In both scenarios, OM availability and light attenuation increase; however, typical floods are characterized by accelerated flow and elevated shear stress, whereas backwater floods involve reduced, stalled, or even reversed flow.</a:t>
            </a:r>
          </a:p>
          <a:p>
            <a:r>
              <a:rPr lang="en-US" b="1" dirty="0"/>
              <a:t>Objective: Improve understanding of the drivers governing spring metabolic regimes by examining metabolic responses (GPP and ER in addition to metabolic gas signals (DO and CO2) to backwater floods (brown outs and flow reversals). </a:t>
            </a:r>
          </a:p>
        </p:txBody>
      </p:sp>
    </p:spTree>
    <p:extLst>
      <p:ext uri="{BB962C8B-B14F-4D97-AF65-F5344CB8AC3E}">
        <p14:creationId xmlns:p14="http://schemas.microsoft.com/office/powerpoint/2010/main" val="1558830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ED9D2-3106-0B28-3A9D-851B8B068669}"/>
              </a:ext>
            </a:extLst>
          </p:cNvPr>
          <p:cNvSpPr>
            <a:spLocks noGrp="1"/>
          </p:cNvSpPr>
          <p:nvPr>
            <p:ph type="title"/>
          </p:nvPr>
        </p:nvSpPr>
        <p:spPr>
          <a:xfrm>
            <a:off x="838200" y="-177800"/>
            <a:ext cx="10515600" cy="1325563"/>
          </a:xfrm>
        </p:spPr>
        <p:txBody>
          <a:bodyPr/>
          <a:lstStyle/>
          <a:p>
            <a:r>
              <a:rPr lang="en-US" dirty="0"/>
              <a:t>Hypotheses</a:t>
            </a:r>
          </a:p>
        </p:txBody>
      </p:sp>
      <p:sp>
        <p:nvSpPr>
          <p:cNvPr id="3" name="Content Placeholder 2">
            <a:extLst>
              <a:ext uri="{FF2B5EF4-FFF2-40B4-BE49-F238E27FC236}">
                <a16:creationId xmlns:a16="http://schemas.microsoft.com/office/drawing/2014/main" id="{D2BF5743-0C48-8A64-13FC-F62B44AE6650}"/>
              </a:ext>
            </a:extLst>
          </p:cNvPr>
          <p:cNvSpPr>
            <a:spLocks noGrp="1"/>
          </p:cNvSpPr>
          <p:nvPr>
            <p:ph idx="1"/>
          </p:nvPr>
        </p:nvSpPr>
        <p:spPr>
          <a:xfrm>
            <a:off x="838200" y="1147763"/>
            <a:ext cx="10515600" cy="5029200"/>
          </a:xfrm>
        </p:spPr>
        <p:txBody>
          <a:bodyPr>
            <a:normAutofit/>
          </a:bodyPr>
          <a:lstStyle/>
          <a:p>
            <a:r>
              <a:rPr lang="en-US" dirty="0"/>
              <a:t>The spring metabolic signal will exhibit two breakpoints with depth: spring productivity will moderately decline with increasing stage and undergo a severe dropout at depths that trigger backwater flooding.</a:t>
            </a:r>
          </a:p>
          <a:p>
            <a:r>
              <a:rPr lang="en-US" dirty="0"/>
              <a:t>Less-disturbed spring runs will have greater tolerance for flood events, experiencing less severe metabolic impacts (shorter duration, smaller magnitude of change, resistance to change, and linear recovery trajectories) as well as faster recovery times compared to more frequently flooded spring runs. </a:t>
            </a:r>
          </a:p>
          <a:p>
            <a:r>
              <a:rPr lang="en-US" dirty="0"/>
              <a:t>Backwater floods produce lasting metabolic effects, with greater hysteresis observed in more disturbed spring runs.</a:t>
            </a:r>
          </a:p>
        </p:txBody>
      </p:sp>
    </p:spTree>
    <p:extLst>
      <p:ext uri="{BB962C8B-B14F-4D97-AF65-F5344CB8AC3E}">
        <p14:creationId xmlns:p14="http://schemas.microsoft.com/office/powerpoint/2010/main" val="1310853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E2BF0-78C9-20BE-6235-3B9D3617EF8A}"/>
              </a:ext>
            </a:extLst>
          </p:cNvPr>
          <p:cNvSpPr>
            <a:spLocks noGrp="1"/>
          </p:cNvSpPr>
          <p:nvPr>
            <p:ph type="title"/>
          </p:nvPr>
        </p:nvSpPr>
        <p:spPr/>
        <p:txBody>
          <a:bodyPr/>
          <a:lstStyle/>
          <a:p>
            <a:r>
              <a:rPr lang="en-US" dirty="0"/>
              <a:t>Methods:</a:t>
            </a:r>
          </a:p>
        </p:txBody>
      </p:sp>
      <p:sp>
        <p:nvSpPr>
          <p:cNvPr id="3" name="Content Placeholder 2">
            <a:extLst>
              <a:ext uri="{FF2B5EF4-FFF2-40B4-BE49-F238E27FC236}">
                <a16:creationId xmlns:a16="http://schemas.microsoft.com/office/drawing/2014/main" id="{E194F173-EC43-4AB6-0422-3F11C15E2434}"/>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956636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F3F43-44E6-3886-E1E2-3C0352E6C9A3}"/>
              </a:ext>
            </a:extLst>
          </p:cNvPr>
          <p:cNvSpPr>
            <a:spLocks noGrp="1"/>
          </p:cNvSpPr>
          <p:nvPr>
            <p:ph type="title"/>
          </p:nvPr>
        </p:nvSpPr>
        <p:spPr>
          <a:xfrm>
            <a:off x="838200" y="184805"/>
            <a:ext cx="10515600" cy="1505883"/>
          </a:xfrm>
        </p:spPr>
        <p:txBody>
          <a:bodyPr vert="horz" lIns="91440" tIns="45720" rIns="91440" bIns="45720" rtlCol="0" anchor="ctr">
            <a:normAutofit/>
          </a:bodyPr>
          <a:lstStyle/>
          <a:p>
            <a:pPr marL="514350" indent="-514350" algn="ctr"/>
            <a:r>
              <a:rPr lang="en-US" sz="3600" kern="1200">
                <a:solidFill>
                  <a:schemeClr val="tx1"/>
                </a:solidFill>
                <a:latin typeface="+mj-lt"/>
                <a:ea typeface="+mj-ea"/>
                <a:cs typeface="+mj-cs"/>
              </a:rPr>
              <a:t>Isolated flood events dependent on the slope of stage across three days</a:t>
            </a:r>
          </a:p>
        </p:txBody>
      </p:sp>
      <p:pic>
        <p:nvPicPr>
          <p:cNvPr id="5" name="Picture 4">
            <a:extLst>
              <a:ext uri="{FF2B5EF4-FFF2-40B4-BE49-F238E27FC236}">
                <a16:creationId xmlns:a16="http://schemas.microsoft.com/office/drawing/2014/main" id="{DDCB91A8-A12F-EBDA-23BB-FCC3C3A68A18}"/>
              </a:ext>
            </a:extLst>
          </p:cNvPr>
          <p:cNvPicPr>
            <a:picLocks noChangeAspect="1"/>
          </p:cNvPicPr>
          <p:nvPr/>
        </p:nvPicPr>
        <p:blipFill>
          <a:blip r:embed="rId2"/>
          <a:stretch>
            <a:fillRect/>
          </a:stretch>
        </p:blipFill>
        <p:spPr>
          <a:xfrm>
            <a:off x="141027" y="1804916"/>
            <a:ext cx="3138327" cy="1624084"/>
          </a:xfrm>
          <a:prstGeom prst="rect">
            <a:avLst/>
          </a:prstGeom>
        </p:spPr>
      </p:pic>
      <p:pic>
        <p:nvPicPr>
          <p:cNvPr id="4" name="Picture 3">
            <a:extLst>
              <a:ext uri="{FF2B5EF4-FFF2-40B4-BE49-F238E27FC236}">
                <a16:creationId xmlns:a16="http://schemas.microsoft.com/office/drawing/2014/main" id="{E26BB7DB-E39C-AA4C-BD01-ED8EAAE6939D}"/>
              </a:ext>
            </a:extLst>
          </p:cNvPr>
          <p:cNvPicPr>
            <a:picLocks noChangeAspect="1"/>
          </p:cNvPicPr>
          <p:nvPr/>
        </p:nvPicPr>
        <p:blipFill>
          <a:blip r:embed="rId3"/>
          <a:stretch>
            <a:fillRect/>
          </a:stretch>
        </p:blipFill>
        <p:spPr>
          <a:xfrm>
            <a:off x="3034178" y="1571980"/>
            <a:ext cx="8914437" cy="5347435"/>
          </a:xfrm>
          <a:prstGeom prst="rect">
            <a:avLst/>
          </a:prstGeom>
        </p:spPr>
      </p:pic>
    </p:spTree>
    <p:extLst>
      <p:ext uri="{BB962C8B-B14F-4D97-AF65-F5344CB8AC3E}">
        <p14:creationId xmlns:p14="http://schemas.microsoft.com/office/powerpoint/2010/main" val="3088814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A5C25D-7993-E6E2-9301-FFBD3610A14A}"/>
              </a:ext>
            </a:extLst>
          </p:cNvPr>
          <p:cNvPicPr>
            <a:picLocks noChangeAspect="1"/>
          </p:cNvPicPr>
          <p:nvPr/>
        </p:nvPicPr>
        <p:blipFill>
          <a:blip r:embed="rId2"/>
          <a:stretch>
            <a:fillRect/>
          </a:stretch>
        </p:blipFill>
        <p:spPr>
          <a:xfrm>
            <a:off x="212088" y="2064073"/>
            <a:ext cx="3458245" cy="4144178"/>
          </a:xfrm>
          <a:prstGeom prst="rect">
            <a:avLst/>
          </a:prstGeom>
        </p:spPr>
      </p:pic>
      <p:pic>
        <p:nvPicPr>
          <p:cNvPr id="9" name="Picture 8">
            <a:extLst>
              <a:ext uri="{FF2B5EF4-FFF2-40B4-BE49-F238E27FC236}">
                <a16:creationId xmlns:a16="http://schemas.microsoft.com/office/drawing/2014/main" id="{01BBE9F1-846E-D5A0-DB8C-7C97D1B2F483}"/>
              </a:ext>
            </a:extLst>
          </p:cNvPr>
          <p:cNvPicPr>
            <a:picLocks noChangeAspect="1"/>
          </p:cNvPicPr>
          <p:nvPr/>
        </p:nvPicPr>
        <p:blipFill>
          <a:blip r:embed="rId3"/>
          <a:stretch>
            <a:fillRect/>
          </a:stretch>
        </p:blipFill>
        <p:spPr>
          <a:xfrm>
            <a:off x="8238622" y="2054393"/>
            <a:ext cx="3705723" cy="4153858"/>
          </a:xfrm>
          <a:prstGeom prst="rect">
            <a:avLst/>
          </a:prstGeom>
        </p:spPr>
      </p:pic>
      <p:pic>
        <p:nvPicPr>
          <p:cNvPr id="11" name="Picture 10">
            <a:extLst>
              <a:ext uri="{FF2B5EF4-FFF2-40B4-BE49-F238E27FC236}">
                <a16:creationId xmlns:a16="http://schemas.microsoft.com/office/drawing/2014/main" id="{E4F05285-F5CC-7139-B72F-B7F3885B5F98}"/>
              </a:ext>
            </a:extLst>
          </p:cNvPr>
          <p:cNvPicPr>
            <a:picLocks noChangeAspect="1"/>
          </p:cNvPicPr>
          <p:nvPr/>
        </p:nvPicPr>
        <p:blipFill>
          <a:blip r:embed="rId4"/>
          <a:stretch>
            <a:fillRect/>
          </a:stretch>
        </p:blipFill>
        <p:spPr>
          <a:xfrm>
            <a:off x="4107044" y="2054393"/>
            <a:ext cx="3694867" cy="4153858"/>
          </a:xfrm>
          <a:prstGeom prst="rect">
            <a:avLst/>
          </a:prstGeom>
        </p:spPr>
      </p:pic>
      <p:sp>
        <p:nvSpPr>
          <p:cNvPr id="12" name="Title 1">
            <a:extLst>
              <a:ext uri="{FF2B5EF4-FFF2-40B4-BE49-F238E27FC236}">
                <a16:creationId xmlns:a16="http://schemas.microsoft.com/office/drawing/2014/main" id="{A41DA8BD-B482-592D-CB5E-451E8A1DFBF6}"/>
              </a:ext>
            </a:extLst>
          </p:cNvPr>
          <p:cNvSpPr>
            <a:spLocks noGrp="1"/>
          </p:cNvSpPr>
          <p:nvPr>
            <p:ph type="title"/>
          </p:nvPr>
        </p:nvSpPr>
        <p:spPr>
          <a:xfrm>
            <a:off x="838200" y="184805"/>
            <a:ext cx="10515600" cy="1505883"/>
          </a:xfrm>
        </p:spPr>
        <p:txBody>
          <a:bodyPr vert="horz" lIns="91440" tIns="45720" rIns="91440" bIns="45720" rtlCol="0" anchor="ctr">
            <a:normAutofit/>
          </a:bodyPr>
          <a:lstStyle/>
          <a:p>
            <a:pPr algn="ctr"/>
            <a:r>
              <a:rPr lang="en-US" sz="3600"/>
              <a:t>Parsed floods into HI, BO, or FR dependent on SpC, pH, and DO reaction</a:t>
            </a:r>
          </a:p>
        </p:txBody>
      </p:sp>
      <p:sp>
        <p:nvSpPr>
          <p:cNvPr id="13" name="Title 1">
            <a:extLst>
              <a:ext uri="{FF2B5EF4-FFF2-40B4-BE49-F238E27FC236}">
                <a16:creationId xmlns:a16="http://schemas.microsoft.com/office/drawing/2014/main" id="{C2378AB8-92BC-F8E8-9B0E-F9C2DB8F123A}"/>
              </a:ext>
            </a:extLst>
          </p:cNvPr>
          <p:cNvSpPr txBox="1">
            <a:spLocks/>
          </p:cNvSpPr>
          <p:nvPr/>
        </p:nvSpPr>
        <p:spPr>
          <a:xfrm>
            <a:off x="368624" y="1690688"/>
            <a:ext cx="3145172" cy="6148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a:t>Flow Reversal</a:t>
            </a:r>
          </a:p>
        </p:txBody>
      </p:sp>
      <p:sp>
        <p:nvSpPr>
          <p:cNvPr id="14" name="Title 1">
            <a:extLst>
              <a:ext uri="{FF2B5EF4-FFF2-40B4-BE49-F238E27FC236}">
                <a16:creationId xmlns:a16="http://schemas.microsoft.com/office/drawing/2014/main" id="{CA31FD5E-DE21-F94A-91AB-AB3C07D536E3}"/>
              </a:ext>
            </a:extLst>
          </p:cNvPr>
          <p:cNvSpPr txBox="1">
            <a:spLocks/>
          </p:cNvSpPr>
          <p:nvPr/>
        </p:nvSpPr>
        <p:spPr>
          <a:xfrm>
            <a:off x="4263581" y="1690688"/>
            <a:ext cx="3145172" cy="6148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a:t>Brown Out</a:t>
            </a:r>
          </a:p>
        </p:txBody>
      </p:sp>
      <p:sp>
        <p:nvSpPr>
          <p:cNvPr id="15" name="Title 1">
            <a:extLst>
              <a:ext uri="{FF2B5EF4-FFF2-40B4-BE49-F238E27FC236}">
                <a16:creationId xmlns:a16="http://schemas.microsoft.com/office/drawing/2014/main" id="{9570FF92-057B-A37E-34A9-C8970476AF1C}"/>
              </a:ext>
            </a:extLst>
          </p:cNvPr>
          <p:cNvSpPr txBox="1">
            <a:spLocks/>
          </p:cNvSpPr>
          <p:nvPr/>
        </p:nvSpPr>
        <p:spPr>
          <a:xfrm>
            <a:off x="8426632" y="1690687"/>
            <a:ext cx="3145172" cy="6148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a:t>High Stage</a:t>
            </a:r>
          </a:p>
        </p:txBody>
      </p:sp>
    </p:spTree>
    <p:extLst>
      <p:ext uri="{BB962C8B-B14F-4D97-AF65-F5344CB8AC3E}">
        <p14:creationId xmlns:p14="http://schemas.microsoft.com/office/powerpoint/2010/main" val="488309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8F445-2D35-3E36-33B9-7188CE7F2EC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8F6FF082-F8A4-B891-D36C-257BAD41F226}"/>
              </a:ext>
            </a:extLst>
          </p:cNvPr>
          <p:cNvSpPr>
            <a:spLocks noGrp="1"/>
          </p:cNvSpPr>
          <p:nvPr>
            <p:ph type="title"/>
          </p:nvPr>
        </p:nvSpPr>
        <p:spPr>
          <a:xfrm>
            <a:off x="838200" y="184805"/>
            <a:ext cx="10515600" cy="1505883"/>
          </a:xfrm>
        </p:spPr>
        <p:txBody>
          <a:bodyPr vert="horz" lIns="91440" tIns="45720" rIns="91440" bIns="45720" rtlCol="0" anchor="ctr">
            <a:normAutofit fontScale="90000"/>
          </a:bodyPr>
          <a:lstStyle/>
          <a:p>
            <a:pPr algn="ctr"/>
            <a:r>
              <a:rPr lang="en-US" sz="3600"/>
              <a:t>Different variables peak and recover at different times which is cool but requires trimming… and I am working on reproducible method</a:t>
            </a:r>
          </a:p>
        </p:txBody>
      </p:sp>
      <p:sp>
        <p:nvSpPr>
          <p:cNvPr id="13" name="Title 1">
            <a:extLst>
              <a:ext uri="{FF2B5EF4-FFF2-40B4-BE49-F238E27FC236}">
                <a16:creationId xmlns:a16="http://schemas.microsoft.com/office/drawing/2014/main" id="{ADEF481A-040D-82C5-3D98-FE2D4AEE50D3}"/>
              </a:ext>
            </a:extLst>
          </p:cNvPr>
          <p:cNvSpPr txBox="1">
            <a:spLocks/>
          </p:cNvSpPr>
          <p:nvPr/>
        </p:nvSpPr>
        <p:spPr>
          <a:xfrm>
            <a:off x="462968" y="1075858"/>
            <a:ext cx="3145172" cy="6148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a:t>Flow Reversal</a:t>
            </a:r>
          </a:p>
        </p:txBody>
      </p:sp>
      <p:sp>
        <p:nvSpPr>
          <p:cNvPr id="14" name="Title 1">
            <a:extLst>
              <a:ext uri="{FF2B5EF4-FFF2-40B4-BE49-F238E27FC236}">
                <a16:creationId xmlns:a16="http://schemas.microsoft.com/office/drawing/2014/main" id="{4A844B5F-4F17-0AFA-05CF-6D7E5DD645B2}"/>
              </a:ext>
            </a:extLst>
          </p:cNvPr>
          <p:cNvSpPr txBox="1">
            <a:spLocks/>
          </p:cNvSpPr>
          <p:nvPr/>
        </p:nvSpPr>
        <p:spPr>
          <a:xfrm>
            <a:off x="4523414" y="1488313"/>
            <a:ext cx="3145172" cy="6148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a:t>Brown Out</a:t>
            </a:r>
          </a:p>
        </p:txBody>
      </p:sp>
      <p:sp>
        <p:nvSpPr>
          <p:cNvPr id="15" name="Title 1">
            <a:extLst>
              <a:ext uri="{FF2B5EF4-FFF2-40B4-BE49-F238E27FC236}">
                <a16:creationId xmlns:a16="http://schemas.microsoft.com/office/drawing/2014/main" id="{74B376BF-5B68-8835-8511-EBC61D8DB6B3}"/>
              </a:ext>
            </a:extLst>
          </p:cNvPr>
          <p:cNvSpPr txBox="1">
            <a:spLocks/>
          </p:cNvSpPr>
          <p:nvPr/>
        </p:nvSpPr>
        <p:spPr>
          <a:xfrm>
            <a:off x="8690192" y="1439564"/>
            <a:ext cx="3145172" cy="6148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a:t>High Stage</a:t>
            </a:r>
          </a:p>
        </p:txBody>
      </p:sp>
      <p:pic>
        <p:nvPicPr>
          <p:cNvPr id="3" name="Picture 2">
            <a:extLst>
              <a:ext uri="{FF2B5EF4-FFF2-40B4-BE49-F238E27FC236}">
                <a16:creationId xmlns:a16="http://schemas.microsoft.com/office/drawing/2014/main" id="{CFBCD3F1-51B1-C136-751C-76ED5445498B}"/>
              </a:ext>
            </a:extLst>
          </p:cNvPr>
          <p:cNvPicPr>
            <a:picLocks noChangeAspect="1"/>
          </p:cNvPicPr>
          <p:nvPr/>
        </p:nvPicPr>
        <p:blipFill>
          <a:blip r:embed="rId3"/>
          <a:stretch>
            <a:fillRect/>
          </a:stretch>
        </p:blipFill>
        <p:spPr>
          <a:xfrm>
            <a:off x="861927" y="1508925"/>
            <a:ext cx="2347377" cy="3811080"/>
          </a:xfrm>
          <a:prstGeom prst="rect">
            <a:avLst/>
          </a:prstGeom>
        </p:spPr>
      </p:pic>
      <p:pic>
        <p:nvPicPr>
          <p:cNvPr id="6" name="Picture 5">
            <a:extLst>
              <a:ext uri="{FF2B5EF4-FFF2-40B4-BE49-F238E27FC236}">
                <a16:creationId xmlns:a16="http://schemas.microsoft.com/office/drawing/2014/main" id="{47B31A49-B0EF-8B33-8BEC-46E6FAA5B104}"/>
              </a:ext>
            </a:extLst>
          </p:cNvPr>
          <p:cNvPicPr>
            <a:picLocks noChangeAspect="1"/>
          </p:cNvPicPr>
          <p:nvPr/>
        </p:nvPicPr>
        <p:blipFill>
          <a:blip r:embed="rId4"/>
          <a:stretch>
            <a:fillRect/>
          </a:stretch>
        </p:blipFill>
        <p:spPr>
          <a:xfrm>
            <a:off x="9106491" y="1870988"/>
            <a:ext cx="2099279" cy="3432321"/>
          </a:xfrm>
          <a:prstGeom prst="rect">
            <a:avLst/>
          </a:prstGeom>
        </p:spPr>
      </p:pic>
      <p:pic>
        <p:nvPicPr>
          <p:cNvPr id="8" name="Picture 7">
            <a:extLst>
              <a:ext uri="{FF2B5EF4-FFF2-40B4-BE49-F238E27FC236}">
                <a16:creationId xmlns:a16="http://schemas.microsoft.com/office/drawing/2014/main" id="{62BB6141-2C45-5755-C4E3-24B145122771}"/>
              </a:ext>
            </a:extLst>
          </p:cNvPr>
          <p:cNvPicPr>
            <a:picLocks noChangeAspect="1"/>
          </p:cNvPicPr>
          <p:nvPr/>
        </p:nvPicPr>
        <p:blipFill>
          <a:blip r:embed="rId5"/>
          <a:stretch>
            <a:fillRect/>
          </a:stretch>
        </p:blipFill>
        <p:spPr>
          <a:xfrm>
            <a:off x="5157477" y="1870123"/>
            <a:ext cx="2133364" cy="3548313"/>
          </a:xfrm>
          <a:prstGeom prst="rect">
            <a:avLst/>
          </a:prstGeom>
        </p:spPr>
      </p:pic>
      <p:sp>
        <p:nvSpPr>
          <p:cNvPr id="2" name="Title 1">
            <a:extLst>
              <a:ext uri="{FF2B5EF4-FFF2-40B4-BE49-F238E27FC236}">
                <a16:creationId xmlns:a16="http://schemas.microsoft.com/office/drawing/2014/main" id="{D9205ED8-54E6-0AD9-7A07-8765664AD650}"/>
              </a:ext>
            </a:extLst>
          </p:cNvPr>
          <p:cNvSpPr txBox="1">
            <a:spLocks/>
          </p:cNvSpPr>
          <p:nvPr/>
        </p:nvSpPr>
        <p:spPr>
          <a:xfrm>
            <a:off x="861927" y="5418436"/>
            <a:ext cx="10515600" cy="150588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t>Right now, I use the variable/max(variable) pre flood and trim the flood periods that cross the 0.95 threshold</a:t>
            </a:r>
          </a:p>
        </p:txBody>
      </p:sp>
    </p:spTree>
    <p:extLst>
      <p:ext uri="{BB962C8B-B14F-4D97-AF65-F5344CB8AC3E}">
        <p14:creationId xmlns:p14="http://schemas.microsoft.com/office/powerpoint/2010/main" val="4000905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CEC35-5AB5-7176-EEF8-DF255F692F4D}"/>
              </a:ext>
            </a:extLst>
          </p:cNvPr>
          <p:cNvSpPr>
            <a:spLocks noGrp="1"/>
          </p:cNvSpPr>
          <p:nvPr>
            <p:ph type="title"/>
          </p:nvPr>
        </p:nvSpPr>
        <p:spPr>
          <a:xfrm>
            <a:off x="838200" y="-272549"/>
            <a:ext cx="10515600" cy="1325563"/>
          </a:xfrm>
        </p:spPr>
        <p:txBody>
          <a:bodyPr/>
          <a:lstStyle/>
          <a:p>
            <a:r>
              <a:rPr lang="en-US"/>
              <a:t>some examples…</a:t>
            </a:r>
          </a:p>
        </p:txBody>
      </p:sp>
      <p:pic>
        <p:nvPicPr>
          <p:cNvPr id="5" name="Picture 4">
            <a:extLst>
              <a:ext uri="{FF2B5EF4-FFF2-40B4-BE49-F238E27FC236}">
                <a16:creationId xmlns:a16="http://schemas.microsoft.com/office/drawing/2014/main" id="{78FBB1E0-4C74-0090-4327-86DED16BACA1}"/>
              </a:ext>
            </a:extLst>
          </p:cNvPr>
          <p:cNvPicPr>
            <a:picLocks noChangeAspect="1"/>
          </p:cNvPicPr>
          <p:nvPr/>
        </p:nvPicPr>
        <p:blipFill>
          <a:blip r:embed="rId3"/>
          <a:stretch>
            <a:fillRect/>
          </a:stretch>
        </p:blipFill>
        <p:spPr>
          <a:xfrm>
            <a:off x="609360" y="938463"/>
            <a:ext cx="6480573" cy="4182704"/>
          </a:xfrm>
          <a:prstGeom prst="rect">
            <a:avLst/>
          </a:prstGeom>
        </p:spPr>
      </p:pic>
      <p:sp>
        <p:nvSpPr>
          <p:cNvPr id="6" name="TextBox 5">
            <a:extLst>
              <a:ext uri="{FF2B5EF4-FFF2-40B4-BE49-F238E27FC236}">
                <a16:creationId xmlns:a16="http://schemas.microsoft.com/office/drawing/2014/main" id="{6C482C74-5FE1-A405-F8C2-70990C3BB869}"/>
              </a:ext>
            </a:extLst>
          </p:cNvPr>
          <p:cNvSpPr txBox="1"/>
          <p:nvPr/>
        </p:nvSpPr>
        <p:spPr>
          <a:xfrm rot="1275945">
            <a:off x="1028700" y="1528762"/>
            <a:ext cx="842963" cy="369332"/>
          </a:xfrm>
          <a:prstGeom prst="rect">
            <a:avLst/>
          </a:prstGeom>
          <a:noFill/>
        </p:spPr>
        <p:txBody>
          <a:bodyPr wrap="square" rtlCol="0">
            <a:spAutoFit/>
          </a:bodyPr>
          <a:lstStyle/>
          <a:p>
            <a:r>
              <a:rPr lang="en-US" b="1">
                <a:solidFill>
                  <a:srgbClr val="FF0000"/>
                </a:solidFill>
              </a:rPr>
              <a:t>rise</a:t>
            </a:r>
          </a:p>
        </p:txBody>
      </p:sp>
      <p:sp>
        <p:nvSpPr>
          <p:cNvPr id="7" name="TextBox 6">
            <a:extLst>
              <a:ext uri="{FF2B5EF4-FFF2-40B4-BE49-F238E27FC236}">
                <a16:creationId xmlns:a16="http://schemas.microsoft.com/office/drawing/2014/main" id="{F311BF70-01CB-48CD-B257-F7F0EE22E903}"/>
              </a:ext>
            </a:extLst>
          </p:cNvPr>
          <p:cNvSpPr txBox="1"/>
          <p:nvPr/>
        </p:nvSpPr>
        <p:spPr>
          <a:xfrm rot="20818533">
            <a:off x="1940716" y="1430549"/>
            <a:ext cx="842963" cy="369332"/>
          </a:xfrm>
          <a:prstGeom prst="rect">
            <a:avLst/>
          </a:prstGeom>
          <a:noFill/>
        </p:spPr>
        <p:txBody>
          <a:bodyPr wrap="square" rtlCol="0">
            <a:spAutoFit/>
          </a:bodyPr>
          <a:lstStyle/>
          <a:p>
            <a:r>
              <a:rPr lang="en-US" b="1">
                <a:solidFill>
                  <a:srgbClr val="FF0000"/>
                </a:solidFill>
              </a:rPr>
              <a:t>rise</a:t>
            </a:r>
          </a:p>
        </p:txBody>
      </p:sp>
      <p:sp>
        <p:nvSpPr>
          <p:cNvPr id="8" name="TextBox 7">
            <a:extLst>
              <a:ext uri="{FF2B5EF4-FFF2-40B4-BE49-F238E27FC236}">
                <a16:creationId xmlns:a16="http://schemas.microsoft.com/office/drawing/2014/main" id="{8F320759-450C-61CD-F243-720C3E2DCD1D}"/>
              </a:ext>
            </a:extLst>
          </p:cNvPr>
          <p:cNvSpPr txBox="1"/>
          <p:nvPr/>
        </p:nvSpPr>
        <p:spPr>
          <a:xfrm>
            <a:off x="1448040" y="1992750"/>
            <a:ext cx="842963" cy="369332"/>
          </a:xfrm>
          <a:prstGeom prst="rect">
            <a:avLst/>
          </a:prstGeom>
          <a:noFill/>
        </p:spPr>
        <p:txBody>
          <a:bodyPr wrap="square" rtlCol="0">
            <a:spAutoFit/>
          </a:bodyPr>
          <a:lstStyle/>
          <a:p>
            <a:r>
              <a:rPr lang="en-US" b="1">
                <a:solidFill>
                  <a:srgbClr val="FF0000"/>
                </a:solidFill>
              </a:rPr>
              <a:t>peak</a:t>
            </a:r>
          </a:p>
        </p:txBody>
      </p:sp>
      <p:sp>
        <p:nvSpPr>
          <p:cNvPr id="10" name="Right Brace 9">
            <a:extLst>
              <a:ext uri="{FF2B5EF4-FFF2-40B4-BE49-F238E27FC236}">
                <a16:creationId xmlns:a16="http://schemas.microsoft.com/office/drawing/2014/main" id="{F26DF0EE-5E18-4247-4BC5-4116509EEAAF}"/>
              </a:ext>
            </a:extLst>
          </p:cNvPr>
          <p:cNvSpPr/>
          <p:nvPr/>
        </p:nvSpPr>
        <p:spPr>
          <a:xfrm rot="16200000">
            <a:off x="1602490" y="2896"/>
            <a:ext cx="447675" cy="197625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2E803713-036C-B9E6-739E-535488F18364}"/>
              </a:ext>
            </a:extLst>
          </p:cNvPr>
          <p:cNvSpPr txBox="1"/>
          <p:nvPr/>
        </p:nvSpPr>
        <p:spPr>
          <a:xfrm>
            <a:off x="1342102" y="484172"/>
            <a:ext cx="1135678" cy="369332"/>
          </a:xfrm>
          <a:prstGeom prst="rect">
            <a:avLst/>
          </a:prstGeom>
          <a:noFill/>
        </p:spPr>
        <p:txBody>
          <a:bodyPr wrap="square" rtlCol="0">
            <a:spAutoFit/>
          </a:bodyPr>
          <a:lstStyle/>
          <a:p>
            <a:r>
              <a:rPr lang="en-US" b="1">
                <a:solidFill>
                  <a:srgbClr val="FF0000"/>
                </a:solidFill>
              </a:rPr>
              <a:t>duration</a:t>
            </a:r>
          </a:p>
        </p:txBody>
      </p:sp>
      <p:sp>
        <p:nvSpPr>
          <p:cNvPr id="12" name="TextBox 11">
            <a:extLst>
              <a:ext uri="{FF2B5EF4-FFF2-40B4-BE49-F238E27FC236}">
                <a16:creationId xmlns:a16="http://schemas.microsoft.com/office/drawing/2014/main" id="{F1891E2B-95B1-048D-860D-288E3F933B54}"/>
              </a:ext>
            </a:extLst>
          </p:cNvPr>
          <p:cNvSpPr txBox="1"/>
          <p:nvPr/>
        </p:nvSpPr>
        <p:spPr>
          <a:xfrm>
            <a:off x="77525" y="554933"/>
            <a:ext cx="1453038" cy="338554"/>
          </a:xfrm>
          <a:prstGeom prst="rect">
            <a:avLst/>
          </a:prstGeom>
          <a:noFill/>
        </p:spPr>
        <p:txBody>
          <a:bodyPr wrap="square" rtlCol="0">
            <a:spAutoFit/>
          </a:bodyPr>
          <a:lstStyle/>
          <a:p>
            <a:pPr algn="r"/>
            <a:r>
              <a:rPr lang="en-US" sz="800"/>
              <a:t>Just length of days but I can pull date range if necessary</a:t>
            </a:r>
          </a:p>
        </p:txBody>
      </p:sp>
      <p:sp>
        <p:nvSpPr>
          <p:cNvPr id="13" name="TextBox 12">
            <a:extLst>
              <a:ext uri="{FF2B5EF4-FFF2-40B4-BE49-F238E27FC236}">
                <a16:creationId xmlns:a16="http://schemas.microsoft.com/office/drawing/2014/main" id="{5D88B198-CA78-DA05-3CE4-F47049741807}"/>
              </a:ext>
            </a:extLst>
          </p:cNvPr>
          <p:cNvSpPr txBox="1"/>
          <p:nvPr/>
        </p:nvSpPr>
        <p:spPr>
          <a:xfrm>
            <a:off x="776287" y="2008139"/>
            <a:ext cx="792107" cy="215444"/>
          </a:xfrm>
          <a:prstGeom prst="rect">
            <a:avLst/>
          </a:prstGeom>
          <a:noFill/>
        </p:spPr>
        <p:txBody>
          <a:bodyPr wrap="square" rtlCol="0">
            <a:spAutoFit/>
          </a:bodyPr>
          <a:lstStyle/>
          <a:p>
            <a:pPr algn="r"/>
            <a:r>
              <a:rPr lang="en-US" sz="800"/>
              <a:t>Date, number</a:t>
            </a:r>
          </a:p>
        </p:txBody>
      </p:sp>
      <p:sp>
        <p:nvSpPr>
          <p:cNvPr id="14" name="TextBox 13">
            <a:extLst>
              <a:ext uri="{FF2B5EF4-FFF2-40B4-BE49-F238E27FC236}">
                <a16:creationId xmlns:a16="http://schemas.microsoft.com/office/drawing/2014/main" id="{654D2483-9315-0148-D703-37C5C7172E61}"/>
              </a:ext>
            </a:extLst>
          </p:cNvPr>
          <p:cNvSpPr txBox="1"/>
          <p:nvPr/>
        </p:nvSpPr>
        <p:spPr>
          <a:xfrm>
            <a:off x="27043" y="1380667"/>
            <a:ext cx="792107" cy="461665"/>
          </a:xfrm>
          <a:prstGeom prst="rect">
            <a:avLst/>
          </a:prstGeom>
          <a:noFill/>
        </p:spPr>
        <p:txBody>
          <a:bodyPr wrap="square" rtlCol="0">
            <a:spAutoFit/>
          </a:bodyPr>
          <a:lstStyle/>
          <a:p>
            <a:pPr algn="r"/>
            <a:r>
              <a:rPr lang="en-US" sz="800"/>
              <a:t>Slope, intercept, solve for days</a:t>
            </a:r>
          </a:p>
        </p:txBody>
      </p:sp>
      <p:pic>
        <p:nvPicPr>
          <p:cNvPr id="16" name="Picture 15">
            <a:extLst>
              <a:ext uri="{FF2B5EF4-FFF2-40B4-BE49-F238E27FC236}">
                <a16:creationId xmlns:a16="http://schemas.microsoft.com/office/drawing/2014/main" id="{A7E04592-D557-00E4-3DD8-38354DA4F49A}"/>
              </a:ext>
            </a:extLst>
          </p:cNvPr>
          <p:cNvPicPr>
            <a:picLocks noChangeAspect="1"/>
          </p:cNvPicPr>
          <p:nvPr/>
        </p:nvPicPr>
        <p:blipFill>
          <a:blip r:embed="rId4"/>
          <a:stretch>
            <a:fillRect/>
          </a:stretch>
        </p:blipFill>
        <p:spPr>
          <a:xfrm>
            <a:off x="7593834" y="608193"/>
            <a:ext cx="3455162" cy="2563851"/>
          </a:xfrm>
          <a:prstGeom prst="rect">
            <a:avLst/>
          </a:prstGeom>
        </p:spPr>
      </p:pic>
      <p:pic>
        <p:nvPicPr>
          <p:cNvPr id="18" name="Picture 17">
            <a:extLst>
              <a:ext uri="{FF2B5EF4-FFF2-40B4-BE49-F238E27FC236}">
                <a16:creationId xmlns:a16="http://schemas.microsoft.com/office/drawing/2014/main" id="{6DFFD9D1-2811-0082-51CF-FAFED58C4E8D}"/>
              </a:ext>
            </a:extLst>
          </p:cNvPr>
          <p:cNvPicPr>
            <a:picLocks noChangeAspect="1"/>
          </p:cNvPicPr>
          <p:nvPr/>
        </p:nvPicPr>
        <p:blipFill>
          <a:blip r:embed="rId5"/>
          <a:stretch>
            <a:fillRect/>
          </a:stretch>
        </p:blipFill>
        <p:spPr>
          <a:xfrm>
            <a:off x="7131923" y="3630504"/>
            <a:ext cx="4221877" cy="2981325"/>
          </a:xfrm>
          <a:prstGeom prst="rect">
            <a:avLst/>
          </a:prstGeom>
        </p:spPr>
      </p:pic>
    </p:spTree>
    <p:extLst>
      <p:ext uri="{BB962C8B-B14F-4D97-AF65-F5344CB8AC3E}">
        <p14:creationId xmlns:p14="http://schemas.microsoft.com/office/powerpoint/2010/main" val="239099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8868FA0-31A5-61F6-6976-B3942069D666}"/>
              </a:ext>
            </a:extLst>
          </p:cNvPr>
          <p:cNvSpPr>
            <a:spLocks noGrp="1"/>
          </p:cNvSpPr>
          <p:nvPr>
            <p:ph type="title"/>
          </p:nvPr>
        </p:nvSpPr>
        <p:spPr>
          <a:xfrm>
            <a:off x="297656" y="199031"/>
            <a:ext cx="11668125" cy="645149"/>
          </a:xfrm>
        </p:spPr>
        <p:txBody>
          <a:bodyPr>
            <a:noAutofit/>
          </a:bodyPr>
          <a:lstStyle/>
          <a:p>
            <a:pPr algn="ctr"/>
            <a:r>
              <a:rPr lang="en-US" sz="2000" b="1" dirty="0"/>
              <a:t>Results: </a:t>
            </a:r>
            <a:r>
              <a:rPr lang="en-US" sz="2000" i="1" dirty="0"/>
              <a:t>The spring metabolic signal will exhibit two breakpoints with depth: spring productivity will moderately decline with increasing stage and undergo a severe dropout at depths that trigger backwater flooding.</a:t>
            </a:r>
            <a:br>
              <a:rPr lang="en-US" sz="2000" i="1" dirty="0"/>
            </a:br>
            <a:endParaRPr lang="en-US" sz="2000" i="1" dirty="0"/>
          </a:p>
        </p:txBody>
      </p:sp>
      <p:pic>
        <p:nvPicPr>
          <p:cNvPr id="6" name="Picture 5">
            <a:extLst>
              <a:ext uri="{FF2B5EF4-FFF2-40B4-BE49-F238E27FC236}">
                <a16:creationId xmlns:a16="http://schemas.microsoft.com/office/drawing/2014/main" id="{AE66B180-0F9F-C026-4C11-C0961F388D73}"/>
              </a:ext>
            </a:extLst>
          </p:cNvPr>
          <p:cNvPicPr>
            <a:picLocks noChangeAspect="1"/>
          </p:cNvPicPr>
          <p:nvPr/>
        </p:nvPicPr>
        <p:blipFill>
          <a:blip r:embed="rId2"/>
          <a:srcRect l="541" t="892"/>
          <a:stretch>
            <a:fillRect/>
          </a:stretch>
        </p:blipFill>
        <p:spPr>
          <a:xfrm>
            <a:off x="1981201" y="719214"/>
            <a:ext cx="8829674" cy="6061617"/>
          </a:xfrm>
          <a:prstGeom prst="rect">
            <a:avLst/>
          </a:prstGeom>
        </p:spPr>
      </p:pic>
    </p:spTree>
    <p:extLst>
      <p:ext uri="{BB962C8B-B14F-4D97-AF65-F5344CB8AC3E}">
        <p14:creationId xmlns:p14="http://schemas.microsoft.com/office/powerpoint/2010/main" val="3801090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8151C-0FBA-0F3E-09F2-188B94C5A694}"/>
              </a:ext>
            </a:extLst>
          </p:cNvPr>
          <p:cNvSpPr>
            <a:spLocks noGrp="1"/>
          </p:cNvSpPr>
          <p:nvPr>
            <p:ph type="title"/>
          </p:nvPr>
        </p:nvSpPr>
        <p:spPr>
          <a:xfrm>
            <a:off x="297656" y="199031"/>
            <a:ext cx="11668125" cy="645149"/>
          </a:xfrm>
        </p:spPr>
        <p:txBody>
          <a:bodyPr>
            <a:noAutofit/>
          </a:bodyPr>
          <a:lstStyle/>
          <a:p>
            <a:pPr algn="ctr"/>
            <a:r>
              <a:rPr lang="en-US" sz="2000" b="1" dirty="0"/>
              <a:t>Results: </a:t>
            </a:r>
            <a:r>
              <a:rPr lang="en-US" sz="2000" i="1" dirty="0"/>
              <a:t>The spring metabolic signal will exhibit two breakpoints with depth: spring productivity will moderately decline with increasing stage and undergo a severe dropout at depths that trigger backwater flooding.</a:t>
            </a:r>
            <a:br>
              <a:rPr lang="en-US" sz="2000" i="1" dirty="0"/>
            </a:br>
            <a:endParaRPr lang="en-US" sz="2000" i="1" dirty="0"/>
          </a:p>
        </p:txBody>
      </p:sp>
      <p:grpSp>
        <p:nvGrpSpPr>
          <p:cNvPr id="14" name="Group 13">
            <a:extLst>
              <a:ext uri="{FF2B5EF4-FFF2-40B4-BE49-F238E27FC236}">
                <a16:creationId xmlns:a16="http://schemas.microsoft.com/office/drawing/2014/main" id="{0690E074-BA2A-36AA-AD28-64FAA4B0241A}"/>
              </a:ext>
            </a:extLst>
          </p:cNvPr>
          <p:cNvGrpSpPr/>
          <p:nvPr/>
        </p:nvGrpSpPr>
        <p:grpSpPr>
          <a:xfrm>
            <a:off x="702231" y="4088370"/>
            <a:ext cx="2914651" cy="2124073"/>
            <a:chOff x="542925" y="2847975"/>
            <a:chExt cx="1276350" cy="1095375"/>
          </a:xfrm>
        </p:grpSpPr>
        <p:cxnSp>
          <p:nvCxnSpPr>
            <p:cNvPr id="15" name="Straight Arrow Connector 14">
              <a:extLst>
                <a:ext uri="{FF2B5EF4-FFF2-40B4-BE49-F238E27FC236}">
                  <a16:creationId xmlns:a16="http://schemas.microsoft.com/office/drawing/2014/main" id="{BE1FE13F-F57B-3101-4239-AA290D96F739}"/>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16AC7F03-2101-643C-7650-015F0972DE7D}"/>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26" name="Group 25">
            <a:extLst>
              <a:ext uri="{FF2B5EF4-FFF2-40B4-BE49-F238E27FC236}">
                <a16:creationId xmlns:a16="http://schemas.microsoft.com/office/drawing/2014/main" id="{324A7390-4B45-0D86-31F9-F3E60235E6EA}"/>
              </a:ext>
            </a:extLst>
          </p:cNvPr>
          <p:cNvGrpSpPr/>
          <p:nvPr/>
        </p:nvGrpSpPr>
        <p:grpSpPr>
          <a:xfrm>
            <a:off x="718303" y="1406701"/>
            <a:ext cx="2914651" cy="2124073"/>
            <a:chOff x="542925" y="2847975"/>
            <a:chExt cx="1276350" cy="1095375"/>
          </a:xfrm>
        </p:grpSpPr>
        <p:cxnSp>
          <p:nvCxnSpPr>
            <p:cNvPr id="27" name="Straight Arrow Connector 26">
              <a:extLst>
                <a:ext uri="{FF2B5EF4-FFF2-40B4-BE49-F238E27FC236}">
                  <a16:creationId xmlns:a16="http://schemas.microsoft.com/office/drawing/2014/main" id="{2A0EBAF5-3FF1-22BB-BC89-12AEB9321F51}"/>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9D71322F-AD68-BE3A-0CC0-BF9A850A579B}"/>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42" name="Group 41">
            <a:extLst>
              <a:ext uri="{FF2B5EF4-FFF2-40B4-BE49-F238E27FC236}">
                <a16:creationId xmlns:a16="http://schemas.microsoft.com/office/drawing/2014/main" id="{3397FE37-54EB-DAE8-C230-14945260D0EB}"/>
              </a:ext>
            </a:extLst>
          </p:cNvPr>
          <p:cNvGrpSpPr/>
          <p:nvPr/>
        </p:nvGrpSpPr>
        <p:grpSpPr>
          <a:xfrm>
            <a:off x="985003" y="2063528"/>
            <a:ext cx="2302669" cy="1123290"/>
            <a:chOff x="1038225" y="2495550"/>
            <a:chExt cx="2302669" cy="1123290"/>
          </a:xfrm>
        </p:grpSpPr>
        <p:cxnSp>
          <p:nvCxnSpPr>
            <p:cNvPr id="30" name="Straight Connector 29">
              <a:extLst>
                <a:ext uri="{FF2B5EF4-FFF2-40B4-BE49-F238E27FC236}">
                  <a16:creationId xmlns:a16="http://schemas.microsoft.com/office/drawing/2014/main" id="{220E5FEE-AD4D-6930-8BDC-C67BE9CB3DB7}"/>
                </a:ext>
              </a:extLst>
            </p:cNvPr>
            <p:cNvCxnSpPr>
              <a:cxnSpLocks/>
            </p:cNvCxnSpPr>
            <p:nvPr/>
          </p:nvCxnSpPr>
          <p:spPr>
            <a:xfrm>
              <a:off x="1038225" y="2495550"/>
              <a:ext cx="1185863" cy="194076"/>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B253FB6-85F4-1FB6-004D-B77499993A61}"/>
                </a:ext>
              </a:extLst>
            </p:cNvPr>
            <p:cNvCxnSpPr>
              <a:cxnSpLocks/>
            </p:cNvCxnSpPr>
            <p:nvPr/>
          </p:nvCxnSpPr>
          <p:spPr>
            <a:xfrm>
              <a:off x="2212182" y="2689626"/>
              <a:ext cx="1128712" cy="929214"/>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43" name="Group 42">
            <a:extLst>
              <a:ext uri="{FF2B5EF4-FFF2-40B4-BE49-F238E27FC236}">
                <a16:creationId xmlns:a16="http://schemas.microsoft.com/office/drawing/2014/main" id="{3A760AE7-6CA0-1099-F39D-1BAE474CD59B}"/>
              </a:ext>
            </a:extLst>
          </p:cNvPr>
          <p:cNvGrpSpPr/>
          <p:nvPr/>
        </p:nvGrpSpPr>
        <p:grpSpPr>
          <a:xfrm>
            <a:off x="985003" y="4468842"/>
            <a:ext cx="2336621" cy="1046078"/>
            <a:chOff x="1054297" y="4687225"/>
            <a:chExt cx="2336621" cy="1046078"/>
          </a:xfrm>
        </p:grpSpPr>
        <p:cxnSp>
          <p:nvCxnSpPr>
            <p:cNvPr id="38" name="Straight Connector 37">
              <a:extLst>
                <a:ext uri="{FF2B5EF4-FFF2-40B4-BE49-F238E27FC236}">
                  <a16:creationId xmlns:a16="http://schemas.microsoft.com/office/drawing/2014/main" id="{41762F97-8E3C-C532-867B-6155DECDFE75}"/>
                </a:ext>
              </a:extLst>
            </p:cNvPr>
            <p:cNvCxnSpPr>
              <a:cxnSpLocks/>
            </p:cNvCxnSpPr>
            <p:nvPr/>
          </p:nvCxnSpPr>
          <p:spPr>
            <a:xfrm flipV="1">
              <a:off x="1054297" y="5455042"/>
              <a:ext cx="1190626" cy="278261"/>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E025B08-75C9-A89A-1A7F-AEB99C6E9A17}"/>
                </a:ext>
              </a:extLst>
            </p:cNvPr>
            <p:cNvCxnSpPr>
              <a:cxnSpLocks/>
            </p:cNvCxnSpPr>
            <p:nvPr/>
          </p:nvCxnSpPr>
          <p:spPr>
            <a:xfrm flipV="1">
              <a:off x="2243752" y="4687225"/>
              <a:ext cx="1147166" cy="769408"/>
            </a:xfrm>
            <a:prstGeom prst="line">
              <a:avLst/>
            </a:prstGeom>
          </p:spPr>
          <p:style>
            <a:lnRef idx="2">
              <a:schemeClr val="accent1"/>
            </a:lnRef>
            <a:fillRef idx="0">
              <a:schemeClr val="accent1"/>
            </a:fillRef>
            <a:effectRef idx="1">
              <a:schemeClr val="accent1"/>
            </a:effectRef>
            <a:fontRef idx="minor">
              <a:schemeClr val="tx1"/>
            </a:fontRef>
          </p:style>
        </p:cxnSp>
      </p:grpSp>
      <p:sp>
        <p:nvSpPr>
          <p:cNvPr id="44" name="TextBox 43">
            <a:extLst>
              <a:ext uri="{FF2B5EF4-FFF2-40B4-BE49-F238E27FC236}">
                <a16:creationId xmlns:a16="http://schemas.microsoft.com/office/drawing/2014/main" id="{D72EECED-6F38-7311-D65B-4557D2C65D20}"/>
              </a:ext>
            </a:extLst>
          </p:cNvPr>
          <p:cNvSpPr txBox="1"/>
          <p:nvPr/>
        </p:nvSpPr>
        <p:spPr>
          <a:xfrm rot="16200000">
            <a:off x="-365328" y="2154072"/>
            <a:ext cx="1806990" cy="369332"/>
          </a:xfrm>
          <a:prstGeom prst="rect">
            <a:avLst/>
          </a:prstGeom>
          <a:noFill/>
        </p:spPr>
        <p:txBody>
          <a:bodyPr wrap="square" rtlCol="0">
            <a:spAutoFit/>
          </a:bodyPr>
          <a:lstStyle/>
          <a:p>
            <a:r>
              <a:rPr lang="en-US" dirty="0"/>
              <a:t>DO/GPP/NEP</a:t>
            </a:r>
          </a:p>
        </p:txBody>
      </p:sp>
      <p:sp>
        <p:nvSpPr>
          <p:cNvPr id="46" name="TextBox 45">
            <a:extLst>
              <a:ext uri="{FF2B5EF4-FFF2-40B4-BE49-F238E27FC236}">
                <a16:creationId xmlns:a16="http://schemas.microsoft.com/office/drawing/2014/main" id="{4487E65E-0615-51C3-D318-1DA84CC3A02A}"/>
              </a:ext>
            </a:extLst>
          </p:cNvPr>
          <p:cNvSpPr txBox="1"/>
          <p:nvPr/>
        </p:nvSpPr>
        <p:spPr>
          <a:xfrm>
            <a:off x="1078812" y="3498663"/>
            <a:ext cx="2689873" cy="369332"/>
          </a:xfrm>
          <a:prstGeom prst="rect">
            <a:avLst/>
          </a:prstGeom>
          <a:noFill/>
        </p:spPr>
        <p:txBody>
          <a:bodyPr wrap="square" rtlCol="0">
            <a:spAutoFit/>
          </a:bodyPr>
          <a:lstStyle/>
          <a:p>
            <a:r>
              <a:rPr lang="en-US" dirty="0"/>
              <a:t>Stage Percent Change</a:t>
            </a:r>
          </a:p>
        </p:txBody>
      </p:sp>
      <p:sp>
        <p:nvSpPr>
          <p:cNvPr id="47" name="TextBox 46">
            <a:extLst>
              <a:ext uri="{FF2B5EF4-FFF2-40B4-BE49-F238E27FC236}">
                <a16:creationId xmlns:a16="http://schemas.microsoft.com/office/drawing/2014/main" id="{2DC6CDD5-B301-2394-5735-262E2EDCA1F4}"/>
              </a:ext>
            </a:extLst>
          </p:cNvPr>
          <p:cNvSpPr txBox="1"/>
          <p:nvPr/>
        </p:nvSpPr>
        <p:spPr>
          <a:xfrm>
            <a:off x="1062740" y="6212443"/>
            <a:ext cx="2689873" cy="369332"/>
          </a:xfrm>
          <a:prstGeom prst="rect">
            <a:avLst/>
          </a:prstGeom>
          <a:noFill/>
        </p:spPr>
        <p:txBody>
          <a:bodyPr wrap="square" rtlCol="0">
            <a:spAutoFit/>
          </a:bodyPr>
          <a:lstStyle/>
          <a:p>
            <a:r>
              <a:rPr lang="en-US" dirty="0"/>
              <a:t>Stage Percent Change</a:t>
            </a:r>
          </a:p>
        </p:txBody>
      </p:sp>
      <p:sp>
        <p:nvSpPr>
          <p:cNvPr id="48" name="TextBox 47">
            <a:extLst>
              <a:ext uri="{FF2B5EF4-FFF2-40B4-BE49-F238E27FC236}">
                <a16:creationId xmlns:a16="http://schemas.microsoft.com/office/drawing/2014/main" id="{F9A9E7DA-A0EC-B843-03CC-28C3FAE1D45E}"/>
              </a:ext>
            </a:extLst>
          </p:cNvPr>
          <p:cNvSpPr txBox="1"/>
          <p:nvPr/>
        </p:nvSpPr>
        <p:spPr>
          <a:xfrm>
            <a:off x="875576" y="1159152"/>
            <a:ext cx="2689873" cy="369332"/>
          </a:xfrm>
          <a:prstGeom prst="rect">
            <a:avLst/>
          </a:prstGeom>
          <a:noFill/>
        </p:spPr>
        <p:txBody>
          <a:bodyPr wrap="square" rtlCol="0">
            <a:spAutoFit/>
          </a:bodyPr>
          <a:lstStyle/>
          <a:p>
            <a:pPr algn="ctr"/>
            <a:r>
              <a:rPr lang="en-US" dirty="0"/>
              <a:t>Hypothesis 1</a:t>
            </a:r>
          </a:p>
        </p:txBody>
      </p:sp>
      <p:cxnSp>
        <p:nvCxnSpPr>
          <p:cNvPr id="50" name="Straight Arrow Connector 49">
            <a:extLst>
              <a:ext uri="{FF2B5EF4-FFF2-40B4-BE49-F238E27FC236}">
                <a16:creationId xmlns:a16="http://schemas.microsoft.com/office/drawing/2014/main" id="{3EA59A00-DEBA-CEB3-BB8C-C39ED9CF10A1}"/>
              </a:ext>
            </a:extLst>
          </p:cNvPr>
          <p:cNvCxnSpPr>
            <a:cxnSpLocks/>
          </p:cNvCxnSpPr>
          <p:nvPr/>
        </p:nvCxnSpPr>
        <p:spPr>
          <a:xfrm>
            <a:off x="3709962" y="3530774"/>
            <a:ext cx="928196" cy="0"/>
          </a:xfrm>
          <a:prstGeom prst="straightConnector1">
            <a:avLst/>
          </a:prstGeom>
          <a:ln w="152400">
            <a:tailEnd type="triangle"/>
          </a:ln>
        </p:spPr>
        <p:style>
          <a:lnRef idx="2">
            <a:schemeClr val="accent6"/>
          </a:lnRef>
          <a:fillRef idx="0">
            <a:schemeClr val="accent6"/>
          </a:fillRef>
          <a:effectRef idx="1">
            <a:schemeClr val="accent6"/>
          </a:effectRef>
          <a:fontRef idx="minor">
            <a:schemeClr val="tx1"/>
          </a:fontRef>
        </p:style>
      </p:cxnSp>
      <p:sp>
        <p:nvSpPr>
          <p:cNvPr id="51" name="TextBox 50">
            <a:extLst>
              <a:ext uri="{FF2B5EF4-FFF2-40B4-BE49-F238E27FC236}">
                <a16:creationId xmlns:a16="http://schemas.microsoft.com/office/drawing/2014/main" id="{33F18741-C2EC-721B-E413-BA6E0A3FDBFC}"/>
              </a:ext>
            </a:extLst>
          </p:cNvPr>
          <p:cNvSpPr txBox="1"/>
          <p:nvPr/>
        </p:nvSpPr>
        <p:spPr>
          <a:xfrm>
            <a:off x="3806268" y="3002152"/>
            <a:ext cx="864758" cy="369332"/>
          </a:xfrm>
          <a:prstGeom prst="rect">
            <a:avLst/>
          </a:prstGeom>
          <a:noFill/>
        </p:spPr>
        <p:txBody>
          <a:bodyPr wrap="square" rtlCol="0">
            <a:spAutoFit/>
          </a:bodyPr>
          <a:lstStyle/>
          <a:p>
            <a:pPr algn="ctr"/>
            <a:r>
              <a:rPr lang="en-US" dirty="0"/>
              <a:t>Actual</a:t>
            </a:r>
          </a:p>
        </p:txBody>
      </p:sp>
      <p:cxnSp>
        <p:nvCxnSpPr>
          <p:cNvPr id="4" name="Straight Connector 3">
            <a:extLst>
              <a:ext uri="{FF2B5EF4-FFF2-40B4-BE49-F238E27FC236}">
                <a16:creationId xmlns:a16="http://schemas.microsoft.com/office/drawing/2014/main" id="{4516D264-BB56-F073-4A56-CB426138AFA1}"/>
              </a:ext>
            </a:extLst>
          </p:cNvPr>
          <p:cNvCxnSpPr>
            <a:cxnSpLocks/>
          </p:cNvCxnSpPr>
          <p:nvPr/>
        </p:nvCxnSpPr>
        <p:spPr>
          <a:xfrm>
            <a:off x="4638158" y="3530774"/>
            <a:ext cx="7582417" cy="0"/>
          </a:xfrm>
          <a:prstGeom prst="line">
            <a:avLst/>
          </a:prstGeom>
          <a:ln>
            <a:prstDash val="lgDash"/>
          </a:ln>
        </p:spPr>
        <p:style>
          <a:lnRef idx="2">
            <a:schemeClr val="accent6"/>
          </a:lnRef>
          <a:fillRef idx="0">
            <a:schemeClr val="accent6"/>
          </a:fillRef>
          <a:effectRef idx="1">
            <a:schemeClr val="accent6"/>
          </a:effectRef>
          <a:fontRef idx="minor">
            <a:schemeClr val="tx1"/>
          </a:fontRef>
        </p:style>
      </p:cxnSp>
      <p:grpSp>
        <p:nvGrpSpPr>
          <p:cNvPr id="6" name="Group 5">
            <a:extLst>
              <a:ext uri="{FF2B5EF4-FFF2-40B4-BE49-F238E27FC236}">
                <a16:creationId xmlns:a16="http://schemas.microsoft.com/office/drawing/2014/main" id="{1FC54975-9F6C-E354-C696-E2EB149A461D}"/>
              </a:ext>
            </a:extLst>
          </p:cNvPr>
          <p:cNvGrpSpPr/>
          <p:nvPr/>
        </p:nvGrpSpPr>
        <p:grpSpPr>
          <a:xfrm>
            <a:off x="5875931" y="912727"/>
            <a:ext cx="1526906" cy="1104627"/>
            <a:chOff x="542925" y="2847975"/>
            <a:chExt cx="1276350" cy="1095375"/>
          </a:xfrm>
        </p:grpSpPr>
        <p:cxnSp>
          <p:nvCxnSpPr>
            <p:cNvPr id="7" name="Straight Arrow Connector 6">
              <a:extLst>
                <a:ext uri="{FF2B5EF4-FFF2-40B4-BE49-F238E27FC236}">
                  <a16:creationId xmlns:a16="http://schemas.microsoft.com/office/drawing/2014/main" id="{5A79D10F-68AA-1F05-0C54-8D1E87257D3A}"/>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20CA753F-E049-2702-D09F-4998D7BAFB39}"/>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12" name="Group 11">
            <a:extLst>
              <a:ext uri="{FF2B5EF4-FFF2-40B4-BE49-F238E27FC236}">
                <a16:creationId xmlns:a16="http://schemas.microsoft.com/office/drawing/2014/main" id="{1B07310F-E225-3753-A125-D3798A3954F0}"/>
              </a:ext>
            </a:extLst>
          </p:cNvPr>
          <p:cNvGrpSpPr/>
          <p:nvPr/>
        </p:nvGrpSpPr>
        <p:grpSpPr>
          <a:xfrm>
            <a:off x="8880481" y="977907"/>
            <a:ext cx="1526906" cy="1104627"/>
            <a:chOff x="542925" y="2847975"/>
            <a:chExt cx="1276350" cy="1095375"/>
          </a:xfrm>
        </p:grpSpPr>
        <p:cxnSp>
          <p:nvCxnSpPr>
            <p:cNvPr id="13" name="Straight Arrow Connector 12">
              <a:extLst>
                <a:ext uri="{FF2B5EF4-FFF2-40B4-BE49-F238E27FC236}">
                  <a16:creationId xmlns:a16="http://schemas.microsoft.com/office/drawing/2014/main" id="{B2A4017A-B1AB-7C6D-527F-DBF976CC1CC6}"/>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8466E74D-E7CB-6398-8297-FF5D7411496A}"/>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2" name="TextBox 21">
            <a:extLst>
              <a:ext uri="{FF2B5EF4-FFF2-40B4-BE49-F238E27FC236}">
                <a16:creationId xmlns:a16="http://schemas.microsoft.com/office/drawing/2014/main" id="{252F45BA-4318-E6AA-F7C1-5ED35D3D223D}"/>
              </a:ext>
            </a:extLst>
          </p:cNvPr>
          <p:cNvSpPr txBox="1"/>
          <p:nvPr/>
        </p:nvSpPr>
        <p:spPr>
          <a:xfrm rot="16200000">
            <a:off x="5150040" y="1269287"/>
            <a:ext cx="1082452" cy="369332"/>
          </a:xfrm>
          <a:prstGeom prst="rect">
            <a:avLst/>
          </a:prstGeom>
          <a:noFill/>
        </p:spPr>
        <p:txBody>
          <a:bodyPr wrap="square" rtlCol="0">
            <a:spAutoFit/>
          </a:bodyPr>
          <a:lstStyle/>
          <a:p>
            <a:pPr algn="ctr"/>
            <a:r>
              <a:rPr lang="en-US" dirty="0"/>
              <a:t>DO</a:t>
            </a:r>
          </a:p>
        </p:txBody>
      </p:sp>
      <p:sp>
        <p:nvSpPr>
          <p:cNvPr id="24" name="TextBox 23">
            <a:extLst>
              <a:ext uri="{FF2B5EF4-FFF2-40B4-BE49-F238E27FC236}">
                <a16:creationId xmlns:a16="http://schemas.microsoft.com/office/drawing/2014/main" id="{82CFF5E8-0954-88FC-86DB-35F4BFE84707}"/>
              </a:ext>
            </a:extLst>
          </p:cNvPr>
          <p:cNvSpPr txBox="1"/>
          <p:nvPr/>
        </p:nvSpPr>
        <p:spPr>
          <a:xfrm rot="16200000">
            <a:off x="8207624" y="1281431"/>
            <a:ext cx="976380" cy="369332"/>
          </a:xfrm>
          <a:prstGeom prst="rect">
            <a:avLst/>
          </a:prstGeom>
          <a:noFill/>
        </p:spPr>
        <p:txBody>
          <a:bodyPr wrap="square" rtlCol="0">
            <a:spAutoFit/>
          </a:bodyPr>
          <a:lstStyle/>
          <a:p>
            <a:pPr algn="ctr"/>
            <a:r>
              <a:rPr lang="en-US" dirty="0"/>
              <a:t>GPP</a:t>
            </a:r>
          </a:p>
        </p:txBody>
      </p:sp>
      <p:grpSp>
        <p:nvGrpSpPr>
          <p:cNvPr id="109" name="Group 108">
            <a:extLst>
              <a:ext uri="{FF2B5EF4-FFF2-40B4-BE49-F238E27FC236}">
                <a16:creationId xmlns:a16="http://schemas.microsoft.com/office/drawing/2014/main" id="{C7EEB51A-57F7-377E-D78A-0464A188D097}"/>
              </a:ext>
            </a:extLst>
          </p:cNvPr>
          <p:cNvGrpSpPr/>
          <p:nvPr/>
        </p:nvGrpSpPr>
        <p:grpSpPr>
          <a:xfrm>
            <a:off x="6077910" y="1150916"/>
            <a:ext cx="1122949" cy="727741"/>
            <a:chOff x="6446642" y="1325555"/>
            <a:chExt cx="1122949" cy="727741"/>
          </a:xfrm>
        </p:grpSpPr>
        <p:cxnSp>
          <p:nvCxnSpPr>
            <p:cNvPr id="31" name="Straight Connector 30">
              <a:extLst>
                <a:ext uri="{FF2B5EF4-FFF2-40B4-BE49-F238E27FC236}">
                  <a16:creationId xmlns:a16="http://schemas.microsoft.com/office/drawing/2014/main" id="{97926BFB-E896-B9CE-0D0F-FDA8782BB894}"/>
                </a:ext>
              </a:extLst>
            </p:cNvPr>
            <p:cNvCxnSpPr>
              <a:cxnSpLocks/>
            </p:cNvCxnSpPr>
            <p:nvPr/>
          </p:nvCxnSpPr>
          <p:spPr>
            <a:xfrm>
              <a:off x="6446642" y="1325555"/>
              <a:ext cx="342900" cy="49148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11C9D49D-3658-B54F-83D1-610A134017F7}"/>
                </a:ext>
              </a:extLst>
            </p:cNvPr>
            <p:cNvCxnSpPr>
              <a:cxnSpLocks/>
            </p:cNvCxnSpPr>
            <p:nvPr/>
          </p:nvCxnSpPr>
          <p:spPr>
            <a:xfrm>
              <a:off x="6789542" y="1817035"/>
              <a:ext cx="780049" cy="236261"/>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81" name="Group 80">
            <a:extLst>
              <a:ext uri="{FF2B5EF4-FFF2-40B4-BE49-F238E27FC236}">
                <a16:creationId xmlns:a16="http://schemas.microsoft.com/office/drawing/2014/main" id="{4533AEC5-9D5A-E4BC-FD0B-941384A8A3A2}"/>
              </a:ext>
            </a:extLst>
          </p:cNvPr>
          <p:cNvGrpSpPr/>
          <p:nvPr/>
        </p:nvGrpSpPr>
        <p:grpSpPr>
          <a:xfrm>
            <a:off x="10033040" y="871557"/>
            <a:ext cx="2187535" cy="654267"/>
            <a:chOff x="9730311" y="1370589"/>
            <a:chExt cx="1787926" cy="654267"/>
          </a:xfrm>
        </p:grpSpPr>
        <p:sp>
          <p:nvSpPr>
            <p:cNvPr id="56" name="TextBox 55">
              <a:extLst>
                <a:ext uri="{FF2B5EF4-FFF2-40B4-BE49-F238E27FC236}">
                  <a16:creationId xmlns:a16="http://schemas.microsoft.com/office/drawing/2014/main" id="{47ED3ACF-022C-9504-513B-0BAFAC8D6249}"/>
                </a:ext>
              </a:extLst>
            </p:cNvPr>
            <p:cNvSpPr txBox="1"/>
            <p:nvPr/>
          </p:nvSpPr>
          <p:spPr>
            <a:xfrm>
              <a:off x="9730311" y="1370589"/>
              <a:ext cx="1787926" cy="415498"/>
            </a:xfrm>
            <a:prstGeom prst="rect">
              <a:avLst/>
            </a:prstGeom>
            <a:noFill/>
          </p:spPr>
          <p:txBody>
            <a:bodyPr wrap="square" rtlCol="0">
              <a:spAutoFit/>
            </a:bodyPr>
            <a:lstStyle/>
            <a:p>
              <a:pPr algn="ctr"/>
              <a:r>
                <a:rPr lang="en-US" sz="1050" dirty="0"/>
                <a:t>1: increased light attenuation</a:t>
              </a:r>
            </a:p>
          </p:txBody>
        </p:sp>
        <p:sp>
          <p:nvSpPr>
            <p:cNvPr id="57" name="TextBox 56">
              <a:extLst>
                <a:ext uri="{FF2B5EF4-FFF2-40B4-BE49-F238E27FC236}">
                  <a16:creationId xmlns:a16="http://schemas.microsoft.com/office/drawing/2014/main" id="{DBD8643E-4A01-DE08-4BCE-6C2B921B8E05}"/>
                </a:ext>
              </a:extLst>
            </p:cNvPr>
            <p:cNvSpPr txBox="1"/>
            <p:nvPr/>
          </p:nvSpPr>
          <p:spPr>
            <a:xfrm>
              <a:off x="9797342" y="1609358"/>
              <a:ext cx="1601399" cy="415498"/>
            </a:xfrm>
            <a:prstGeom prst="rect">
              <a:avLst/>
            </a:prstGeom>
            <a:noFill/>
          </p:spPr>
          <p:txBody>
            <a:bodyPr wrap="square" rtlCol="0">
              <a:spAutoFit/>
            </a:bodyPr>
            <a:lstStyle/>
            <a:p>
              <a:pPr algn="ctr"/>
              <a:r>
                <a:rPr lang="en-US" sz="1050" dirty="0"/>
                <a:t>2: Light occluded and DO is limited</a:t>
              </a:r>
            </a:p>
          </p:txBody>
        </p:sp>
      </p:grpSp>
      <p:grpSp>
        <p:nvGrpSpPr>
          <p:cNvPr id="146" name="Group 145">
            <a:extLst>
              <a:ext uri="{FF2B5EF4-FFF2-40B4-BE49-F238E27FC236}">
                <a16:creationId xmlns:a16="http://schemas.microsoft.com/office/drawing/2014/main" id="{07B31EA7-FEB7-B843-3D46-D5D07C82B717}"/>
              </a:ext>
            </a:extLst>
          </p:cNvPr>
          <p:cNvGrpSpPr/>
          <p:nvPr/>
        </p:nvGrpSpPr>
        <p:grpSpPr>
          <a:xfrm>
            <a:off x="5294310" y="2216576"/>
            <a:ext cx="1908908" cy="1104629"/>
            <a:chOff x="5456109" y="2197891"/>
            <a:chExt cx="1908908" cy="1104629"/>
          </a:xfrm>
        </p:grpSpPr>
        <p:grpSp>
          <p:nvGrpSpPr>
            <p:cNvPr id="9" name="Group 8">
              <a:extLst>
                <a:ext uri="{FF2B5EF4-FFF2-40B4-BE49-F238E27FC236}">
                  <a16:creationId xmlns:a16="http://schemas.microsoft.com/office/drawing/2014/main" id="{B772DBB7-570C-4519-691B-18F06A1656FF}"/>
                </a:ext>
              </a:extLst>
            </p:cNvPr>
            <p:cNvGrpSpPr/>
            <p:nvPr/>
          </p:nvGrpSpPr>
          <p:grpSpPr>
            <a:xfrm>
              <a:off x="5825441" y="2197893"/>
              <a:ext cx="1526906" cy="1104627"/>
              <a:chOff x="542925" y="2847975"/>
              <a:chExt cx="1276350" cy="1095375"/>
            </a:xfrm>
          </p:grpSpPr>
          <p:cxnSp>
            <p:nvCxnSpPr>
              <p:cNvPr id="10" name="Straight Arrow Connector 9">
                <a:extLst>
                  <a:ext uri="{FF2B5EF4-FFF2-40B4-BE49-F238E27FC236}">
                    <a16:creationId xmlns:a16="http://schemas.microsoft.com/office/drawing/2014/main" id="{0A3B8279-D605-48CE-AED3-3BF1EE87154F}"/>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3A7E0BDD-3B07-A10A-F042-AF89D242611E}"/>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3" name="TextBox 22">
              <a:extLst>
                <a:ext uri="{FF2B5EF4-FFF2-40B4-BE49-F238E27FC236}">
                  <a16:creationId xmlns:a16="http://schemas.microsoft.com/office/drawing/2014/main" id="{740F0028-3B06-EB75-77F4-90E902E70B2F}"/>
                </a:ext>
              </a:extLst>
            </p:cNvPr>
            <p:cNvSpPr txBox="1"/>
            <p:nvPr/>
          </p:nvSpPr>
          <p:spPr>
            <a:xfrm rot="16200000">
              <a:off x="5088461" y="2565539"/>
              <a:ext cx="1104627" cy="369332"/>
            </a:xfrm>
            <a:prstGeom prst="rect">
              <a:avLst/>
            </a:prstGeom>
            <a:noFill/>
          </p:spPr>
          <p:txBody>
            <a:bodyPr wrap="square" rtlCol="0">
              <a:spAutoFit/>
            </a:bodyPr>
            <a:lstStyle/>
            <a:p>
              <a:pPr algn="ctr"/>
              <a:r>
                <a:rPr lang="en-US" dirty="0"/>
                <a:t>DO</a:t>
              </a:r>
            </a:p>
          </p:txBody>
        </p:sp>
        <p:grpSp>
          <p:nvGrpSpPr>
            <p:cNvPr id="65" name="Group 64">
              <a:extLst>
                <a:ext uri="{FF2B5EF4-FFF2-40B4-BE49-F238E27FC236}">
                  <a16:creationId xmlns:a16="http://schemas.microsoft.com/office/drawing/2014/main" id="{219971B5-C3B3-5E20-C21D-EB1E13B470E8}"/>
                </a:ext>
              </a:extLst>
            </p:cNvPr>
            <p:cNvGrpSpPr/>
            <p:nvPr/>
          </p:nvGrpSpPr>
          <p:grpSpPr>
            <a:xfrm>
              <a:off x="5874091" y="2573619"/>
              <a:ext cx="1381665" cy="357897"/>
              <a:chOff x="5389270" y="2536292"/>
              <a:chExt cx="1381665" cy="357897"/>
            </a:xfrm>
          </p:grpSpPr>
          <p:cxnSp>
            <p:nvCxnSpPr>
              <p:cNvPr id="37" name="Straight Connector 36">
                <a:extLst>
                  <a:ext uri="{FF2B5EF4-FFF2-40B4-BE49-F238E27FC236}">
                    <a16:creationId xmlns:a16="http://schemas.microsoft.com/office/drawing/2014/main" id="{6A26C2D2-B785-58B8-1FF8-635F0E216FC7}"/>
                  </a:ext>
                </a:extLst>
              </p:cNvPr>
              <p:cNvCxnSpPr>
                <a:cxnSpLocks/>
              </p:cNvCxnSpPr>
              <p:nvPr/>
            </p:nvCxnSpPr>
            <p:spPr>
              <a:xfrm>
                <a:off x="5389270" y="2568980"/>
                <a:ext cx="306658" cy="212935"/>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7FEDAE6A-1ACE-9868-FAD3-2834A4144C60}"/>
                  </a:ext>
                </a:extLst>
              </p:cNvPr>
              <p:cNvCxnSpPr>
                <a:cxnSpLocks/>
              </p:cNvCxnSpPr>
              <p:nvPr/>
            </p:nvCxnSpPr>
            <p:spPr>
              <a:xfrm flipV="1">
                <a:off x="5680137" y="2542497"/>
                <a:ext cx="751282" cy="236408"/>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AE97730B-F414-44F3-2D18-9D989FCD148C}"/>
                  </a:ext>
                </a:extLst>
              </p:cNvPr>
              <p:cNvCxnSpPr>
                <a:cxnSpLocks/>
              </p:cNvCxnSpPr>
              <p:nvPr/>
            </p:nvCxnSpPr>
            <p:spPr>
              <a:xfrm>
                <a:off x="6428035" y="2536292"/>
                <a:ext cx="342900" cy="357897"/>
              </a:xfrm>
              <a:prstGeom prst="line">
                <a:avLst/>
              </a:prstGeom>
            </p:spPr>
            <p:style>
              <a:lnRef idx="2">
                <a:schemeClr val="accent1"/>
              </a:lnRef>
              <a:fillRef idx="0">
                <a:schemeClr val="accent1"/>
              </a:fillRef>
              <a:effectRef idx="1">
                <a:schemeClr val="accent1"/>
              </a:effectRef>
              <a:fontRef idx="minor">
                <a:schemeClr val="tx1"/>
              </a:fontRef>
            </p:style>
          </p:cxnSp>
        </p:grpSp>
        <p:sp>
          <p:nvSpPr>
            <p:cNvPr id="58" name="TextBox 57">
              <a:extLst>
                <a:ext uri="{FF2B5EF4-FFF2-40B4-BE49-F238E27FC236}">
                  <a16:creationId xmlns:a16="http://schemas.microsoft.com/office/drawing/2014/main" id="{1D8F47BB-3C87-518A-6A74-3349F96D77D7}"/>
                </a:ext>
              </a:extLst>
            </p:cNvPr>
            <p:cNvSpPr txBox="1"/>
            <p:nvPr/>
          </p:nvSpPr>
          <p:spPr>
            <a:xfrm>
              <a:off x="6371426" y="2369786"/>
              <a:ext cx="252850" cy="369332"/>
            </a:xfrm>
            <a:prstGeom prst="rect">
              <a:avLst/>
            </a:prstGeom>
            <a:noFill/>
          </p:spPr>
          <p:txBody>
            <a:bodyPr wrap="square" rtlCol="0">
              <a:spAutoFit/>
            </a:bodyPr>
            <a:lstStyle/>
            <a:p>
              <a:r>
                <a:rPr lang="en-US" dirty="0"/>
                <a:t>2</a:t>
              </a:r>
            </a:p>
          </p:txBody>
        </p:sp>
        <p:sp>
          <p:nvSpPr>
            <p:cNvPr id="59" name="TextBox 58">
              <a:extLst>
                <a:ext uri="{FF2B5EF4-FFF2-40B4-BE49-F238E27FC236}">
                  <a16:creationId xmlns:a16="http://schemas.microsoft.com/office/drawing/2014/main" id="{DDAFA555-76A2-6B42-2A70-52839D4E6D16}"/>
                </a:ext>
              </a:extLst>
            </p:cNvPr>
            <p:cNvSpPr txBox="1"/>
            <p:nvPr/>
          </p:nvSpPr>
          <p:spPr>
            <a:xfrm>
              <a:off x="7112167" y="2535814"/>
              <a:ext cx="252850" cy="369332"/>
            </a:xfrm>
            <a:prstGeom prst="rect">
              <a:avLst/>
            </a:prstGeom>
            <a:noFill/>
          </p:spPr>
          <p:txBody>
            <a:bodyPr wrap="square" rtlCol="0">
              <a:spAutoFit/>
            </a:bodyPr>
            <a:lstStyle/>
            <a:p>
              <a:r>
                <a:rPr lang="en-US" dirty="0"/>
                <a:t>3</a:t>
              </a:r>
            </a:p>
          </p:txBody>
        </p:sp>
        <p:sp>
          <p:nvSpPr>
            <p:cNvPr id="60" name="TextBox 59">
              <a:extLst>
                <a:ext uri="{FF2B5EF4-FFF2-40B4-BE49-F238E27FC236}">
                  <a16:creationId xmlns:a16="http://schemas.microsoft.com/office/drawing/2014/main" id="{E891AE44-549D-F1C0-B593-E23620B14AC5}"/>
                </a:ext>
              </a:extLst>
            </p:cNvPr>
            <p:cNvSpPr txBox="1"/>
            <p:nvPr/>
          </p:nvSpPr>
          <p:spPr>
            <a:xfrm>
              <a:off x="5806716" y="2661919"/>
              <a:ext cx="252850" cy="369332"/>
            </a:xfrm>
            <a:prstGeom prst="rect">
              <a:avLst/>
            </a:prstGeom>
            <a:noFill/>
          </p:spPr>
          <p:txBody>
            <a:bodyPr wrap="square" rtlCol="0">
              <a:spAutoFit/>
            </a:bodyPr>
            <a:lstStyle/>
            <a:p>
              <a:r>
                <a:rPr lang="en-US" dirty="0"/>
                <a:t>1</a:t>
              </a:r>
            </a:p>
          </p:txBody>
        </p:sp>
      </p:grpSp>
      <p:grpSp>
        <p:nvGrpSpPr>
          <p:cNvPr id="61" name="Group 60">
            <a:extLst>
              <a:ext uri="{FF2B5EF4-FFF2-40B4-BE49-F238E27FC236}">
                <a16:creationId xmlns:a16="http://schemas.microsoft.com/office/drawing/2014/main" id="{09B1A856-F026-C9C7-1CE3-25BA8AD17441}"/>
              </a:ext>
            </a:extLst>
          </p:cNvPr>
          <p:cNvGrpSpPr/>
          <p:nvPr/>
        </p:nvGrpSpPr>
        <p:grpSpPr>
          <a:xfrm>
            <a:off x="8975633" y="1247403"/>
            <a:ext cx="1149383" cy="785291"/>
            <a:chOff x="1038225" y="2495550"/>
            <a:chExt cx="2302669" cy="1123290"/>
          </a:xfrm>
        </p:grpSpPr>
        <p:cxnSp>
          <p:nvCxnSpPr>
            <p:cNvPr id="62" name="Straight Connector 61">
              <a:extLst>
                <a:ext uri="{FF2B5EF4-FFF2-40B4-BE49-F238E27FC236}">
                  <a16:creationId xmlns:a16="http://schemas.microsoft.com/office/drawing/2014/main" id="{6FF53BCC-0238-C63C-5C35-2A646F107B3F}"/>
                </a:ext>
              </a:extLst>
            </p:cNvPr>
            <p:cNvCxnSpPr>
              <a:cxnSpLocks/>
            </p:cNvCxnSpPr>
            <p:nvPr/>
          </p:nvCxnSpPr>
          <p:spPr>
            <a:xfrm>
              <a:off x="1038225" y="2495550"/>
              <a:ext cx="1185863" cy="194076"/>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6142CCE8-01BE-CF3F-C7A7-C1439E8C1FAE}"/>
                </a:ext>
              </a:extLst>
            </p:cNvPr>
            <p:cNvCxnSpPr>
              <a:cxnSpLocks/>
            </p:cNvCxnSpPr>
            <p:nvPr/>
          </p:nvCxnSpPr>
          <p:spPr>
            <a:xfrm>
              <a:off x="2212182" y="2689626"/>
              <a:ext cx="1128712" cy="929214"/>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145" name="Group 144">
            <a:extLst>
              <a:ext uri="{FF2B5EF4-FFF2-40B4-BE49-F238E27FC236}">
                <a16:creationId xmlns:a16="http://schemas.microsoft.com/office/drawing/2014/main" id="{CCA5E5CF-F57F-773F-4F14-3891F12BF4E5}"/>
              </a:ext>
            </a:extLst>
          </p:cNvPr>
          <p:cNvGrpSpPr/>
          <p:nvPr/>
        </p:nvGrpSpPr>
        <p:grpSpPr>
          <a:xfrm>
            <a:off x="8860970" y="2266857"/>
            <a:ext cx="1905017" cy="1104627"/>
            <a:chOff x="8634065" y="2333673"/>
            <a:chExt cx="1905017" cy="1104627"/>
          </a:xfrm>
        </p:grpSpPr>
        <p:grpSp>
          <p:nvGrpSpPr>
            <p:cNvPr id="18" name="Group 17">
              <a:extLst>
                <a:ext uri="{FF2B5EF4-FFF2-40B4-BE49-F238E27FC236}">
                  <a16:creationId xmlns:a16="http://schemas.microsoft.com/office/drawing/2014/main" id="{64A84835-571C-92B5-A1D2-1CCA0BB2FB9E}"/>
                </a:ext>
              </a:extLst>
            </p:cNvPr>
            <p:cNvGrpSpPr/>
            <p:nvPr/>
          </p:nvGrpSpPr>
          <p:grpSpPr>
            <a:xfrm>
              <a:off x="9003398" y="2333673"/>
              <a:ext cx="1526906" cy="1104627"/>
              <a:chOff x="542925" y="2847975"/>
              <a:chExt cx="1276350" cy="1095375"/>
            </a:xfrm>
          </p:grpSpPr>
          <p:cxnSp>
            <p:nvCxnSpPr>
              <p:cNvPr id="19" name="Straight Arrow Connector 18">
                <a:extLst>
                  <a:ext uri="{FF2B5EF4-FFF2-40B4-BE49-F238E27FC236}">
                    <a16:creationId xmlns:a16="http://schemas.microsoft.com/office/drawing/2014/main" id="{5FD42C87-C2C7-3CE5-F9EC-4BA3343B460B}"/>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55C29E90-519E-7C45-77F5-99624262EAA9}"/>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25" name="TextBox 24">
              <a:extLst>
                <a:ext uri="{FF2B5EF4-FFF2-40B4-BE49-F238E27FC236}">
                  <a16:creationId xmlns:a16="http://schemas.microsoft.com/office/drawing/2014/main" id="{56E8E649-1EAC-C668-CC9D-A5A810C6D4F0}"/>
                </a:ext>
              </a:extLst>
            </p:cNvPr>
            <p:cNvSpPr txBox="1"/>
            <p:nvPr/>
          </p:nvSpPr>
          <p:spPr>
            <a:xfrm rot="16200000">
              <a:off x="8305605" y="2662133"/>
              <a:ext cx="1026252" cy="369332"/>
            </a:xfrm>
            <a:prstGeom prst="rect">
              <a:avLst/>
            </a:prstGeom>
            <a:noFill/>
          </p:spPr>
          <p:txBody>
            <a:bodyPr wrap="square" rtlCol="0">
              <a:spAutoFit/>
            </a:bodyPr>
            <a:lstStyle/>
            <a:p>
              <a:pPr algn="ctr"/>
              <a:r>
                <a:rPr lang="en-US" dirty="0"/>
                <a:t>GPP</a:t>
              </a:r>
            </a:p>
          </p:txBody>
        </p:sp>
        <p:grpSp>
          <p:nvGrpSpPr>
            <p:cNvPr id="66" name="Group 65">
              <a:extLst>
                <a:ext uri="{FF2B5EF4-FFF2-40B4-BE49-F238E27FC236}">
                  <a16:creationId xmlns:a16="http://schemas.microsoft.com/office/drawing/2014/main" id="{D5577058-51CD-BB3D-A503-DFCC95D5EC31}"/>
                </a:ext>
              </a:extLst>
            </p:cNvPr>
            <p:cNvGrpSpPr/>
            <p:nvPr/>
          </p:nvGrpSpPr>
          <p:grpSpPr>
            <a:xfrm flipV="1">
              <a:off x="9076017" y="2672092"/>
              <a:ext cx="1381665" cy="407963"/>
              <a:chOff x="5389270" y="2536292"/>
              <a:chExt cx="1381665" cy="357897"/>
            </a:xfrm>
          </p:grpSpPr>
          <p:cxnSp>
            <p:nvCxnSpPr>
              <p:cNvPr id="67" name="Straight Connector 66">
                <a:extLst>
                  <a:ext uri="{FF2B5EF4-FFF2-40B4-BE49-F238E27FC236}">
                    <a16:creationId xmlns:a16="http://schemas.microsoft.com/office/drawing/2014/main" id="{84E60FB0-99A0-3110-BA9C-12803AF3F04A}"/>
                  </a:ext>
                </a:extLst>
              </p:cNvPr>
              <p:cNvCxnSpPr>
                <a:cxnSpLocks/>
              </p:cNvCxnSpPr>
              <p:nvPr/>
            </p:nvCxnSpPr>
            <p:spPr>
              <a:xfrm>
                <a:off x="5389270" y="2568980"/>
                <a:ext cx="306658" cy="212935"/>
              </a:xfrm>
              <a:prstGeom prst="line">
                <a:avLst/>
              </a:prstGeom>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F7D3638E-9472-AFF5-F4F4-A0DF75E93081}"/>
                  </a:ext>
                </a:extLst>
              </p:cNvPr>
              <p:cNvCxnSpPr>
                <a:cxnSpLocks/>
              </p:cNvCxnSpPr>
              <p:nvPr/>
            </p:nvCxnSpPr>
            <p:spPr>
              <a:xfrm flipV="1">
                <a:off x="5680137" y="2542497"/>
                <a:ext cx="751282" cy="236408"/>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19839402-65A2-22B3-E659-37D256F08DAD}"/>
                  </a:ext>
                </a:extLst>
              </p:cNvPr>
              <p:cNvCxnSpPr>
                <a:cxnSpLocks/>
              </p:cNvCxnSpPr>
              <p:nvPr/>
            </p:nvCxnSpPr>
            <p:spPr>
              <a:xfrm>
                <a:off x="6428035" y="2536292"/>
                <a:ext cx="342900" cy="357897"/>
              </a:xfrm>
              <a:prstGeom prst="line">
                <a:avLst/>
              </a:prstGeom>
            </p:spPr>
            <p:style>
              <a:lnRef idx="2">
                <a:schemeClr val="accent1"/>
              </a:lnRef>
              <a:fillRef idx="0">
                <a:schemeClr val="accent1"/>
              </a:fillRef>
              <a:effectRef idx="1">
                <a:schemeClr val="accent1"/>
              </a:effectRef>
              <a:fontRef idx="minor">
                <a:schemeClr val="tx1"/>
              </a:fontRef>
            </p:style>
          </p:cxnSp>
        </p:grpSp>
        <p:sp>
          <p:nvSpPr>
            <p:cNvPr id="70" name="TextBox 69">
              <a:extLst>
                <a:ext uri="{FF2B5EF4-FFF2-40B4-BE49-F238E27FC236}">
                  <a16:creationId xmlns:a16="http://schemas.microsoft.com/office/drawing/2014/main" id="{D75E050D-9570-EC60-5106-40B3447B306A}"/>
                </a:ext>
              </a:extLst>
            </p:cNvPr>
            <p:cNvSpPr txBox="1"/>
            <p:nvPr/>
          </p:nvSpPr>
          <p:spPr>
            <a:xfrm>
              <a:off x="9703830" y="2661055"/>
              <a:ext cx="252850" cy="369332"/>
            </a:xfrm>
            <a:prstGeom prst="rect">
              <a:avLst/>
            </a:prstGeom>
            <a:noFill/>
          </p:spPr>
          <p:txBody>
            <a:bodyPr wrap="square" rtlCol="0">
              <a:spAutoFit/>
            </a:bodyPr>
            <a:lstStyle/>
            <a:p>
              <a:r>
                <a:rPr lang="en-US" dirty="0"/>
                <a:t>2</a:t>
              </a:r>
            </a:p>
          </p:txBody>
        </p:sp>
        <p:sp>
          <p:nvSpPr>
            <p:cNvPr id="71" name="TextBox 70">
              <a:extLst>
                <a:ext uri="{FF2B5EF4-FFF2-40B4-BE49-F238E27FC236}">
                  <a16:creationId xmlns:a16="http://schemas.microsoft.com/office/drawing/2014/main" id="{F1D154E2-7F26-2F53-44D8-BCFD1121257E}"/>
                </a:ext>
              </a:extLst>
            </p:cNvPr>
            <p:cNvSpPr txBox="1"/>
            <p:nvPr/>
          </p:nvSpPr>
          <p:spPr>
            <a:xfrm>
              <a:off x="10286232" y="2762443"/>
              <a:ext cx="252850" cy="369332"/>
            </a:xfrm>
            <a:prstGeom prst="rect">
              <a:avLst/>
            </a:prstGeom>
            <a:noFill/>
          </p:spPr>
          <p:txBody>
            <a:bodyPr wrap="square" rtlCol="0">
              <a:spAutoFit/>
            </a:bodyPr>
            <a:lstStyle/>
            <a:p>
              <a:r>
                <a:rPr lang="en-US" dirty="0"/>
                <a:t>3</a:t>
              </a:r>
            </a:p>
          </p:txBody>
        </p:sp>
        <p:sp>
          <p:nvSpPr>
            <p:cNvPr id="72" name="TextBox 71">
              <a:extLst>
                <a:ext uri="{FF2B5EF4-FFF2-40B4-BE49-F238E27FC236}">
                  <a16:creationId xmlns:a16="http://schemas.microsoft.com/office/drawing/2014/main" id="{32C7C772-965A-987B-6E32-33F4AFF2F32B}"/>
                </a:ext>
              </a:extLst>
            </p:cNvPr>
            <p:cNvSpPr txBox="1"/>
            <p:nvPr/>
          </p:nvSpPr>
          <p:spPr>
            <a:xfrm>
              <a:off x="8990329" y="2665959"/>
              <a:ext cx="252850" cy="369332"/>
            </a:xfrm>
            <a:prstGeom prst="rect">
              <a:avLst/>
            </a:prstGeom>
            <a:noFill/>
          </p:spPr>
          <p:txBody>
            <a:bodyPr wrap="square" rtlCol="0">
              <a:spAutoFit/>
            </a:bodyPr>
            <a:lstStyle/>
            <a:p>
              <a:r>
                <a:rPr lang="en-US" dirty="0"/>
                <a:t>1</a:t>
              </a:r>
            </a:p>
          </p:txBody>
        </p:sp>
      </p:grpSp>
      <p:sp>
        <p:nvSpPr>
          <p:cNvPr id="73" name="TextBox 72">
            <a:extLst>
              <a:ext uri="{FF2B5EF4-FFF2-40B4-BE49-F238E27FC236}">
                <a16:creationId xmlns:a16="http://schemas.microsoft.com/office/drawing/2014/main" id="{3283227D-EDEE-742C-8A29-CFF51615EBA9}"/>
              </a:ext>
            </a:extLst>
          </p:cNvPr>
          <p:cNvSpPr txBox="1"/>
          <p:nvPr/>
        </p:nvSpPr>
        <p:spPr>
          <a:xfrm>
            <a:off x="9182587" y="999912"/>
            <a:ext cx="1162787" cy="369332"/>
          </a:xfrm>
          <a:prstGeom prst="rect">
            <a:avLst/>
          </a:prstGeom>
          <a:noFill/>
        </p:spPr>
        <p:txBody>
          <a:bodyPr wrap="square" rtlCol="0">
            <a:spAutoFit/>
          </a:bodyPr>
          <a:lstStyle/>
          <a:p>
            <a:r>
              <a:rPr lang="en-US" dirty="0"/>
              <a:t>1</a:t>
            </a:r>
          </a:p>
        </p:txBody>
      </p:sp>
      <p:sp>
        <p:nvSpPr>
          <p:cNvPr id="74" name="TextBox 73">
            <a:extLst>
              <a:ext uri="{FF2B5EF4-FFF2-40B4-BE49-F238E27FC236}">
                <a16:creationId xmlns:a16="http://schemas.microsoft.com/office/drawing/2014/main" id="{57BF530A-A564-374C-EB50-8BAD356D7F86}"/>
              </a:ext>
            </a:extLst>
          </p:cNvPr>
          <p:cNvSpPr txBox="1"/>
          <p:nvPr/>
        </p:nvSpPr>
        <p:spPr>
          <a:xfrm>
            <a:off x="9901961" y="1511692"/>
            <a:ext cx="352932" cy="369332"/>
          </a:xfrm>
          <a:prstGeom prst="rect">
            <a:avLst/>
          </a:prstGeom>
          <a:noFill/>
        </p:spPr>
        <p:txBody>
          <a:bodyPr wrap="square" rtlCol="0">
            <a:spAutoFit/>
          </a:bodyPr>
          <a:lstStyle/>
          <a:p>
            <a:r>
              <a:rPr lang="en-US" dirty="0"/>
              <a:t>2</a:t>
            </a:r>
          </a:p>
        </p:txBody>
      </p:sp>
      <p:grpSp>
        <p:nvGrpSpPr>
          <p:cNvPr id="80" name="Group 79">
            <a:extLst>
              <a:ext uri="{FF2B5EF4-FFF2-40B4-BE49-F238E27FC236}">
                <a16:creationId xmlns:a16="http://schemas.microsoft.com/office/drawing/2014/main" id="{B3A6D9A7-1B44-467D-4608-AE9B0C745C09}"/>
              </a:ext>
            </a:extLst>
          </p:cNvPr>
          <p:cNvGrpSpPr/>
          <p:nvPr/>
        </p:nvGrpSpPr>
        <p:grpSpPr>
          <a:xfrm>
            <a:off x="7076793" y="2252834"/>
            <a:ext cx="1803688" cy="1268577"/>
            <a:chOff x="7966840" y="2458444"/>
            <a:chExt cx="1201551" cy="1045355"/>
          </a:xfrm>
        </p:grpSpPr>
        <p:sp>
          <p:nvSpPr>
            <p:cNvPr id="77" name="TextBox 76">
              <a:extLst>
                <a:ext uri="{FF2B5EF4-FFF2-40B4-BE49-F238E27FC236}">
                  <a16:creationId xmlns:a16="http://schemas.microsoft.com/office/drawing/2014/main" id="{12108412-346F-5E28-D621-284FCB65FEE1}"/>
                </a:ext>
              </a:extLst>
            </p:cNvPr>
            <p:cNvSpPr txBox="1"/>
            <p:nvPr/>
          </p:nvSpPr>
          <p:spPr>
            <a:xfrm>
              <a:off x="7984532" y="2458444"/>
              <a:ext cx="1092228" cy="246221"/>
            </a:xfrm>
            <a:prstGeom prst="rect">
              <a:avLst/>
            </a:prstGeom>
            <a:noFill/>
          </p:spPr>
          <p:txBody>
            <a:bodyPr wrap="square" rtlCol="0">
              <a:spAutoFit/>
            </a:bodyPr>
            <a:lstStyle/>
            <a:p>
              <a:pPr algn="ctr"/>
              <a:r>
                <a:rPr lang="en-US" sz="1000" dirty="0"/>
                <a:t>1: increased light attenuation</a:t>
              </a:r>
            </a:p>
          </p:txBody>
        </p:sp>
        <p:sp>
          <p:nvSpPr>
            <p:cNvPr id="78" name="TextBox 77">
              <a:extLst>
                <a:ext uri="{FF2B5EF4-FFF2-40B4-BE49-F238E27FC236}">
                  <a16:creationId xmlns:a16="http://schemas.microsoft.com/office/drawing/2014/main" id="{D248375A-9379-485D-B5DE-1D9E6B74868C}"/>
                </a:ext>
              </a:extLst>
            </p:cNvPr>
            <p:cNvSpPr txBox="1"/>
            <p:nvPr/>
          </p:nvSpPr>
          <p:spPr>
            <a:xfrm>
              <a:off x="7966840" y="2743720"/>
              <a:ext cx="1201551" cy="415498"/>
            </a:xfrm>
            <a:prstGeom prst="rect">
              <a:avLst/>
            </a:prstGeom>
            <a:noFill/>
          </p:spPr>
          <p:txBody>
            <a:bodyPr wrap="square" rtlCol="0">
              <a:spAutoFit/>
            </a:bodyPr>
            <a:lstStyle/>
            <a:p>
              <a:pPr algn="ctr"/>
              <a:r>
                <a:rPr lang="en-US" sz="1000" dirty="0"/>
                <a:t>2: Flood plain interaction spurs productivity</a:t>
              </a:r>
            </a:p>
          </p:txBody>
        </p:sp>
        <p:sp>
          <p:nvSpPr>
            <p:cNvPr id="79" name="TextBox 78">
              <a:extLst>
                <a:ext uri="{FF2B5EF4-FFF2-40B4-BE49-F238E27FC236}">
                  <a16:creationId xmlns:a16="http://schemas.microsoft.com/office/drawing/2014/main" id="{A47154D2-3A15-3F07-0EFD-D9145DC01053}"/>
                </a:ext>
              </a:extLst>
            </p:cNvPr>
            <p:cNvSpPr txBox="1"/>
            <p:nvPr/>
          </p:nvSpPr>
          <p:spPr>
            <a:xfrm>
              <a:off x="8019692" y="3047284"/>
              <a:ext cx="1138944" cy="456515"/>
            </a:xfrm>
            <a:prstGeom prst="rect">
              <a:avLst/>
            </a:prstGeom>
            <a:noFill/>
          </p:spPr>
          <p:txBody>
            <a:bodyPr wrap="square" rtlCol="0">
              <a:spAutoFit/>
            </a:bodyPr>
            <a:lstStyle/>
            <a:p>
              <a:pPr algn="ctr"/>
              <a:r>
                <a:rPr lang="en-US" sz="1000" dirty="0"/>
                <a:t>3: Productivity unstable with increasing depth/river water and crashes</a:t>
              </a:r>
            </a:p>
          </p:txBody>
        </p:sp>
      </p:grpSp>
      <p:grpSp>
        <p:nvGrpSpPr>
          <p:cNvPr id="89" name="Group 88">
            <a:extLst>
              <a:ext uri="{FF2B5EF4-FFF2-40B4-BE49-F238E27FC236}">
                <a16:creationId xmlns:a16="http://schemas.microsoft.com/office/drawing/2014/main" id="{EE3696EC-E836-E0E5-7221-CC3A17F3E236}"/>
              </a:ext>
            </a:extLst>
          </p:cNvPr>
          <p:cNvGrpSpPr/>
          <p:nvPr/>
        </p:nvGrpSpPr>
        <p:grpSpPr>
          <a:xfrm>
            <a:off x="5806717" y="4029045"/>
            <a:ext cx="1526906" cy="2284118"/>
            <a:chOff x="5493020" y="1133475"/>
            <a:chExt cx="1526906" cy="2284118"/>
          </a:xfrm>
        </p:grpSpPr>
        <p:grpSp>
          <p:nvGrpSpPr>
            <p:cNvPr id="90" name="Group 89">
              <a:extLst>
                <a:ext uri="{FF2B5EF4-FFF2-40B4-BE49-F238E27FC236}">
                  <a16:creationId xmlns:a16="http://schemas.microsoft.com/office/drawing/2014/main" id="{88FDDFE0-65FF-7D13-41E4-6974C2C868B4}"/>
                </a:ext>
              </a:extLst>
            </p:cNvPr>
            <p:cNvGrpSpPr/>
            <p:nvPr/>
          </p:nvGrpSpPr>
          <p:grpSpPr>
            <a:xfrm>
              <a:off x="5493020" y="1133475"/>
              <a:ext cx="1526906" cy="1104627"/>
              <a:chOff x="542925" y="2847975"/>
              <a:chExt cx="1276350" cy="1095375"/>
            </a:xfrm>
          </p:grpSpPr>
          <p:cxnSp>
            <p:nvCxnSpPr>
              <p:cNvPr id="94" name="Straight Arrow Connector 93">
                <a:extLst>
                  <a:ext uri="{FF2B5EF4-FFF2-40B4-BE49-F238E27FC236}">
                    <a16:creationId xmlns:a16="http://schemas.microsoft.com/office/drawing/2014/main" id="{C65C4C52-C4BA-3757-C051-2C98E0431B8F}"/>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5" name="Straight Arrow Connector 94">
                <a:extLst>
                  <a:ext uri="{FF2B5EF4-FFF2-40B4-BE49-F238E27FC236}">
                    <a16:creationId xmlns:a16="http://schemas.microsoft.com/office/drawing/2014/main" id="{EE18A780-E197-38C3-D451-1676A34B1EC8}"/>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91" name="Group 90">
              <a:extLst>
                <a:ext uri="{FF2B5EF4-FFF2-40B4-BE49-F238E27FC236}">
                  <a16:creationId xmlns:a16="http://schemas.microsoft.com/office/drawing/2014/main" id="{F65CC7E7-DADE-7CCB-15D4-363754049C4D}"/>
                </a:ext>
              </a:extLst>
            </p:cNvPr>
            <p:cNvGrpSpPr/>
            <p:nvPr/>
          </p:nvGrpSpPr>
          <p:grpSpPr>
            <a:xfrm>
              <a:off x="5493020" y="2312966"/>
              <a:ext cx="1526906" cy="1104627"/>
              <a:chOff x="542925" y="2847975"/>
              <a:chExt cx="1276350" cy="1095375"/>
            </a:xfrm>
          </p:grpSpPr>
          <p:cxnSp>
            <p:nvCxnSpPr>
              <p:cNvPr id="92" name="Straight Arrow Connector 91">
                <a:extLst>
                  <a:ext uri="{FF2B5EF4-FFF2-40B4-BE49-F238E27FC236}">
                    <a16:creationId xmlns:a16="http://schemas.microsoft.com/office/drawing/2014/main" id="{0F63C959-C323-1CD3-1697-0BAED4082536}"/>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3" name="Straight Arrow Connector 92">
                <a:extLst>
                  <a:ext uri="{FF2B5EF4-FFF2-40B4-BE49-F238E27FC236}">
                    <a16:creationId xmlns:a16="http://schemas.microsoft.com/office/drawing/2014/main" id="{C1BFE06F-8859-6EF0-1AA2-A7A8D49A6D1E}"/>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grpSp>
        <p:nvGrpSpPr>
          <p:cNvPr id="96" name="Group 95">
            <a:extLst>
              <a:ext uri="{FF2B5EF4-FFF2-40B4-BE49-F238E27FC236}">
                <a16:creationId xmlns:a16="http://schemas.microsoft.com/office/drawing/2014/main" id="{08380D16-DC68-D0DA-5A72-EE50A252CBE2}"/>
              </a:ext>
            </a:extLst>
          </p:cNvPr>
          <p:cNvGrpSpPr/>
          <p:nvPr/>
        </p:nvGrpSpPr>
        <p:grpSpPr>
          <a:xfrm>
            <a:off x="9271096" y="4118133"/>
            <a:ext cx="1526906" cy="2284118"/>
            <a:chOff x="5493020" y="1133475"/>
            <a:chExt cx="1526906" cy="2284118"/>
          </a:xfrm>
        </p:grpSpPr>
        <p:grpSp>
          <p:nvGrpSpPr>
            <p:cNvPr id="97" name="Group 96">
              <a:extLst>
                <a:ext uri="{FF2B5EF4-FFF2-40B4-BE49-F238E27FC236}">
                  <a16:creationId xmlns:a16="http://schemas.microsoft.com/office/drawing/2014/main" id="{D529576D-C3FA-B7A2-F8C1-401E3ED0A748}"/>
                </a:ext>
              </a:extLst>
            </p:cNvPr>
            <p:cNvGrpSpPr/>
            <p:nvPr/>
          </p:nvGrpSpPr>
          <p:grpSpPr>
            <a:xfrm>
              <a:off x="5493020" y="1133475"/>
              <a:ext cx="1526906" cy="1104627"/>
              <a:chOff x="542925" y="2847975"/>
              <a:chExt cx="1276350" cy="1095375"/>
            </a:xfrm>
          </p:grpSpPr>
          <p:cxnSp>
            <p:nvCxnSpPr>
              <p:cNvPr id="101" name="Straight Arrow Connector 100">
                <a:extLst>
                  <a:ext uri="{FF2B5EF4-FFF2-40B4-BE49-F238E27FC236}">
                    <a16:creationId xmlns:a16="http://schemas.microsoft.com/office/drawing/2014/main" id="{C09A0B8F-C08D-AE95-BA6E-28625A94B1F7}"/>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2" name="Straight Arrow Connector 101">
                <a:extLst>
                  <a:ext uri="{FF2B5EF4-FFF2-40B4-BE49-F238E27FC236}">
                    <a16:creationId xmlns:a16="http://schemas.microsoft.com/office/drawing/2014/main" id="{9754EF3E-71DA-A573-8D3C-E1398A6448E9}"/>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98" name="Group 97">
              <a:extLst>
                <a:ext uri="{FF2B5EF4-FFF2-40B4-BE49-F238E27FC236}">
                  <a16:creationId xmlns:a16="http://schemas.microsoft.com/office/drawing/2014/main" id="{1C232715-EA0D-6052-ABCE-C1779E855807}"/>
                </a:ext>
              </a:extLst>
            </p:cNvPr>
            <p:cNvGrpSpPr/>
            <p:nvPr/>
          </p:nvGrpSpPr>
          <p:grpSpPr>
            <a:xfrm>
              <a:off x="5493020" y="2312966"/>
              <a:ext cx="1526906" cy="1104627"/>
              <a:chOff x="542925" y="2847975"/>
              <a:chExt cx="1276350" cy="1095375"/>
            </a:xfrm>
          </p:grpSpPr>
          <p:cxnSp>
            <p:nvCxnSpPr>
              <p:cNvPr id="99" name="Straight Arrow Connector 98">
                <a:extLst>
                  <a:ext uri="{FF2B5EF4-FFF2-40B4-BE49-F238E27FC236}">
                    <a16:creationId xmlns:a16="http://schemas.microsoft.com/office/drawing/2014/main" id="{925A9347-2ED6-5191-C2F1-292E3B5C14EF}"/>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0" name="Straight Arrow Connector 99">
                <a:extLst>
                  <a:ext uri="{FF2B5EF4-FFF2-40B4-BE49-F238E27FC236}">
                    <a16:creationId xmlns:a16="http://schemas.microsoft.com/office/drawing/2014/main" id="{41FBA715-E5A4-9DD4-DA8D-BFA348B0FD86}"/>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grpSp>
        <p:nvGrpSpPr>
          <p:cNvPr id="130" name="Group 129">
            <a:extLst>
              <a:ext uri="{FF2B5EF4-FFF2-40B4-BE49-F238E27FC236}">
                <a16:creationId xmlns:a16="http://schemas.microsoft.com/office/drawing/2014/main" id="{AC2BFB26-B319-4949-3468-92C921695B0A}"/>
              </a:ext>
            </a:extLst>
          </p:cNvPr>
          <p:cNvGrpSpPr/>
          <p:nvPr/>
        </p:nvGrpSpPr>
        <p:grpSpPr>
          <a:xfrm>
            <a:off x="4961186" y="4015365"/>
            <a:ext cx="528060" cy="2251245"/>
            <a:chOff x="5087390" y="3886694"/>
            <a:chExt cx="528060" cy="2251245"/>
          </a:xfrm>
        </p:grpSpPr>
        <p:sp>
          <p:nvSpPr>
            <p:cNvPr id="103" name="TextBox 102">
              <a:extLst>
                <a:ext uri="{FF2B5EF4-FFF2-40B4-BE49-F238E27FC236}">
                  <a16:creationId xmlns:a16="http://schemas.microsoft.com/office/drawing/2014/main" id="{C38C6317-8567-4162-B931-58F9B8BB825B}"/>
                </a:ext>
              </a:extLst>
            </p:cNvPr>
            <p:cNvSpPr txBox="1"/>
            <p:nvPr/>
          </p:nvSpPr>
          <p:spPr>
            <a:xfrm rot="16200000">
              <a:off x="4815385" y="4158699"/>
              <a:ext cx="1067229" cy="523220"/>
            </a:xfrm>
            <a:prstGeom prst="rect">
              <a:avLst/>
            </a:prstGeom>
            <a:noFill/>
          </p:spPr>
          <p:txBody>
            <a:bodyPr wrap="square" rtlCol="0">
              <a:spAutoFit/>
            </a:bodyPr>
            <a:lstStyle/>
            <a:p>
              <a:pPr algn="ctr"/>
              <a:r>
                <a:rPr lang="en-US" sz="1400" dirty="0"/>
                <a:t>More vulnerable: </a:t>
              </a:r>
            </a:p>
          </p:txBody>
        </p:sp>
        <p:sp>
          <p:nvSpPr>
            <p:cNvPr id="104" name="TextBox 103">
              <a:extLst>
                <a:ext uri="{FF2B5EF4-FFF2-40B4-BE49-F238E27FC236}">
                  <a16:creationId xmlns:a16="http://schemas.microsoft.com/office/drawing/2014/main" id="{9D2ACE37-BF03-F6E5-D322-3DFC20BCEDF0}"/>
                </a:ext>
              </a:extLst>
            </p:cNvPr>
            <p:cNvSpPr txBox="1"/>
            <p:nvPr/>
          </p:nvSpPr>
          <p:spPr>
            <a:xfrm rot="16200000">
              <a:off x="4820225" y="5342715"/>
              <a:ext cx="1067229" cy="523220"/>
            </a:xfrm>
            <a:prstGeom prst="rect">
              <a:avLst/>
            </a:prstGeom>
            <a:noFill/>
          </p:spPr>
          <p:txBody>
            <a:bodyPr wrap="square" rtlCol="0">
              <a:spAutoFit/>
            </a:bodyPr>
            <a:lstStyle/>
            <a:p>
              <a:pPr algn="ctr"/>
              <a:r>
                <a:rPr lang="en-US" sz="1400" dirty="0"/>
                <a:t>Less vulnerable: </a:t>
              </a:r>
            </a:p>
          </p:txBody>
        </p:sp>
      </p:grpSp>
      <p:sp>
        <p:nvSpPr>
          <p:cNvPr id="105" name="TextBox 104">
            <a:extLst>
              <a:ext uri="{FF2B5EF4-FFF2-40B4-BE49-F238E27FC236}">
                <a16:creationId xmlns:a16="http://schemas.microsoft.com/office/drawing/2014/main" id="{B1168351-90B4-675E-72F8-B7DE366EF804}"/>
              </a:ext>
            </a:extLst>
          </p:cNvPr>
          <p:cNvSpPr txBox="1"/>
          <p:nvPr/>
        </p:nvSpPr>
        <p:spPr>
          <a:xfrm rot="16200000">
            <a:off x="5088463" y="4354433"/>
            <a:ext cx="1104627" cy="369332"/>
          </a:xfrm>
          <a:prstGeom prst="rect">
            <a:avLst/>
          </a:prstGeom>
          <a:noFill/>
        </p:spPr>
        <p:txBody>
          <a:bodyPr wrap="square" rtlCol="0">
            <a:spAutoFit/>
          </a:bodyPr>
          <a:lstStyle/>
          <a:p>
            <a:pPr algn="ctr"/>
            <a:r>
              <a:rPr lang="en-US" dirty="0"/>
              <a:t>CO2</a:t>
            </a:r>
          </a:p>
        </p:txBody>
      </p:sp>
      <p:sp>
        <p:nvSpPr>
          <p:cNvPr id="106" name="TextBox 105">
            <a:extLst>
              <a:ext uri="{FF2B5EF4-FFF2-40B4-BE49-F238E27FC236}">
                <a16:creationId xmlns:a16="http://schemas.microsoft.com/office/drawing/2014/main" id="{1E4CD460-7F3E-F6B3-32CF-9C7996B419DA}"/>
              </a:ext>
            </a:extLst>
          </p:cNvPr>
          <p:cNvSpPr txBox="1"/>
          <p:nvPr/>
        </p:nvSpPr>
        <p:spPr>
          <a:xfrm rot="16200000">
            <a:off x="5040598" y="5534670"/>
            <a:ext cx="1104627" cy="369332"/>
          </a:xfrm>
          <a:prstGeom prst="rect">
            <a:avLst/>
          </a:prstGeom>
          <a:noFill/>
        </p:spPr>
        <p:txBody>
          <a:bodyPr wrap="square" rtlCol="0">
            <a:spAutoFit/>
          </a:bodyPr>
          <a:lstStyle/>
          <a:p>
            <a:pPr algn="ctr"/>
            <a:r>
              <a:rPr lang="en-US" dirty="0"/>
              <a:t>CO2</a:t>
            </a:r>
          </a:p>
        </p:txBody>
      </p:sp>
      <p:sp>
        <p:nvSpPr>
          <p:cNvPr id="107" name="TextBox 106">
            <a:extLst>
              <a:ext uri="{FF2B5EF4-FFF2-40B4-BE49-F238E27FC236}">
                <a16:creationId xmlns:a16="http://schemas.microsoft.com/office/drawing/2014/main" id="{9258820F-BC75-DEEC-A107-3AF230470A87}"/>
              </a:ext>
            </a:extLst>
          </p:cNvPr>
          <p:cNvSpPr txBox="1"/>
          <p:nvPr/>
        </p:nvSpPr>
        <p:spPr>
          <a:xfrm rot="16200000">
            <a:off x="8534117" y="5608413"/>
            <a:ext cx="1104627" cy="369332"/>
          </a:xfrm>
          <a:prstGeom prst="rect">
            <a:avLst/>
          </a:prstGeom>
          <a:noFill/>
        </p:spPr>
        <p:txBody>
          <a:bodyPr wrap="square" rtlCol="0">
            <a:spAutoFit/>
          </a:bodyPr>
          <a:lstStyle/>
          <a:p>
            <a:pPr algn="ctr"/>
            <a:r>
              <a:rPr lang="en-US" dirty="0"/>
              <a:t>ER</a:t>
            </a:r>
          </a:p>
        </p:txBody>
      </p:sp>
      <p:sp>
        <p:nvSpPr>
          <p:cNvPr id="108" name="TextBox 107">
            <a:extLst>
              <a:ext uri="{FF2B5EF4-FFF2-40B4-BE49-F238E27FC236}">
                <a16:creationId xmlns:a16="http://schemas.microsoft.com/office/drawing/2014/main" id="{ADB1CB95-21E9-08CD-C1F4-A7D39304668E}"/>
              </a:ext>
            </a:extLst>
          </p:cNvPr>
          <p:cNvSpPr txBox="1"/>
          <p:nvPr/>
        </p:nvSpPr>
        <p:spPr>
          <a:xfrm rot="16200000">
            <a:off x="8581982" y="4504223"/>
            <a:ext cx="1104627" cy="369332"/>
          </a:xfrm>
          <a:prstGeom prst="rect">
            <a:avLst/>
          </a:prstGeom>
          <a:noFill/>
        </p:spPr>
        <p:txBody>
          <a:bodyPr wrap="square" rtlCol="0">
            <a:spAutoFit/>
          </a:bodyPr>
          <a:lstStyle/>
          <a:p>
            <a:pPr algn="ctr"/>
            <a:r>
              <a:rPr lang="en-US" dirty="0"/>
              <a:t>ER</a:t>
            </a:r>
          </a:p>
        </p:txBody>
      </p:sp>
      <p:grpSp>
        <p:nvGrpSpPr>
          <p:cNvPr id="110" name="Group 109">
            <a:extLst>
              <a:ext uri="{FF2B5EF4-FFF2-40B4-BE49-F238E27FC236}">
                <a16:creationId xmlns:a16="http://schemas.microsoft.com/office/drawing/2014/main" id="{A1ED1C80-EC3E-09BF-7F15-1247EFEE3397}"/>
              </a:ext>
            </a:extLst>
          </p:cNvPr>
          <p:cNvGrpSpPr/>
          <p:nvPr/>
        </p:nvGrpSpPr>
        <p:grpSpPr>
          <a:xfrm rot="7132000">
            <a:off x="6045946" y="5358718"/>
            <a:ext cx="881825" cy="804262"/>
            <a:chOff x="6446642" y="1325555"/>
            <a:chExt cx="881825" cy="804262"/>
          </a:xfrm>
        </p:grpSpPr>
        <p:cxnSp>
          <p:nvCxnSpPr>
            <p:cNvPr id="111" name="Straight Connector 110">
              <a:extLst>
                <a:ext uri="{FF2B5EF4-FFF2-40B4-BE49-F238E27FC236}">
                  <a16:creationId xmlns:a16="http://schemas.microsoft.com/office/drawing/2014/main" id="{D4599E9B-13FD-C5C0-CDAC-693389715176}"/>
                </a:ext>
              </a:extLst>
            </p:cNvPr>
            <p:cNvCxnSpPr>
              <a:cxnSpLocks/>
            </p:cNvCxnSpPr>
            <p:nvPr/>
          </p:nvCxnSpPr>
          <p:spPr>
            <a:xfrm>
              <a:off x="6446642" y="1325555"/>
              <a:ext cx="342900" cy="49148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2" name="Straight Connector 111">
              <a:extLst>
                <a:ext uri="{FF2B5EF4-FFF2-40B4-BE49-F238E27FC236}">
                  <a16:creationId xmlns:a16="http://schemas.microsoft.com/office/drawing/2014/main" id="{F1834AED-79A5-A2A6-8929-A44C1566662F}"/>
                </a:ext>
              </a:extLst>
            </p:cNvPr>
            <p:cNvCxnSpPr>
              <a:cxnSpLocks/>
            </p:cNvCxnSpPr>
            <p:nvPr/>
          </p:nvCxnSpPr>
          <p:spPr>
            <a:xfrm rot="14754247" flipH="1">
              <a:off x="6878480" y="1679829"/>
              <a:ext cx="427806" cy="472169"/>
            </a:xfrm>
            <a:prstGeom prst="line">
              <a:avLst/>
            </a:prstGeom>
          </p:spPr>
          <p:style>
            <a:lnRef idx="2">
              <a:schemeClr val="accent1"/>
            </a:lnRef>
            <a:fillRef idx="0">
              <a:schemeClr val="accent1"/>
            </a:fillRef>
            <a:effectRef idx="1">
              <a:schemeClr val="accent1"/>
            </a:effectRef>
            <a:fontRef idx="minor">
              <a:schemeClr val="tx1"/>
            </a:fontRef>
          </p:style>
        </p:cxnSp>
      </p:grpSp>
      <p:sp>
        <p:nvSpPr>
          <p:cNvPr id="114" name="TextBox 113">
            <a:extLst>
              <a:ext uri="{FF2B5EF4-FFF2-40B4-BE49-F238E27FC236}">
                <a16:creationId xmlns:a16="http://schemas.microsoft.com/office/drawing/2014/main" id="{C002D4AC-7019-6383-1500-15A4AAEFEB62}"/>
              </a:ext>
            </a:extLst>
          </p:cNvPr>
          <p:cNvSpPr txBox="1"/>
          <p:nvPr/>
        </p:nvSpPr>
        <p:spPr>
          <a:xfrm>
            <a:off x="6161214" y="1097145"/>
            <a:ext cx="1162787" cy="369332"/>
          </a:xfrm>
          <a:prstGeom prst="rect">
            <a:avLst/>
          </a:prstGeom>
          <a:noFill/>
        </p:spPr>
        <p:txBody>
          <a:bodyPr wrap="square" rtlCol="0">
            <a:spAutoFit/>
          </a:bodyPr>
          <a:lstStyle/>
          <a:p>
            <a:r>
              <a:rPr lang="en-US" dirty="0"/>
              <a:t>1</a:t>
            </a:r>
          </a:p>
        </p:txBody>
      </p:sp>
      <p:sp>
        <p:nvSpPr>
          <p:cNvPr id="115" name="TextBox 114">
            <a:extLst>
              <a:ext uri="{FF2B5EF4-FFF2-40B4-BE49-F238E27FC236}">
                <a16:creationId xmlns:a16="http://schemas.microsoft.com/office/drawing/2014/main" id="{29212A10-C9AE-2D61-A1D2-D2FC4D2DF7A8}"/>
              </a:ext>
            </a:extLst>
          </p:cNvPr>
          <p:cNvSpPr txBox="1"/>
          <p:nvPr/>
        </p:nvSpPr>
        <p:spPr>
          <a:xfrm>
            <a:off x="6821443" y="1484922"/>
            <a:ext cx="1162787" cy="369332"/>
          </a:xfrm>
          <a:prstGeom prst="rect">
            <a:avLst/>
          </a:prstGeom>
          <a:noFill/>
        </p:spPr>
        <p:txBody>
          <a:bodyPr wrap="square" rtlCol="0">
            <a:spAutoFit/>
          </a:bodyPr>
          <a:lstStyle/>
          <a:p>
            <a:r>
              <a:rPr lang="en-US" dirty="0"/>
              <a:t>2</a:t>
            </a:r>
          </a:p>
        </p:txBody>
      </p:sp>
      <p:grpSp>
        <p:nvGrpSpPr>
          <p:cNvPr id="116" name="Group 115">
            <a:extLst>
              <a:ext uri="{FF2B5EF4-FFF2-40B4-BE49-F238E27FC236}">
                <a16:creationId xmlns:a16="http://schemas.microsoft.com/office/drawing/2014/main" id="{7EF19B41-35DE-DDD5-7F4E-3C9CD4941AC2}"/>
              </a:ext>
            </a:extLst>
          </p:cNvPr>
          <p:cNvGrpSpPr/>
          <p:nvPr/>
        </p:nvGrpSpPr>
        <p:grpSpPr>
          <a:xfrm rot="7132000">
            <a:off x="6214552" y="4112914"/>
            <a:ext cx="725291" cy="1036883"/>
            <a:chOff x="6603176" y="1092934"/>
            <a:chExt cx="725291" cy="1036883"/>
          </a:xfrm>
        </p:grpSpPr>
        <p:cxnSp>
          <p:nvCxnSpPr>
            <p:cNvPr id="117" name="Straight Connector 116">
              <a:extLst>
                <a:ext uri="{FF2B5EF4-FFF2-40B4-BE49-F238E27FC236}">
                  <a16:creationId xmlns:a16="http://schemas.microsoft.com/office/drawing/2014/main" id="{B5B0CD47-59DC-6811-A819-3ABAB440E0C5}"/>
                </a:ext>
              </a:extLst>
            </p:cNvPr>
            <p:cNvCxnSpPr>
              <a:cxnSpLocks/>
            </p:cNvCxnSpPr>
            <p:nvPr/>
          </p:nvCxnSpPr>
          <p:spPr>
            <a:xfrm rot="14468000" flipH="1" flipV="1">
              <a:off x="6335059" y="1361051"/>
              <a:ext cx="723793" cy="18756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512C3BD5-9D1D-FF78-BB9D-AE2E9CDCAA62}"/>
                </a:ext>
              </a:extLst>
            </p:cNvPr>
            <p:cNvCxnSpPr>
              <a:cxnSpLocks/>
            </p:cNvCxnSpPr>
            <p:nvPr/>
          </p:nvCxnSpPr>
          <p:spPr>
            <a:xfrm rot="14754247" flipH="1">
              <a:off x="6878480" y="1679829"/>
              <a:ext cx="427806" cy="472169"/>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120" name="Group 119">
            <a:extLst>
              <a:ext uri="{FF2B5EF4-FFF2-40B4-BE49-F238E27FC236}">
                <a16:creationId xmlns:a16="http://schemas.microsoft.com/office/drawing/2014/main" id="{9BAED7F1-EF93-47D6-16B5-94057202216F}"/>
              </a:ext>
            </a:extLst>
          </p:cNvPr>
          <p:cNvGrpSpPr/>
          <p:nvPr/>
        </p:nvGrpSpPr>
        <p:grpSpPr>
          <a:xfrm rot="10195598">
            <a:off x="9531044" y="4454423"/>
            <a:ext cx="1069231" cy="465301"/>
            <a:chOff x="5885498" y="1380191"/>
            <a:chExt cx="1442056" cy="465301"/>
          </a:xfrm>
        </p:grpSpPr>
        <p:cxnSp>
          <p:nvCxnSpPr>
            <p:cNvPr id="121" name="Straight Connector 120">
              <a:extLst>
                <a:ext uri="{FF2B5EF4-FFF2-40B4-BE49-F238E27FC236}">
                  <a16:creationId xmlns:a16="http://schemas.microsoft.com/office/drawing/2014/main" id="{694F96A4-F5A4-ADCC-FF02-FD49D2526256}"/>
                </a:ext>
              </a:extLst>
            </p:cNvPr>
            <p:cNvCxnSpPr>
              <a:cxnSpLocks/>
            </p:cNvCxnSpPr>
            <p:nvPr/>
          </p:nvCxnSpPr>
          <p:spPr>
            <a:xfrm rot="11174114" flipH="1" flipV="1">
              <a:off x="5885498" y="1380191"/>
              <a:ext cx="917062" cy="39796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2316BFFC-0D3E-835B-7E69-F10B54764CC1}"/>
                </a:ext>
              </a:extLst>
            </p:cNvPr>
            <p:cNvCxnSpPr>
              <a:cxnSpLocks/>
            </p:cNvCxnSpPr>
            <p:nvPr/>
          </p:nvCxnSpPr>
          <p:spPr>
            <a:xfrm rot="11174114" flipH="1">
              <a:off x="6788637" y="1548505"/>
              <a:ext cx="538917" cy="296987"/>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123" name="Group 122">
            <a:extLst>
              <a:ext uri="{FF2B5EF4-FFF2-40B4-BE49-F238E27FC236}">
                <a16:creationId xmlns:a16="http://schemas.microsoft.com/office/drawing/2014/main" id="{AC8C36E3-2DF9-82B9-DBC7-E9A9942213CF}"/>
              </a:ext>
            </a:extLst>
          </p:cNvPr>
          <p:cNvGrpSpPr/>
          <p:nvPr/>
        </p:nvGrpSpPr>
        <p:grpSpPr>
          <a:xfrm flipV="1">
            <a:off x="9389533" y="5618102"/>
            <a:ext cx="1381665" cy="407963"/>
            <a:chOff x="5389270" y="2536292"/>
            <a:chExt cx="1381665" cy="357897"/>
          </a:xfrm>
        </p:grpSpPr>
        <p:cxnSp>
          <p:nvCxnSpPr>
            <p:cNvPr id="124" name="Straight Connector 123">
              <a:extLst>
                <a:ext uri="{FF2B5EF4-FFF2-40B4-BE49-F238E27FC236}">
                  <a16:creationId xmlns:a16="http://schemas.microsoft.com/office/drawing/2014/main" id="{82832B85-48C2-D66F-BDDE-561467A8639F}"/>
                </a:ext>
              </a:extLst>
            </p:cNvPr>
            <p:cNvCxnSpPr>
              <a:cxnSpLocks/>
            </p:cNvCxnSpPr>
            <p:nvPr/>
          </p:nvCxnSpPr>
          <p:spPr>
            <a:xfrm>
              <a:off x="5389270" y="2568980"/>
              <a:ext cx="306658" cy="2129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7B7656D0-404A-5E99-234C-33F1D6C68D8B}"/>
                </a:ext>
              </a:extLst>
            </p:cNvPr>
            <p:cNvCxnSpPr>
              <a:cxnSpLocks/>
            </p:cNvCxnSpPr>
            <p:nvPr/>
          </p:nvCxnSpPr>
          <p:spPr>
            <a:xfrm flipV="1">
              <a:off x="5680137" y="2542497"/>
              <a:ext cx="751282" cy="236408"/>
            </a:xfrm>
            <a:prstGeom prst="line">
              <a:avLst/>
            </a:prstGeom>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6592FA6D-76B0-D9CB-4095-9CD5947A56DE}"/>
                </a:ext>
              </a:extLst>
            </p:cNvPr>
            <p:cNvCxnSpPr>
              <a:cxnSpLocks/>
            </p:cNvCxnSpPr>
            <p:nvPr/>
          </p:nvCxnSpPr>
          <p:spPr>
            <a:xfrm>
              <a:off x="6428035" y="2536292"/>
              <a:ext cx="342900" cy="357897"/>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131" name="Group 130">
            <a:extLst>
              <a:ext uri="{FF2B5EF4-FFF2-40B4-BE49-F238E27FC236}">
                <a16:creationId xmlns:a16="http://schemas.microsoft.com/office/drawing/2014/main" id="{07A13634-AC06-9E72-1B9A-8D9258F90506}"/>
              </a:ext>
            </a:extLst>
          </p:cNvPr>
          <p:cNvGrpSpPr/>
          <p:nvPr/>
        </p:nvGrpSpPr>
        <p:grpSpPr>
          <a:xfrm>
            <a:off x="4696618" y="1120239"/>
            <a:ext cx="528060" cy="2251245"/>
            <a:chOff x="5334102" y="1211408"/>
            <a:chExt cx="528060" cy="2251245"/>
          </a:xfrm>
        </p:grpSpPr>
        <p:sp>
          <p:nvSpPr>
            <p:cNvPr id="128" name="TextBox 127">
              <a:extLst>
                <a:ext uri="{FF2B5EF4-FFF2-40B4-BE49-F238E27FC236}">
                  <a16:creationId xmlns:a16="http://schemas.microsoft.com/office/drawing/2014/main" id="{891B53DC-BD26-71E0-9343-BB1633E5A73A}"/>
                </a:ext>
              </a:extLst>
            </p:cNvPr>
            <p:cNvSpPr txBox="1"/>
            <p:nvPr/>
          </p:nvSpPr>
          <p:spPr>
            <a:xfrm rot="16200000">
              <a:off x="5062097" y="1483413"/>
              <a:ext cx="1067229" cy="523220"/>
            </a:xfrm>
            <a:prstGeom prst="rect">
              <a:avLst/>
            </a:prstGeom>
            <a:noFill/>
          </p:spPr>
          <p:txBody>
            <a:bodyPr wrap="square" rtlCol="0">
              <a:spAutoFit/>
            </a:bodyPr>
            <a:lstStyle/>
            <a:p>
              <a:pPr algn="ctr"/>
              <a:r>
                <a:rPr lang="en-US" sz="1400" dirty="0"/>
                <a:t>More vulnerable: </a:t>
              </a:r>
            </a:p>
          </p:txBody>
        </p:sp>
        <p:sp>
          <p:nvSpPr>
            <p:cNvPr id="129" name="TextBox 128">
              <a:extLst>
                <a:ext uri="{FF2B5EF4-FFF2-40B4-BE49-F238E27FC236}">
                  <a16:creationId xmlns:a16="http://schemas.microsoft.com/office/drawing/2014/main" id="{342CDF2F-FD53-219E-428D-B12B6CB0B43D}"/>
                </a:ext>
              </a:extLst>
            </p:cNvPr>
            <p:cNvSpPr txBox="1"/>
            <p:nvPr/>
          </p:nvSpPr>
          <p:spPr>
            <a:xfrm rot="16200000">
              <a:off x="5066937" y="2667429"/>
              <a:ext cx="1067229" cy="523220"/>
            </a:xfrm>
            <a:prstGeom prst="rect">
              <a:avLst/>
            </a:prstGeom>
            <a:noFill/>
          </p:spPr>
          <p:txBody>
            <a:bodyPr wrap="square" rtlCol="0">
              <a:spAutoFit/>
            </a:bodyPr>
            <a:lstStyle/>
            <a:p>
              <a:pPr algn="ctr"/>
              <a:r>
                <a:rPr lang="en-US" sz="1400" dirty="0"/>
                <a:t>Less vulnerable: </a:t>
              </a:r>
            </a:p>
          </p:txBody>
        </p:sp>
      </p:grpSp>
      <p:sp>
        <p:nvSpPr>
          <p:cNvPr id="136" name="TextBox 135">
            <a:extLst>
              <a:ext uri="{FF2B5EF4-FFF2-40B4-BE49-F238E27FC236}">
                <a16:creationId xmlns:a16="http://schemas.microsoft.com/office/drawing/2014/main" id="{7CA63DCA-3F2A-A3D8-27DB-4F65DC48406B}"/>
              </a:ext>
            </a:extLst>
          </p:cNvPr>
          <p:cNvSpPr txBox="1"/>
          <p:nvPr/>
        </p:nvSpPr>
        <p:spPr>
          <a:xfrm>
            <a:off x="5976157" y="4285656"/>
            <a:ext cx="344212" cy="369332"/>
          </a:xfrm>
          <a:prstGeom prst="rect">
            <a:avLst/>
          </a:prstGeom>
          <a:noFill/>
        </p:spPr>
        <p:txBody>
          <a:bodyPr wrap="square" rtlCol="0">
            <a:spAutoFit/>
          </a:bodyPr>
          <a:lstStyle/>
          <a:p>
            <a:r>
              <a:rPr lang="en-US" dirty="0"/>
              <a:t>1</a:t>
            </a:r>
          </a:p>
        </p:txBody>
      </p:sp>
      <p:sp>
        <p:nvSpPr>
          <p:cNvPr id="137" name="TextBox 136">
            <a:extLst>
              <a:ext uri="{FF2B5EF4-FFF2-40B4-BE49-F238E27FC236}">
                <a16:creationId xmlns:a16="http://schemas.microsoft.com/office/drawing/2014/main" id="{77819A68-FC8F-2770-2057-3AED7B20CAD6}"/>
              </a:ext>
            </a:extLst>
          </p:cNvPr>
          <p:cNvSpPr txBox="1"/>
          <p:nvPr/>
        </p:nvSpPr>
        <p:spPr>
          <a:xfrm>
            <a:off x="5939876" y="5548330"/>
            <a:ext cx="326425" cy="369332"/>
          </a:xfrm>
          <a:prstGeom prst="rect">
            <a:avLst/>
          </a:prstGeom>
          <a:noFill/>
        </p:spPr>
        <p:txBody>
          <a:bodyPr wrap="square" rtlCol="0">
            <a:spAutoFit/>
          </a:bodyPr>
          <a:lstStyle/>
          <a:p>
            <a:r>
              <a:rPr lang="en-US" dirty="0"/>
              <a:t>1</a:t>
            </a:r>
          </a:p>
        </p:txBody>
      </p:sp>
      <p:sp>
        <p:nvSpPr>
          <p:cNvPr id="142" name="TextBox 141">
            <a:extLst>
              <a:ext uri="{FF2B5EF4-FFF2-40B4-BE49-F238E27FC236}">
                <a16:creationId xmlns:a16="http://schemas.microsoft.com/office/drawing/2014/main" id="{3A675AFA-D54B-BFBF-6FEF-DE1205E03E24}"/>
              </a:ext>
            </a:extLst>
          </p:cNvPr>
          <p:cNvSpPr txBox="1"/>
          <p:nvPr/>
        </p:nvSpPr>
        <p:spPr>
          <a:xfrm>
            <a:off x="9478267" y="4363128"/>
            <a:ext cx="344212" cy="369332"/>
          </a:xfrm>
          <a:prstGeom prst="rect">
            <a:avLst/>
          </a:prstGeom>
          <a:noFill/>
        </p:spPr>
        <p:txBody>
          <a:bodyPr wrap="square" rtlCol="0">
            <a:spAutoFit/>
          </a:bodyPr>
          <a:lstStyle/>
          <a:p>
            <a:r>
              <a:rPr lang="en-US" dirty="0"/>
              <a:t>1</a:t>
            </a:r>
          </a:p>
        </p:txBody>
      </p:sp>
      <p:sp>
        <p:nvSpPr>
          <p:cNvPr id="144" name="TextBox 143">
            <a:extLst>
              <a:ext uri="{FF2B5EF4-FFF2-40B4-BE49-F238E27FC236}">
                <a16:creationId xmlns:a16="http://schemas.microsoft.com/office/drawing/2014/main" id="{A7101FD1-78E7-E71E-4D49-1A31BE02D5CE}"/>
              </a:ext>
            </a:extLst>
          </p:cNvPr>
          <p:cNvSpPr txBox="1"/>
          <p:nvPr/>
        </p:nvSpPr>
        <p:spPr>
          <a:xfrm>
            <a:off x="9344066" y="5514920"/>
            <a:ext cx="344212" cy="369332"/>
          </a:xfrm>
          <a:prstGeom prst="rect">
            <a:avLst/>
          </a:prstGeom>
          <a:noFill/>
        </p:spPr>
        <p:txBody>
          <a:bodyPr wrap="square" rtlCol="0">
            <a:spAutoFit/>
          </a:bodyPr>
          <a:lstStyle/>
          <a:p>
            <a:r>
              <a:rPr lang="en-US" dirty="0"/>
              <a:t>1</a:t>
            </a:r>
          </a:p>
        </p:txBody>
      </p:sp>
      <p:grpSp>
        <p:nvGrpSpPr>
          <p:cNvPr id="147" name="Group 146">
            <a:extLst>
              <a:ext uri="{FF2B5EF4-FFF2-40B4-BE49-F238E27FC236}">
                <a16:creationId xmlns:a16="http://schemas.microsoft.com/office/drawing/2014/main" id="{D644BBF5-0238-6C3A-E1FF-21EC2BC83290}"/>
              </a:ext>
            </a:extLst>
          </p:cNvPr>
          <p:cNvGrpSpPr/>
          <p:nvPr/>
        </p:nvGrpSpPr>
        <p:grpSpPr>
          <a:xfrm>
            <a:off x="10599748" y="1896258"/>
            <a:ext cx="1722427" cy="1077805"/>
            <a:chOff x="7900415" y="2241745"/>
            <a:chExt cx="1147418" cy="888152"/>
          </a:xfrm>
        </p:grpSpPr>
        <p:sp>
          <p:nvSpPr>
            <p:cNvPr id="148" name="TextBox 147">
              <a:extLst>
                <a:ext uri="{FF2B5EF4-FFF2-40B4-BE49-F238E27FC236}">
                  <a16:creationId xmlns:a16="http://schemas.microsoft.com/office/drawing/2014/main" id="{9F94F0EA-94D4-5B76-838D-6842D08021DF}"/>
                </a:ext>
              </a:extLst>
            </p:cNvPr>
            <p:cNvSpPr txBox="1"/>
            <p:nvPr/>
          </p:nvSpPr>
          <p:spPr>
            <a:xfrm>
              <a:off x="7955604" y="2241745"/>
              <a:ext cx="1092228" cy="329706"/>
            </a:xfrm>
            <a:prstGeom prst="rect">
              <a:avLst/>
            </a:prstGeom>
            <a:noFill/>
          </p:spPr>
          <p:txBody>
            <a:bodyPr wrap="square" rtlCol="0">
              <a:spAutoFit/>
            </a:bodyPr>
            <a:lstStyle/>
            <a:p>
              <a:pPr algn="ctr"/>
              <a:r>
                <a:rPr lang="en-US" sz="1000" dirty="0"/>
                <a:t>1: Flood plain interaction spurs productivity</a:t>
              </a:r>
            </a:p>
          </p:txBody>
        </p:sp>
        <p:sp>
          <p:nvSpPr>
            <p:cNvPr id="149" name="TextBox 148">
              <a:extLst>
                <a:ext uri="{FF2B5EF4-FFF2-40B4-BE49-F238E27FC236}">
                  <a16:creationId xmlns:a16="http://schemas.microsoft.com/office/drawing/2014/main" id="{F8B33C8C-8900-34B6-73D9-70A006BD161C}"/>
                </a:ext>
              </a:extLst>
            </p:cNvPr>
            <p:cNvSpPr txBox="1"/>
            <p:nvPr/>
          </p:nvSpPr>
          <p:spPr>
            <a:xfrm>
              <a:off x="7908889" y="2525957"/>
              <a:ext cx="1138944" cy="329706"/>
            </a:xfrm>
            <a:prstGeom prst="rect">
              <a:avLst/>
            </a:prstGeom>
            <a:noFill/>
          </p:spPr>
          <p:txBody>
            <a:bodyPr wrap="square" rtlCol="0">
              <a:spAutoFit/>
            </a:bodyPr>
            <a:lstStyle/>
            <a:p>
              <a:pPr algn="ctr"/>
              <a:r>
                <a:rPr lang="en-US" sz="1000" dirty="0"/>
                <a:t>2: Productivity unstable with increasing depth</a:t>
              </a:r>
            </a:p>
          </p:txBody>
        </p:sp>
        <p:sp>
          <p:nvSpPr>
            <p:cNvPr id="150" name="TextBox 149">
              <a:extLst>
                <a:ext uri="{FF2B5EF4-FFF2-40B4-BE49-F238E27FC236}">
                  <a16:creationId xmlns:a16="http://schemas.microsoft.com/office/drawing/2014/main" id="{0DE06998-41CB-E950-E990-5C142088C66C}"/>
                </a:ext>
              </a:extLst>
            </p:cNvPr>
            <p:cNvSpPr txBox="1"/>
            <p:nvPr/>
          </p:nvSpPr>
          <p:spPr>
            <a:xfrm>
              <a:off x="7900415" y="2800191"/>
              <a:ext cx="1138944" cy="329706"/>
            </a:xfrm>
            <a:prstGeom prst="rect">
              <a:avLst/>
            </a:prstGeom>
            <a:noFill/>
          </p:spPr>
          <p:txBody>
            <a:bodyPr wrap="square" rtlCol="0">
              <a:spAutoFit/>
            </a:bodyPr>
            <a:lstStyle/>
            <a:p>
              <a:pPr algn="ctr"/>
              <a:r>
                <a:rPr lang="en-US" sz="1000" dirty="0"/>
                <a:t>3: River nutrients spur productivity???</a:t>
              </a:r>
            </a:p>
          </p:txBody>
        </p:sp>
      </p:grpSp>
      <p:sp>
        <p:nvSpPr>
          <p:cNvPr id="152" name="TextBox 151">
            <a:extLst>
              <a:ext uri="{FF2B5EF4-FFF2-40B4-BE49-F238E27FC236}">
                <a16:creationId xmlns:a16="http://schemas.microsoft.com/office/drawing/2014/main" id="{F95ED72F-4BC8-FB09-6053-A6831FADF2D7}"/>
              </a:ext>
            </a:extLst>
          </p:cNvPr>
          <p:cNvSpPr txBox="1"/>
          <p:nvPr/>
        </p:nvSpPr>
        <p:spPr>
          <a:xfrm>
            <a:off x="7182997" y="5331586"/>
            <a:ext cx="1639580" cy="400110"/>
          </a:xfrm>
          <a:prstGeom prst="rect">
            <a:avLst/>
          </a:prstGeom>
          <a:noFill/>
        </p:spPr>
        <p:txBody>
          <a:bodyPr wrap="square" rtlCol="0">
            <a:spAutoFit/>
          </a:bodyPr>
          <a:lstStyle/>
          <a:p>
            <a:pPr algn="ctr"/>
            <a:r>
              <a:rPr lang="en-US" sz="1000" dirty="0"/>
              <a:t>1: increased light attenuation</a:t>
            </a:r>
          </a:p>
        </p:txBody>
      </p:sp>
      <p:sp>
        <p:nvSpPr>
          <p:cNvPr id="154" name="TextBox 153">
            <a:extLst>
              <a:ext uri="{FF2B5EF4-FFF2-40B4-BE49-F238E27FC236}">
                <a16:creationId xmlns:a16="http://schemas.microsoft.com/office/drawing/2014/main" id="{24D0B804-4C18-BBF5-6685-50BDF05E0F00}"/>
              </a:ext>
            </a:extLst>
          </p:cNvPr>
          <p:cNvSpPr txBox="1"/>
          <p:nvPr/>
        </p:nvSpPr>
        <p:spPr>
          <a:xfrm>
            <a:off x="6785903" y="4144357"/>
            <a:ext cx="352932" cy="369332"/>
          </a:xfrm>
          <a:prstGeom prst="rect">
            <a:avLst/>
          </a:prstGeom>
          <a:noFill/>
        </p:spPr>
        <p:txBody>
          <a:bodyPr wrap="square" rtlCol="0">
            <a:spAutoFit/>
          </a:bodyPr>
          <a:lstStyle/>
          <a:p>
            <a:r>
              <a:rPr lang="en-US" dirty="0"/>
              <a:t>2</a:t>
            </a:r>
          </a:p>
        </p:txBody>
      </p:sp>
      <p:grpSp>
        <p:nvGrpSpPr>
          <p:cNvPr id="156" name="Group 155">
            <a:extLst>
              <a:ext uri="{FF2B5EF4-FFF2-40B4-BE49-F238E27FC236}">
                <a16:creationId xmlns:a16="http://schemas.microsoft.com/office/drawing/2014/main" id="{97F14AF9-AA4A-96FF-14D6-12B610E74E87}"/>
              </a:ext>
            </a:extLst>
          </p:cNvPr>
          <p:cNvGrpSpPr/>
          <p:nvPr/>
        </p:nvGrpSpPr>
        <p:grpSpPr>
          <a:xfrm>
            <a:off x="7154163" y="3776965"/>
            <a:ext cx="1707084" cy="1227035"/>
            <a:chOff x="7258172" y="3701289"/>
            <a:chExt cx="1707084" cy="1227035"/>
          </a:xfrm>
        </p:grpSpPr>
        <p:sp>
          <p:nvSpPr>
            <p:cNvPr id="151" name="TextBox 150">
              <a:extLst>
                <a:ext uri="{FF2B5EF4-FFF2-40B4-BE49-F238E27FC236}">
                  <a16:creationId xmlns:a16="http://schemas.microsoft.com/office/drawing/2014/main" id="{1E7DBB89-5EE9-60E4-A9E0-9BA1FBA778BC}"/>
                </a:ext>
              </a:extLst>
            </p:cNvPr>
            <p:cNvSpPr txBox="1"/>
            <p:nvPr/>
          </p:nvSpPr>
          <p:spPr>
            <a:xfrm>
              <a:off x="7258172" y="3701289"/>
              <a:ext cx="1639580" cy="400110"/>
            </a:xfrm>
            <a:prstGeom prst="rect">
              <a:avLst/>
            </a:prstGeom>
            <a:noFill/>
          </p:spPr>
          <p:txBody>
            <a:bodyPr wrap="square" rtlCol="0">
              <a:spAutoFit/>
            </a:bodyPr>
            <a:lstStyle/>
            <a:p>
              <a:pPr algn="ctr"/>
              <a:r>
                <a:rPr lang="en-US" sz="1000" dirty="0"/>
                <a:t>1: increased light attenuation</a:t>
              </a:r>
            </a:p>
          </p:txBody>
        </p:sp>
        <p:sp>
          <p:nvSpPr>
            <p:cNvPr id="153" name="TextBox 152">
              <a:extLst>
                <a:ext uri="{FF2B5EF4-FFF2-40B4-BE49-F238E27FC236}">
                  <a16:creationId xmlns:a16="http://schemas.microsoft.com/office/drawing/2014/main" id="{C924D495-DCE9-9B0A-6F4B-ABA64797460B}"/>
                </a:ext>
              </a:extLst>
            </p:cNvPr>
            <p:cNvSpPr txBox="1"/>
            <p:nvPr/>
          </p:nvSpPr>
          <p:spPr>
            <a:xfrm>
              <a:off x="7366442" y="4022105"/>
              <a:ext cx="1598814" cy="553998"/>
            </a:xfrm>
            <a:prstGeom prst="rect">
              <a:avLst/>
            </a:prstGeom>
            <a:noFill/>
          </p:spPr>
          <p:txBody>
            <a:bodyPr wrap="square" rtlCol="0">
              <a:spAutoFit/>
            </a:bodyPr>
            <a:lstStyle/>
            <a:p>
              <a:pPr algn="ctr"/>
              <a:r>
                <a:rPr lang="en-US" sz="1000" dirty="0"/>
                <a:t>2: River water with less CO2 replacing or mixing with spring water</a:t>
              </a:r>
            </a:p>
          </p:txBody>
        </p:sp>
        <p:sp>
          <p:nvSpPr>
            <p:cNvPr id="155" name="TextBox 154">
              <a:extLst>
                <a:ext uri="{FF2B5EF4-FFF2-40B4-BE49-F238E27FC236}">
                  <a16:creationId xmlns:a16="http://schemas.microsoft.com/office/drawing/2014/main" id="{AB297C8D-53F1-4CFE-7DB7-5110B656DD79}"/>
                </a:ext>
              </a:extLst>
            </p:cNvPr>
            <p:cNvSpPr txBox="1"/>
            <p:nvPr/>
          </p:nvSpPr>
          <p:spPr>
            <a:xfrm>
              <a:off x="7418734" y="4528214"/>
              <a:ext cx="1532490" cy="400110"/>
            </a:xfrm>
            <a:prstGeom prst="rect">
              <a:avLst/>
            </a:prstGeom>
            <a:noFill/>
          </p:spPr>
          <p:txBody>
            <a:bodyPr wrap="square" rtlCol="0">
              <a:spAutoFit/>
            </a:bodyPr>
            <a:lstStyle/>
            <a:p>
              <a:pPr algn="ctr"/>
              <a:r>
                <a:rPr lang="en-US" sz="1000" dirty="0"/>
                <a:t>2: River nutrients spur productivity</a:t>
              </a:r>
            </a:p>
          </p:txBody>
        </p:sp>
      </p:grpSp>
      <p:sp>
        <p:nvSpPr>
          <p:cNvPr id="157" name="TextBox 156">
            <a:extLst>
              <a:ext uri="{FF2B5EF4-FFF2-40B4-BE49-F238E27FC236}">
                <a16:creationId xmlns:a16="http://schemas.microsoft.com/office/drawing/2014/main" id="{480FB344-5DA4-FD45-C71C-6B6D46593175}"/>
              </a:ext>
            </a:extLst>
          </p:cNvPr>
          <p:cNvSpPr txBox="1"/>
          <p:nvPr/>
        </p:nvSpPr>
        <p:spPr>
          <a:xfrm>
            <a:off x="7171353" y="5795097"/>
            <a:ext cx="1639580" cy="400110"/>
          </a:xfrm>
          <a:prstGeom prst="rect">
            <a:avLst/>
          </a:prstGeom>
          <a:noFill/>
        </p:spPr>
        <p:txBody>
          <a:bodyPr wrap="square" rtlCol="0">
            <a:spAutoFit/>
          </a:bodyPr>
          <a:lstStyle/>
          <a:p>
            <a:pPr algn="ctr"/>
            <a:r>
              <a:rPr lang="en-US" sz="1000" dirty="0"/>
              <a:t>2: River DOC spurring respiration </a:t>
            </a:r>
          </a:p>
        </p:txBody>
      </p:sp>
      <p:sp>
        <p:nvSpPr>
          <p:cNvPr id="158" name="TextBox 157">
            <a:extLst>
              <a:ext uri="{FF2B5EF4-FFF2-40B4-BE49-F238E27FC236}">
                <a16:creationId xmlns:a16="http://schemas.microsoft.com/office/drawing/2014/main" id="{005A0681-3CBC-A0EA-EE4E-BF681E22A912}"/>
              </a:ext>
            </a:extLst>
          </p:cNvPr>
          <p:cNvSpPr txBox="1"/>
          <p:nvPr/>
        </p:nvSpPr>
        <p:spPr>
          <a:xfrm>
            <a:off x="2717653" y="4803945"/>
            <a:ext cx="1639580" cy="400110"/>
          </a:xfrm>
          <a:prstGeom prst="rect">
            <a:avLst/>
          </a:prstGeom>
          <a:noFill/>
        </p:spPr>
        <p:txBody>
          <a:bodyPr wrap="square" rtlCol="0">
            <a:spAutoFit/>
          </a:bodyPr>
          <a:lstStyle/>
          <a:p>
            <a:pPr algn="ctr"/>
            <a:r>
              <a:rPr lang="en-US" sz="1000" dirty="0"/>
              <a:t>2: River DOC spurring respiration </a:t>
            </a:r>
          </a:p>
        </p:txBody>
      </p:sp>
      <p:sp>
        <p:nvSpPr>
          <p:cNvPr id="160" name="TextBox 159">
            <a:extLst>
              <a:ext uri="{FF2B5EF4-FFF2-40B4-BE49-F238E27FC236}">
                <a16:creationId xmlns:a16="http://schemas.microsoft.com/office/drawing/2014/main" id="{FCED494A-7E09-8963-6DF9-6BF196B898F1}"/>
              </a:ext>
            </a:extLst>
          </p:cNvPr>
          <p:cNvSpPr txBox="1"/>
          <p:nvPr/>
        </p:nvSpPr>
        <p:spPr>
          <a:xfrm>
            <a:off x="993099" y="5463571"/>
            <a:ext cx="1639580" cy="400110"/>
          </a:xfrm>
          <a:prstGeom prst="rect">
            <a:avLst/>
          </a:prstGeom>
          <a:noFill/>
        </p:spPr>
        <p:txBody>
          <a:bodyPr wrap="square" rtlCol="0">
            <a:spAutoFit/>
          </a:bodyPr>
          <a:lstStyle/>
          <a:p>
            <a:pPr algn="ctr"/>
            <a:r>
              <a:rPr lang="en-US" sz="1000" dirty="0"/>
              <a:t>1: increased light attenuation</a:t>
            </a:r>
          </a:p>
        </p:txBody>
      </p:sp>
      <p:sp>
        <p:nvSpPr>
          <p:cNvPr id="161" name="TextBox 160">
            <a:extLst>
              <a:ext uri="{FF2B5EF4-FFF2-40B4-BE49-F238E27FC236}">
                <a16:creationId xmlns:a16="http://schemas.microsoft.com/office/drawing/2014/main" id="{23615437-915C-66D9-A5D3-33BC19EED8C5}"/>
              </a:ext>
            </a:extLst>
          </p:cNvPr>
          <p:cNvSpPr txBox="1"/>
          <p:nvPr/>
        </p:nvSpPr>
        <p:spPr>
          <a:xfrm>
            <a:off x="1044798" y="1776968"/>
            <a:ext cx="1639580" cy="298798"/>
          </a:xfrm>
          <a:prstGeom prst="rect">
            <a:avLst/>
          </a:prstGeom>
          <a:noFill/>
        </p:spPr>
        <p:txBody>
          <a:bodyPr wrap="square" rtlCol="0">
            <a:spAutoFit/>
          </a:bodyPr>
          <a:lstStyle/>
          <a:p>
            <a:pPr algn="ctr"/>
            <a:r>
              <a:rPr lang="en-US" sz="1000" dirty="0"/>
              <a:t>1: increased light attenuation</a:t>
            </a:r>
          </a:p>
        </p:txBody>
      </p:sp>
      <p:sp>
        <p:nvSpPr>
          <p:cNvPr id="162" name="TextBox 161">
            <a:extLst>
              <a:ext uri="{FF2B5EF4-FFF2-40B4-BE49-F238E27FC236}">
                <a16:creationId xmlns:a16="http://schemas.microsoft.com/office/drawing/2014/main" id="{07BCDF7A-A6F3-1A26-1B22-A443734FF080}"/>
              </a:ext>
            </a:extLst>
          </p:cNvPr>
          <p:cNvSpPr txBox="1"/>
          <p:nvPr/>
        </p:nvSpPr>
        <p:spPr>
          <a:xfrm>
            <a:off x="2637047" y="2520494"/>
            <a:ext cx="1639580" cy="400110"/>
          </a:xfrm>
          <a:prstGeom prst="rect">
            <a:avLst/>
          </a:prstGeom>
          <a:noFill/>
        </p:spPr>
        <p:txBody>
          <a:bodyPr wrap="square" rtlCol="0">
            <a:spAutoFit/>
          </a:bodyPr>
          <a:lstStyle/>
          <a:p>
            <a:pPr algn="ctr"/>
            <a:r>
              <a:rPr lang="en-US" sz="1000" dirty="0"/>
              <a:t>2: Light occluded and DO is limited</a:t>
            </a:r>
          </a:p>
        </p:txBody>
      </p:sp>
      <p:sp>
        <p:nvSpPr>
          <p:cNvPr id="163" name="TextBox 162">
            <a:extLst>
              <a:ext uri="{FF2B5EF4-FFF2-40B4-BE49-F238E27FC236}">
                <a16:creationId xmlns:a16="http://schemas.microsoft.com/office/drawing/2014/main" id="{65188DBE-7837-AE90-EBD1-D192AD060AF0}"/>
              </a:ext>
            </a:extLst>
          </p:cNvPr>
          <p:cNvSpPr txBox="1"/>
          <p:nvPr/>
        </p:nvSpPr>
        <p:spPr>
          <a:xfrm>
            <a:off x="6629624" y="1097145"/>
            <a:ext cx="1959318" cy="415498"/>
          </a:xfrm>
          <a:prstGeom prst="rect">
            <a:avLst/>
          </a:prstGeom>
          <a:noFill/>
        </p:spPr>
        <p:txBody>
          <a:bodyPr wrap="square" rtlCol="0">
            <a:spAutoFit/>
          </a:bodyPr>
          <a:lstStyle/>
          <a:p>
            <a:pPr algn="ctr"/>
            <a:r>
              <a:rPr lang="en-US" sz="1050" dirty="0"/>
              <a:t>2: Mixing of higher-DO river water slows decline</a:t>
            </a:r>
          </a:p>
        </p:txBody>
      </p:sp>
      <p:sp>
        <p:nvSpPr>
          <p:cNvPr id="166" name="TextBox 165">
            <a:extLst>
              <a:ext uri="{FF2B5EF4-FFF2-40B4-BE49-F238E27FC236}">
                <a16:creationId xmlns:a16="http://schemas.microsoft.com/office/drawing/2014/main" id="{21B11355-17CA-E6B4-B1F9-7A1989AB89D1}"/>
              </a:ext>
            </a:extLst>
          </p:cNvPr>
          <p:cNvSpPr txBox="1"/>
          <p:nvPr/>
        </p:nvSpPr>
        <p:spPr>
          <a:xfrm>
            <a:off x="10658475" y="2897131"/>
            <a:ext cx="1533525" cy="553998"/>
          </a:xfrm>
          <a:prstGeom prst="rect">
            <a:avLst/>
          </a:prstGeom>
          <a:noFill/>
        </p:spPr>
        <p:txBody>
          <a:bodyPr wrap="square" rtlCol="0">
            <a:spAutoFit/>
          </a:bodyPr>
          <a:lstStyle/>
          <a:p>
            <a:pPr algn="ctr"/>
            <a:r>
              <a:rPr lang="en-US" sz="1000" dirty="0"/>
              <a:t>3: No change in DO but change in depth= GPP </a:t>
            </a:r>
            <a:r>
              <a:rPr lang="en-US" sz="1000" dirty="0" err="1"/>
              <a:t>inc</a:t>
            </a:r>
            <a:r>
              <a:rPr lang="en-US" sz="1000" dirty="0"/>
              <a:t>?</a:t>
            </a:r>
          </a:p>
        </p:txBody>
      </p:sp>
      <p:sp>
        <p:nvSpPr>
          <p:cNvPr id="168" name="TextBox 167">
            <a:extLst>
              <a:ext uri="{FF2B5EF4-FFF2-40B4-BE49-F238E27FC236}">
                <a16:creationId xmlns:a16="http://schemas.microsoft.com/office/drawing/2014/main" id="{EE156ABC-36C4-713F-6C34-CBF40E693CB8}"/>
              </a:ext>
            </a:extLst>
          </p:cNvPr>
          <p:cNvSpPr txBox="1"/>
          <p:nvPr/>
        </p:nvSpPr>
        <p:spPr>
          <a:xfrm>
            <a:off x="10473072" y="3654804"/>
            <a:ext cx="1639579" cy="400110"/>
          </a:xfrm>
          <a:prstGeom prst="rect">
            <a:avLst/>
          </a:prstGeom>
          <a:noFill/>
        </p:spPr>
        <p:txBody>
          <a:bodyPr wrap="square" rtlCol="0">
            <a:spAutoFit/>
          </a:bodyPr>
          <a:lstStyle/>
          <a:p>
            <a:pPr algn="ctr"/>
            <a:r>
              <a:rPr lang="en-US" sz="1000" dirty="0"/>
              <a:t>1: Flood plain interaction spurs productivity</a:t>
            </a:r>
          </a:p>
        </p:txBody>
      </p:sp>
      <p:sp>
        <p:nvSpPr>
          <p:cNvPr id="169" name="TextBox 168">
            <a:extLst>
              <a:ext uri="{FF2B5EF4-FFF2-40B4-BE49-F238E27FC236}">
                <a16:creationId xmlns:a16="http://schemas.microsoft.com/office/drawing/2014/main" id="{0BCED889-1C16-19A4-2FCD-77F7BA8F6B54}"/>
              </a:ext>
            </a:extLst>
          </p:cNvPr>
          <p:cNvSpPr txBox="1"/>
          <p:nvPr/>
        </p:nvSpPr>
        <p:spPr>
          <a:xfrm>
            <a:off x="10439499" y="4039525"/>
            <a:ext cx="1639580" cy="400110"/>
          </a:xfrm>
          <a:prstGeom prst="rect">
            <a:avLst/>
          </a:prstGeom>
          <a:noFill/>
        </p:spPr>
        <p:txBody>
          <a:bodyPr wrap="square" rtlCol="0">
            <a:spAutoFit/>
          </a:bodyPr>
          <a:lstStyle/>
          <a:p>
            <a:pPr algn="ctr"/>
            <a:r>
              <a:rPr lang="en-US" sz="1000" dirty="0"/>
              <a:t>2: increased light attenuation</a:t>
            </a:r>
          </a:p>
        </p:txBody>
      </p:sp>
      <p:sp>
        <p:nvSpPr>
          <p:cNvPr id="170" name="TextBox 169">
            <a:extLst>
              <a:ext uri="{FF2B5EF4-FFF2-40B4-BE49-F238E27FC236}">
                <a16:creationId xmlns:a16="http://schemas.microsoft.com/office/drawing/2014/main" id="{86C93071-9350-F074-9E36-9719BFCFDD2A}"/>
              </a:ext>
            </a:extLst>
          </p:cNvPr>
          <p:cNvSpPr txBox="1"/>
          <p:nvPr/>
        </p:nvSpPr>
        <p:spPr>
          <a:xfrm>
            <a:off x="10456285" y="4411547"/>
            <a:ext cx="1639580" cy="400110"/>
          </a:xfrm>
          <a:prstGeom prst="rect">
            <a:avLst/>
          </a:prstGeom>
          <a:noFill/>
        </p:spPr>
        <p:txBody>
          <a:bodyPr wrap="square" rtlCol="0">
            <a:spAutoFit/>
          </a:bodyPr>
          <a:lstStyle/>
          <a:p>
            <a:pPr algn="ctr"/>
            <a:r>
              <a:rPr lang="en-US" sz="1000" dirty="0"/>
              <a:t>2: River DOC spurring respiration </a:t>
            </a:r>
          </a:p>
        </p:txBody>
      </p:sp>
      <p:sp>
        <p:nvSpPr>
          <p:cNvPr id="171" name="TextBox 170">
            <a:extLst>
              <a:ext uri="{FF2B5EF4-FFF2-40B4-BE49-F238E27FC236}">
                <a16:creationId xmlns:a16="http://schemas.microsoft.com/office/drawing/2014/main" id="{2C0F9CAF-2A2E-10DF-ECF3-64AC2554660C}"/>
              </a:ext>
            </a:extLst>
          </p:cNvPr>
          <p:cNvSpPr txBox="1"/>
          <p:nvPr/>
        </p:nvSpPr>
        <p:spPr>
          <a:xfrm>
            <a:off x="10269948" y="4400703"/>
            <a:ext cx="352932" cy="369332"/>
          </a:xfrm>
          <a:prstGeom prst="rect">
            <a:avLst/>
          </a:prstGeom>
          <a:noFill/>
        </p:spPr>
        <p:txBody>
          <a:bodyPr wrap="square" rtlCol="0">
            <a:spAutoFit/>
          </a:bodyPr>
          <a:lstStyle/>
          <a:p>
            <a:r>
              <a:rPr lang="en-US" dirty="0"/>
              <a:t>2</a:t>
            </a:r>
          </a:p>
        </p:txBody>
      </p:sp>
      <p:sp>
        <p:nvSpPr>
          <p:cNvPr id="172" name="TextBox 171">
            <a:extLst>
              <a:ext uri="{FF2B5EF4-FFF2-40B4-BE49-F238E27FC236}">
                <a16:creationId xmlns:a16="http://schemas.microsoft.com/office/drawing/2014/main" id="{7FC36FDB-8A57-6795-685F-0B7C5386C1ED}"/>
              </a:ext>
            </a:extLst>
          </p:cNvPr>
          <p:cNvSpPr txBox="1"/>
          <p:nvPr/>
        </p:nvSpPr>
        <p:spPr>
          <a:xfrm>
            <a:off x="9992442" y="5584016"/>
            <a:ext cx="352932" cy="369332"/>
          </a:xfrm>
          <a:prstGeom prst="rect">
            <a:avLst/>
          </a:prstGeom>
          <a:noFill/>
        </p:spPr>
        <p:txBody>
          <a:bodyPr wrap="square" rtlCol="0">
            <a:spAutoFit/>
          </a:bodyPr>
          <a:lstStyle/>
          <a:p>
            <a:r>
              <a:rPr lang="en-US" dirty="0"/>
              <a:t>2</a:t>
            </a:r>
          </a:p>
        </p:txBody>
      </p:sp>
      <p:sp>
        <p:nvSpPr>
          <p:cNvPr id="173" name="TextBox 172">
            <a:extLst>
              <a:ext uri="{FF2B5EF4-FFF2-40B4-BE49-F238E27FC236}">
                <a16:creationId xmlns:a16="http://schemas.microsoft.com/office/drawing/2014/main" id="{FE5E8A76-3C4F-5934-8187-B9CF50EEC93F}"/>
              </a:ext>
            </a:extLst>
          </p:cNvPr>
          <p:cNvSpPr txBox="1"/>
          <p:nvPr/>
        </p:nvSpPr>
        <p:spPr>
          <a:xfrm>
            <a:off x="10473072" y="5363664"/>
            <a:ext cx="352932" cy="369332"/>
          </a:xfrm>
          <a:prstGeom prst="rect">
            <a:avLst/>
          </a:prstGeom>
          <a:noFill/>
        </p:spPr>
        <p:txBody>
          <a:bodyPr wrap="square" rtlCol="0">
            <a:spAutoFit/>
          </a:bodyPr>
          <a:lstStyle/>
          <a:p>
            <a:r>
              <a:rPr lang="en-US" dirty="0"/>
              <a:t>3</a:t>
            </a:r>
          </a:p>
        </p:txBody>
      </p:sp>
      <p:sp>
        <p:nvSpPr>
          <p:cNvPr id="174" name="TextBox 173">
            <a:extLst>
              <a:ext uri="{FF2B5EF4-FFF2-40B4-BE49-F238E27FC236}">
                <a16:creationId xmlns:a16="http://schemas.microsoft.com/office/drawing/2014/main" id="{F06D98AC-06F7-ACD4-F557-8925F40B65D8}"/>
              </a:ext>
            </a:extLst>
          </p:cNvPr>
          <p:cNvSpPr txBox="1"/>
          <p:nvPr/>
        </p:nvSpPr>
        <p:spPr>
          <a:xfrm>
            <a:off x="10594305" y="5253389"/>
            <a:ext cx="1639579" cy="400110"/>
          </a:xfrm>
          <a:prstGeom prst="rect">
            <a:avLst/>
          </a:prstGeom>
          <a:noFill/>
        </p:spPr>
        <p:txBody>
          <a:bodyPr wrap="square" rtlCol="0">
            <a:spAutoFit/>
          </a:bodyPr>
          <a:lstStyle/>
          <a:p>
            <a:pPr algn="ctr"/>
            <a:r>
              <a:rPr lang="en-US" sz="1000" dirty="0"/>
              <a:t>1: Flood plain interaction spurs productivity</a:t>
            </a:r>
          </a:p>
        </p:txBody>
      </p:sp>
      <p:sp>
        <p:nvSpPr>
          <p:cNvPr id="175" name="TextBox 174">
            <a:extLst>
              <a:ext uri="{FF2B5EF4-FFF2-40B4-BE49-F238E27FC236}">
                <a16:creationId xmlns:a16="http://schemas.microsoft.com/office/drawing/2014/main" id="{0A5E74C5-D54F-33D8-1EDF-84804D299313}"/>
              </a:ext>
            </a:extLst>
          </p:cNvPr>
          <p:cNvSpPr txBox="1"/>
          <p:nvPr/>
        </p:nvSpPr>
        <p:spPr>
          <a:xfrm>
            <a:off x="10638250" y="5584016"/>
            <a:ext cx="1639580" cy="400110"/>
          </a:xfrm>
          <a:prstGeom prst="rect">
            <a:avLst/>
          </a:prstGeom>
          <a:noFill/>
        </p:spPr>
        <p:txBody>
          <a:bodyPr wrap="square" rtlCol="0">
            <a:spAutoFit/>
          </a:bodyPr>
          <a:lstStyle/>
          <a:p>
            <a:pPr algn="ctr"/>
            <a:r>
              <a:rPr lang="en-US" sz="1000" dirty="0"/>
              <a:t>2: increased light attenuation</a:t>
            </a:r>
          </a:p>
        </p:txBody>
      </p:sp>
      <p:sp>
        <p:nvSpPr>
          <p:cNvPr id="176" name="TextBox 175">
            <a:extLst>
              <a:ext uri="{FF2B5EF4-FFF2-40B4-BE49-F238E27FC236}">
                <a16:creationId xmlns:a16="http://schemas.microsoft.com/office/drawing/2014/main" id="{25D057BB-B255-5784-2A01-CDBDA7F56682}"/>
              </a:ext>
            </a:extLst>
          </p:cNvPr>
          <p:cNvSpPr txBox="1"/>
          <p:nvPr/>
        </p:nvSpPr>
        <p:spPr>
          <a:xfrm>
            <a:off x="10591543" y="5917662"/>
            <a:ext cx="1709706" cy="400110"/>
          </a:xfrm>
          <a:prstGeom prst="rect">
            <a:avLst/>
          </a:prstGeom>
          <a:noFill/>
        </p:spPr>
        <p:txBody>
          <a:bodyPr wrap="square" rtlCol="0">
            <a:spAutoFit/>
          </a:bodyPr>
          <a:lstStyle/>
          <a:p>
            <a:pPr algn="ctr"/>
            <a:r>
              <a:rPr lang="en-US" sz="1000" dirty="0"/>
              <a:t>3: River nutrients spur productivity???</a:t>
            </a:r>
          </a:p>
        </p:txBody>
      </p:sp>
      <p:sp>
        <p:nvSpPr>
          <p:cNvPr id="177" name="TextBox 176">
            <a:extLst>
              <a:ext uri="{FF2B5EF4-FFF2-40B4-BE49-F238E27FC236}">
                <a16:creationId xmlns:a16="http://schemas.microsoft.com/office/drawing/2014/main" id="{52FBBAC2-AA9A-A98E-DFC9-BB438B93D125}"/>
              </a:ext>
            </a:extLst>
          </p:cNvPr>
          <p:cNvSpPr txBox="1"/>
          <p:nvPr/>
        </p:nvSpPr>
        <p:spPr>
          <a:xfrm>
            <a:off x="10744305" y="6296534"/>
            <a:ext cx="1533525" cy="553998"/>
          </a:xfrm>
          <a:prstGeom prst="rect">
            <a:avLst/>
          </a:prstGeom>
          <a:noFill/>
        </p:spPr>
        <p:txBody>
          <a:bodyPr wrap="square" rtlCol="0">
            <a:spAutoFit/>
          </a:bodyPr>
          <a:lstStyle/>
          <a:p>
            <a:pPr algn="ctr"/>
            <a:r>
              <a:rPr lang="en-US" sz="1000" dirty="0"/>
              <a:t>3: No change in DO but change in depth= GPP </a:t>
            </a:r>
            <a:r>
              <a:rPr lang="en-US" sz="1000" dirty="0" err="1"/>
              <a:t>inc</a:t>
            </a:r>
            <a:r>
              <a:rPr lang="en-US" sz="1000" dirty="0"/>
              <a:t>?</a:t>
            </a:r>
          </a:p>
        </p:txBody>
      </p:sp>
      <p:sp>
        <p:nvSpPr>
          <p:cNvPr id="178" name="TextBox 177">
            <a:extLst>
              <a:ext uri="{FF2B5EF4-FFF2-40B4-BE49-F238E27FC236}">
                <a16:creationId xmlns:a16="http://schemas.microsoft.com/office/drawing/2014/main" id="{C38ADF85-5E07-EB96-FA2F-84D4F8453EC3}"/>
              </a:ext>
            </a:extLst>
          </p:cNvPr>
          <p:cNvSpPr txBox="1"/>
          <p:nvPr/>
        </p:nvSpPr>
        <p:spPr>
          <a:xfrm rot="16200000">
            <a:off x="-311374" y="4661681"/>
            <a:ext cx="1515956" cy="369332"/>
          </a:xfrm>
          <a:prstGeom prst="rect">
            <a:avLst/>
          </a:prstGeom>
          <a:noFill/>
        </p:spPr>
        <p:txBody>
          <a:bodyPr wrap="square" rtlCol="0">
            <a:spAutoFit/>
          </a:bodyPr>
          <a:lstStyle/>
          <a:p>
            <a:r>
              <a:rPr lang="en-US" dirty="0"/>
              <a:t>CO2/|ER|</a:t>
            </a:r>
          </a:p>
        </p:txBody>
      </p:sp>
      <p:sp>
        <p:nvSpPr>
          <p:cNvPr id="179" name="TextBox 178">
            <a:extLst>
              <a:ext uri="{FF2B5EF4-FFF2-40B4-BE49-F238E27FC236}">
                <a16:creationId xmlns:a16="http://schemas.microsoft.com/office/drawing/2014/main" id="{E5FBD756-ADE9-4136-6C9F-83ABCC66F15A}"/>
              </a:ext>
            </a:extLst>
          </p:cNvPr>
          <p:cNvSpPr txBox="1"/>
          <p:nvPr/>
        </p:nvSpPr>
        <p:spPr>
          <a:xfrm>
            <a:off x="10531190" y="4765430"/>
            <a:ext cx="1639580" cy="246221"/>
          </a:xfrm>
          <a:prstGeom prst="rect">
            <a:avLst/>
          </a:prstGeom>
          <a:noFill/>
        </p:spPr>
        <p:txBody>
          <a:bodyPr wrap="square" rtlCol="0">
            <a:spAutoFit/>
          </a:bodyPr>
          <a:lstStyle/>
          <a:p>
            <a:pPr algn="ctr"/>
            <a:r>
              <a:rPr lang="en-US" sz="1000" dirty="0"/>
              <a:t>2: DO limitation</a:t>
            </a:r>
          </a:p>
        </p:txBody>
      </p:sp>
      <p:sp>
        <p:nvSpPr>
          <p:cNvPr id="180" name="TextBox 179">
            <a:extLst>
              <a:ext uri="{FF2B5EF4-FFF2-40B4-BE49-F238E27FC236}">
                <a16:creationId xmlns:a16="http://schemas.microsoft.com/office/drawing/2014/main" id="{897919AE-0919-0EA3-0E02-E2314BE2C4CC}"/>
              </a:ext>
            </a:extLst>
          </p:cNvPr>
          <p:cNvSpPr txBox="1"/>
          <p:nvPr/>
        </p:nvSpPr>
        <p:spPr>
          <a:xfrm>
            <a:off x="7281602" y="4944551"/>
            <a:ext cx="1639580" cy="246221"/>
          </a:xfrm>
          <a:prstGeom prst="rect">
            <a:avLst/>
          </a:prstGeom>
          <a:noFill/>
        </p:spPr>
        <p:txBody>
          <a:bodyPr wrap="square" rtlCol="0">
            <a:spAutoFit/>
          </a:bodyPr>
          <a:lstStyle/>
          <a:p>
            <a:pPr algn="ctr"/>
            <a:r>
              <a:rPr lang="en-US" sz="1000" dirty="0"/>
              <a:t>2: DO limitation</a:t>
            </a:r>
          </a:p>
        </p:txBody>
      </p:sp>
    </p:spTree>
    <p:extLst>
      <p:ext uri="{BB962C8B-B14F-4D97-AF65-F5344CB8AC3E}">
        <p14:creationId xmlns:p14="http://schemas.microsoft.com/office/powerpoint/2010/main" val="3116752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D7E5D-8EB5-F2D4-AD46-0EF38AD9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5A5B6-6E18-FBAA-E326-FB154EE1A0EC}"/>
              </a:ext>
            </a:extLst>
          </p:cNvPr>
          <p:cNvSpPr>
            <a:spLocks noGrp="1"/>
          </p:cNvSpPr>
          <p:nvPr>
            <p:ph type="title"/>
          </p:nvPr>
        </p:nvSpPr>
        <p:spPr>
          <a:xfrm>
            <a:off x="297656" y="199031"/>
            <a:ext cx="11668125" cy="645149"/>
          </a:xfrm>
        </p:spPr>
        <p:txBody>
          <a:bodyPr>
            <a:noAutofit/>
          </a:bodyPr>
          <a:lstStyle/>
          <a:p>
            <a:pPr algn="ctr"/>
            <a:r>
              <a:rPr lang="en-US" sz="2000" b="1" dirty="0"/>
              <a:t>Results: </a:t>
            </a:r>
            <a:r>
              <a:rPr lang="en-US" sz="2000" i="1" dirty="0"/>
              <a:t>The spring metabolic signal will exhibit two breakpoints with depth: spring productivity will moderately decline with increasing stage and undergo a severe dropout at depths that trigger backwater flooding.</a:t>
            </a:r>
            <a:br>
              <a:rPr lang="en-US" sz="2000" i="1" dirty="0"/>
            </a:br>
            <a:endParaRPr lang="en-US" sz="2000" i="1" dirty="0"/>
          </a:p>
        </p:txBody>
      </p:sp>
      <p:grpSp>
        <p:nvGrpSpPr>
          <p:cNvPr id="26" name="Group 25">
            <a:extLst>
              <a:ext uri="{FF2B5EF4-FFF2-40B4-BE49-F238E27FC236}">
                <a16:creationId xmlns:a16="http://schemas.microsoft.com/office/drawing/2014/main" id="{BC4841CD-4E2F-DD8A-3217-59961B436D1A}"/>
              </a:ext>
            </a:extLst>
          </p:cNvPr>
          <p:cNvGrpSpPr/>
          <p:nvPr/>
        </p:nvGrpSpPr>
        <p:grpSpPr>
          <a:xfrm>
            <a:off x="626739" y="1695838"/>
            <a:ext cx="2914651" cy="2124073"/>
            <a:chOff x="542925" y="2847975"/>
            <a:chExt cx="1276350" cy="1095375"/>
          </a:xfrm>
        </p:grpSpPr>
        <p:cxnSp>
          <p:nvCxnSpPr>
            <p:cNvPr id="27" name="Straight Arrow Connector 26">
              <a:extLst>
                <a:ext uri="{FF2B5EF4-FFF2-40B4-BE49-F238E27FC236}">
                  <a16:creationId xmlns:a16="http://schemas.microsoft.com/office/drawing/2014/main" id="{754BD1FD-7119-EAB9-6DA0-9E98E08DC071}"/>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377019DB-80BD-CC08-7327-BD0D2F1DDB2C}"/>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42" name="Group 41">
            <a:extLst>
              <a:ext uri="{FF2B5EF4-FFF2-40B4-BE49-F238E27FC236}">
                <a16:creationId xmlns:a16="http://schemas.microsoft.com/office/drawing/2014/main" id="{1E7CE028-4C5E-A6F6-D653-DB5888AB78E4}"/>
              </a:ext>
            </a:extLst>
          </p:cNvPr>
          <p:cNvGrpSpPr/>
          <p:nvPr/>
        </p:nvGrpSpPr>
        <p:grpSpPr>
          <a:xfrm>
            <a:off x="893439" y="2352665"/>
            <a:ext cx="2302669" cy="1123290"/>
            <a:chOff x="1038225" y="2495550"/>
            <a:chExt cx="2302669" cy="1123290"/>
          </a:xfrm>
        </p:grpSpPr>
        <p:cxnSp>
          <p:nvCxnSpPr>
            <p:cNvPr id="30" name="Straight Connector 29">
              <a:extLst>
                <a:ext uri="{FF2B5EF4-FFF2-40B4-BE49-F238E27FC236}">
                  <a16:creationId xmlns:a16="http://schemas.microsoft.com/office/drawing/2014/main" id="{1B4933BF-3B41-B89C-6E3A-B406B1F55EF2}"/>
                </a:ext>
              </a:extLst>
            </p:cNvPr>
            <p:cNvCxnSpPr>
              <a:cxnSpLocks/>
            </p:cNvCxnSpPr>
            <p:nvPr/>
          </p:nvCxnSpPr>
          <p:spPr>
            <a:xfrm>
              <a:off x="1038225" y="2495550"/>
              <a:ext cx="1185863" cy="194076"/>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E904EABE-7C92-3E5A-1CA6-3CE5AD61ADED}"/>
                </a:ext>
              </a:extLst>
            </p:cNvPr>
            <p:cNvCxnSpPr>
              <a:cxnSpLocks/>
            </p:cNvCxnSpPr>
            <p:nvPr/>
          </p:nvCxnSpPr>
          <p:spPr>
            <a:xfrm>
              <a:off x="2212182" y="2689626"/>
              <a:ext cx="1128712" cy="929214"/>
            </a:xfrm>
            <a:prstGeom prst="line">
              <a:avLst/>
            </a:prstGeom>
          </p:spPr>
          <p:style>
            <a:lnRef idx="2">
              <a:schemeClr val="accent1"/>
            </a:lnRef>
            <a:fillRef idx="0">
              <a:schemeClr val="accent1"/>
            </a:fillRef>
            <a:effectRef idx="1">
              <a:schemeClr val="accent1"/>
            </a:effectRef>
            <a:fontRef idx="minor">
              <a:schemeClr val="tx1"/>
            </a:fontRef>
          </p:style>
        </p:cxnSp>
      </p:grpSp>
      <p:sp>
        <p:nvSpPr>
          <p:cNvPr id="44" name="TextBox 43">
            <a:extLst>
              <a:ext uri="{FF2B5EF4-FFF2-40B4-BE49-F238E27FC236}">
                <a16:creationId xmlns:a16="http://schemas.microsoft.com/office/drawing/2014/main" id="{BDCF8AA9-6CA1-D21C-C8CC-EC7E7BF8FE1A}"/>
              </a:ext>
            </a:extLst>
          </p:cNvPr>
          <p:cNvSpPr txBox="1"/>
          <p:nvPr/>
        </p:nvSpPr>
        <p:spPr>
          <a:xfrm rot="16200000">
            <a:off x="-456892" y="2443209"/>
            <a:ext cx="1806990" cy="369332"/>
          </a:xfrm>
          <a:prstGeom prst="rect">
            <a:avLst/>
          </a:prstGeom>
          <a:noFill/>
        </p:spPr>
        <p:txBody>
          <a:bodyPr wrap="square" rtlCol="0">
            <a:spAutoFit/>
          </a:bodyPr>
          <a:lstStyle/>
          <a:p>
            <a:r>
              <a:rPr lang="en-US" dirty="0"/>
              <a:t>DO/GPP/NEP</a:t>
            </a:r>
          </a:p>
        </p:txBody>
      </p:sp>
      <p:sp>
        <p:nvSpPr>
          <p:cNvPr id="46" name="TextBox 45">
            <a:extLst>
              <a:ext uri="{FF2B5EF4-FFF2-40B4-BE49-F238E27FC236}">
                <a16:creationId xmlns:a16="http://schemas.microsoft.com/office/drawing/2014/main" id="{6B2BB61C-694C-E839-2277-1D1AFDEDB6FC}"/>
              </a:ext>
            </a:extLst>
          </p:cNvPr>
          <p:cNvSpPr txBox="1"/>
          <p:nvPr/>
        </p:nvSpPr>
        <p:spPr>
          <a:xfrm>
            <a:off x="987248" y="3787800"/>
            <a:ext cx="2689873" cy="369332"/>
          </a:xfrm>
          <a:prstGeom prst="rect">
            <a:avLst/>
          </a:prstGeom>
          <a:noFill/>
        </p:spPr>
        <p:txBody>
          <a:bodyPr wrap="square" rtlCol="0">
            <a:spAutoFit/>
          </a:bodyPr>
          <a:lstStyle/>
          <a:p>
            <a:r>
              <a:rPr lang="en-US" dirty="0"/>
              <a:t>Stage Percent Change</a:t>
            </a:r>
          </a:p>
        </p:txBody>
      </p:sp>
      <p:sp>
        <p:nvSpPr>
          <p:cNvPr id="48" name="TextBox 47">
            <a:extLst>
              <a:ext uri="{FF2B5EF4-FFF2-40B4-BE49-F238E27FC236}">
                <a16:creationId xmlns:a16="http://schemas.microsoft.com/office/drawing/2014/main" id="{8B66E689-FCEA-C045-BB0E-45C758C445AB}"/>
              </a:ext>
            </a:extLst>
          </p:cNvPr>
          <p:cNvSpPr txBox="1"/>
          <p:nvPr/>
        </p:nvSpPr>
        <p:spPr>
          <a:xfrm>
            <a:off x="784012" y="1448289"/>
            <a:ext cx="2689873" cy="369332"/>
          </a:xfrm>
          <a:prstGeom prst="rect">
            <a:avLst/>
          </a:prstGeom>
          <a:noFill/>
        </p:spPr>
        <p:txBody>
          <a:bodyPr wrap="square" rtlCol="0">
            <a:spAutoFit/>
          </a:bodyPr>
          <a:lstStyle/>
          <a:p>
            <a:pPr algn="ctr"/>
            <a:r>
              <a:rPr lang="en-US" dirty="0"/>
              <a:t>Hypothesis 1</a:t>
            </a:r>
          </a:p>
        </p:txBody>
      </p:sp>
      <p:cxnSp>
        <p:nvCxnSpPr>
          <p:cNvPr id="50" name="Straight Arrow Connector 49">
            <a:extLst>
              <a:ext uri="{FF2B5EF4-FFF2-40B4-BE49-F238E27FC236}">
                <a16:creationId xmlns:a16="http://schemas.microsoft.com/office/drawing/2014/main" id="{E19EF96D-98A9-FBFE-807C-5471085646E4}"/>
              </a:ext>
            </a:extLst>
          </p:cNvPr>
          <p:cNvCxnSpPr>
            <a:cxnSpLocks/>
          </p:cNvCxnSpPr>
          <p:nvPr/>
        </p:nvCxnSpPr>
        <p:spPr>
          <a:xfrm>
            <a:off x="3618398" y="3819911"/>
            <a:ext cx="928196" cy="0"/>
          </a:xfrm>
          <a:prstGeom prst="straightConnector1">
            <a:avLst/>
          </a:prstGeom>
          <a:ln w="152400">
            <a:tailEnd type="triangle"/>
          </a:ln>
        </p:spPr>
        <p:style>
          <a:lnRef idx="2">
            <a:schemeClr val="accent6"/>
          </a:lnRef>
          <a:fillRef idx="0">
            <a:schemeClr val="accent6"/>
          </a:fillRef>
          <a:effectRef idx="1">
            <a:schemeClr val="accent6"/>
          </a:effectRef>
          <a:fontRef idx="minor">
            <a:schemeClr val="tx1"/>
          </a:fontRef>
        </p:style>
      </p:cxnSp>
      <p:sp>
        <p:nvSpPr>
          <p:cNvPr id="51" name="TextBox 50">
            <a:extLst>
              <a:ext uri="{FF2B5EF4-FFF2-40B4-BE49-F238E27FC236}">
                <a16:creationId xmlns:a16="http://schemas.microsoft.com/office/drawing/2014/main" id="{99A65F58-77C4-63B4-0AF6-8CA2CEF23BC9}"/>
              </a:ext>
            </a:extLst>
          </p:cNvPr>
          <p:cNvSpPr txBox="1"/>
          <p:nvPr/>
        </p:nvSpPr>
        <p:spPr>
          <a:xfrm>
            <a:off x="3714704" y="3291289"/>
            <a:ext cx="864758" cy="369332"/>
          </a:xfrm>
          <a:prstGeom prst="rect">
            <a:avLst/>
          </a:prstGeom>
          <a:noFill/>
        </p:spPr>
        <p:txBody>
          <a:bodyPr wrap="square" rtlCol="0">
            <a:spAutoFit/>
          </a:bodyPr>
          <a:lstStyle/>
          <a:p>
            <a:pPr algn="ctr"/>
            <a:r>
              <a:rPr lang="en-US" dirty="0"/>
              <a:t>Actual</a:t>
            </a:r>
          </a:p>
        </p:txBody>
      </p:sp>
      <p:sp>
        <p:nvSpPr>
          <p:cNvPr id="161" name="TextBox 160">
            <a:extLst>
              <a:ext uri="{FF2B5EF4-FFF2-40B4-BE49-F238E27FC236}">
                <a16:creationId xmlns:a16="http://schemas.microsoft.com/office/drawing/2014/main" id="{752CD709-9E94-3C8D-A873-CDBC315ECABE}"/>
              </a:ext>
            </a:extLst>
          </p:cNvPr>
          <p:cNvSpPr txBox="1"/>
          <p:nvPr/>
        </p:nvSpPr>
        <p:spPr>
          <a:xfrm>
            <a:off x="953234" y="2066105"/>
            <a:ext cx="1639580" cy="298798"/>
          </a:xfrm>
          <a:prstGeom prst="rect">
            <a:avLst/>
          </a:prstGeom>
          <a:noFill/>
        </p:spPr>
        <p:txBody>
          <a:bodyPr wrap="square" rtlCol="0">
            <a:spAutoFit/>
          </a:bodyPr>
          <a:lstStyle/>
          <a:p>
            <a:pPr algn="ctr"/>
            <a:r>
              <a:rPr lang="en-US" sz="1000" dirty="0"/>
              <a:t>1: increased light attenuation</a:t>
            </a:r>
          </a:p>
        </p:txBody>
      </p:sp>
      <p:sp>
        <p:nvSpPr>
          <p:cNvPr id="162" name="TextBox 161">
            <a:extLst>
              <a:ext uri="{FF2B5EF4-FFF2-40B4-BE49-F238E27FC236}">
                <a16:creationId xmlns:a16="http://schemas.microsoft.com/office/drawing/2014/main" id="{691F8255-11E7-30DF-DE62-81B9DE632F72}"/>
              </a:ext>
            </a:extLst>
          </p:cNvPr>
          <p:cNvSpPr txBox="1"/>
          <p:nvPr/>
        </p:nvSpPr>
        <p:spPr>
          <a:xfrm>
            <a:off x="2545483" y="2809631"/>
            <a:ext cx="1639580" cy="400110"/>
          </a:xfrm>
          <a:prstGeom prst="rect">
            <a:avLst/>
          </a:prstGeom>
          <a:noFill/>
        </p:spPr>
        <p:txBody>
          <a:bodyPr wrap="square" rtlCol="0">
            <a:spAutoFit/>
          </a:bodyPr>
          <a:lstStyle/>
          <a:p>
            <a:pPr algn="ctr"/>
            <a:r>
              <a:rPr lang="en-US" sz="1000" dirty="0"/>
              <a:t>2: Light occluded and DO is limited</a:t>
            </a:r>
          </a:p>
        </p:txBody>
      </p:sp>
      <p:sp>
        <p:nvSpPr>
          <p:cNvPr id="3" name="Title 1">
            <a:extLst>
              <a:ext uri="{FF2B5EF4-FFF2-40B4-BE49-F238E27FC236}">
                <a16:creationId xmlns:a16="http://schemas.microsoft.com/office/drawing/2014/main" id="{3A1D43C6-E2B3-C1A3-A961-069C543C0C83}"/>
              </a:ext>
            </a:extLst>
          </p:cNvPr>
          <p:cNvSpPr txBox="1">
            <a:spLocks/>
          </p:cNvSpPr>
          <p:nvPr/>
        </p:nvSpPr>
        <p:spPr>
          <a:xfrm>
            <a:off x="261937" y="803140"/>
            <a:ext cx="11668125" cy="6451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b="1" dirty="0"/>
              <a:t>Results: </a:t>
            </a:r>
            <a:r>
              <a:rPr lang="en-US" sz="2000" b="1" i="1" dirty="0"/>
              <a:t>ER and GPP respond complementary to backwater floods resulting in a distinct decline in NEP.</a:t>
            </a:r>
            <a:br>
              <a:rPr lang="en-US" sz="2000" i="1" dirty="0"/>
            </a:br>
            <a:endParaRPr lang="en-US" sz="2000" i="1" dirty="0"/>
          </a:p>
        </p:txBody>
      </p:sp>
      <p:grpSp>
        <p:nvGrpSpPr>
          <p:cNvPr id="5" name="Group 4">
            <a:extLst>
              <a:ext uri="{FF2B5EF4-FFF2-40B4-BE49-F238E27FC236}">
                <a16:creationId xmlns:a16="http://schemas.microsoft.com/office/drawing/2014/main" id="{DEDED2BE-6724-E0FD-D96D-B67A5453CAC0}"/>
              </a:ext>
            </a:extLst>
          </p:cNvPr>
          <p:cNvGrpSpPr/>
          <p:nvPr/>
        </p:nvGrpSpPr>
        <p:grpSpPr>
          <a:xfrm>
            <a:off x="702231" y="4088370"/>
            <a:ext cx="2914651" cy="2124073"/>
            <a:chOff x="542925" y="2847975"/>
            <a:chExt cx="1276350" cy="1095375"/>
          </a:xfrm>
        </p:grpSpPr>
        <p:cxnSp>
          <p:nvCxnSpPr>
            <p:cNvPr id="21" name="Straight Arrow Connector 20">
              <a:extLst>
                <a:ext uri="{FF2B5EF4-FFF2-40B4-BE49-F238E27FC236}">
                  <a16:creationId xmlns:a16="http://schemas.microsoft.com/office/drawing/2014/main" id="{729120CE-42B1-7CB1-D760-7D85596A25CB}"/>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775C240E-C540-09F6-787B-4229E807B082}"/>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32" name="Group 31">
            <a:extLst>
              <a:ext uri="{FF2B5EF4-FFF2-40B4-BE49-F238E27FC236}">
                <a16:creationId xmlns:a16="http://schemas.microsoft.com/office/drawing/2014/main" id="{8F5F9925-5E98-1A5C-B756-4B20B603E096}"/>
              </a:ext>
            </a:extLst>
          </p:cNvPr>
          <p:cNvGrpSpPr/>
          <p:nvPr/>
        </p:nvGrpSpPr>
        <p:grpSpPr>
          <a:xfrm>
            <a:off x="985003" y="4468842"/>
            <a:ext cx="2336621" cy="1046078"/>
            <a:chOff x="1054297" y="4687225"/>
            <a:chExt cx="2336621" cy="1046078"/>
          </a:xfrm>
        </p:grpSpPr>
        <p:cxnSp>
          <p:nvCxnSpPr>
            <p:cNvPr id="35" name="Straight Connector 34">
              <a:extLst>
                <a:ext uri="{FF2B5EF4-FFF2-40B4-BE49-F238E27FC236}">
                  <a16:creationId xmlns:a16="http://schemas.microsoft.com/office/drawing/2014/main" id="{A6B1524A-27EE-300E-6307-29D72D15040A}"/>
                </a:ext>
              </a:extLst>
            </p:cNvPr>
            <p:cNvCxnSpPr>
              <a:cxnSpLocks/>
            </p:cNvCxnSpPr>
            <p:nvPr/>
          </p:nvCxnSpPr>
          <p:spPr>
            <a:xfrm flipV="1">
              <a:off x="1054297" y="5455042"/>
              <a:ext cx="1190626" cy="278261"/>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3925351A-2F8A-800F-BFB3-F24357A38DE9}"/>
                </a:ext>
              </a:extLst>
            </p:cNvPr>
            <p:cNvCxnSpPr>
              <a:cxnSpLocks/>
            </p:cNvCxnSpPr>
            <p:nvPr/>
          </p:nvCxnSpPr>
          <p:spPr>
            <a:xfrm flipV="1">
              <a:off x="2243752" y="4687225"/>
              <a:ext cx="1147166" cy="769408"/>
            </a:xfrm>
            <a:prstGeom prst="line">
              <a:avLst/>
            </a:prstGeom>
          </p:spPr>
          <p:style>
            <a:lnRef idx="2">
              <a:schemeClr val="accent1"/>
            </a:lnRef>
            <a:fillRef idx="0">
              <a:schemeClr val="accent1"/>
            </a:fillRef>
            <a:effectRef idx="1">
              <a:schemeClr val="accent1"/>
            </a:effectRef>
            <a:fontRef idx="minor">
              <a:schemeClr val="tx1"/>
            </a:fontRef>
          </p:style>
        </p:cxnSp>
      </p:grpSp>
      <p:sp>
        <p:nvSpPr>
          <p:cNvPr id="39" name="TextBox 38">
            <a:extLst>
              <a:ext uri="{FF2B5EF4-FFF2-40B4-BE49-F238E27FC236}">
                <a16:creationId xmlns:a16="http://schemas.microsoft.com/office/drawing/2014/main" id="{35524E93-C73B-CDC9-2CFB-1913801C240D}"/>
              </a:ext>
            </a:extLst>
          </p:cNvPr>
          <p:cNvSpPr txBox="1"/>
          <p:nvPr/>
        </p:nvSpPr>
        <p:spPr>
          <a:xfrm rot="16200000">
            <a:off x="-311374" y="4661681"/>
            <a:ext cx="1515956" cy="369332"/>
          </a:xfrm>
          <a:prstGeom prst="rect">
            <a:avLst/>
          </a:prstGeom>
          <a:noFill/>
        </p:spPr>
        <p:txBody>
          <a:bodyPr wrap="square" rtlCol="0">
            <a:spAutoFit/>
          </a:bodyPr>
          <a:lstStyle/>
          <a:p>
            <a:r>
              <a:rPr lang="en-US" dirty="0"/>
              <a:t>CO2/|ER|</a:t>
            </a:r>
          </a:p>
        </p:txBody>
      </p:sp>
      <p:sp>
        <p:nvSpPr>
          <p:cNvPr id="49" name="TextBox 48">
            <a:extLst>
              <a:ext uri="{FF2B5EF4-FFF2-40B4-BE49-F238E27FC236}">
                <a16:creationId xmlns:a16="http://schemas.microsoft.com/office/drawing/2014/main" id="{72F6F2F9-9A6B-A7E6-19EA-76D51B570F8D}"/>
              </a:ext>
            </a:extLst>
          </p:cNvPr>
          <p:cNvSpPr txBox="1"/>
          <p:nvPr/>
        </p:nvSpPr>
        <p:spPr>
          <a:xfrm>
            <a:off x="1062740" y="6212443"/>
            <a:ext cx="2689873" cy="369332"/>
          </a:xfrm>
          <a:prstGeom prst="rect">
            <a:avLst/>
          </a:prstGeom>
          <a:noFill/>
        </p:spPr>
        <p:txBody>
          <a:bodyPr wrap="square" rtlCol="0">
            <a:spAutoFit/>
          </a:bodyPr>
          <a:lstStyle/>
          <a:p>
            <a:r>
              <a:rPr lang="en-US" dirty="0"/>
              <a:t>Stage Percent Change</a:t>
            </a:r>
          </a:p>
        </p:txBody>
      </p:sp>
      <p:sp>
        <p:nvSpPr>
          <p:cNvPr id="52" name="TextBox 51">
            <a:extLst>
              <a:ext uri="{FF2B5EF4-FFF2-40B4-BE49-F238E27FC236}">
                <a16:creationId xmlns:a16="http://schemas.microsoft.com/office/drawing/2014/main" id="{68A99A66-E6FF-6EAC-5ED0-3EBA8C164CE4}"/>
              </a:ext>
            </a:extLst>
          </p:cNvPr>
          <p:cNvSpPr txBox="1"/>
          <p:nvPr/>
        </p:nvSpPr>
        <p:spPr>
          <a:xfrm>
            <a:off x="993099" y="5463571"/>
            <a:ext cx="1639580" cy="400110"/>
          </a:xfrm>
          <a:prstGeom prst="rect">
            <a:avLst/>
          </a:prstGeom>
          <a:noFill/>
        </p:spPr>
        <p:txBody>
          <a:bodyPr wrap="square" rtlCol="0">
            <a:spAutoFit/>
          </a:bodyPr>
          <a:lstStyle/>
          <a:p>
            <a:pPr algn="ctr"/>
            <a:r>
              <a:rPr lang="en-US" sz="1000" dirty="0"/>
              <a:t>1: increased light attenuation</a:t>
            </a:r>
          </a:p>
        </p:txBody>
      </p:sp>
      <p:grpSp>
        <p:nvGrpSpPr>
          <p:cNvPr id="53" name="Group 52">
            <a:extLst>
              <a:ext uri="{FF2B5EF4-FFF2-40B4-BE49-F238E27FC236}">
                <a16:creationId xmlns:a16="http://schemas.microsoft.com/office/drawing/2014/main" id="{29F6812E-7A78-4849-E53F-5C7E30FF815A}"/>
              </a:ext>
            </a:extLst>
          </p:cNvPr>
          <p:cNvGrpSpPr/>
          <p:nvPr/>
        </p:nvGrpSpPr>
        <p:grpSpPr>
          <a:xfrm>
            <a:off x="5167498" y="1817621"/>
            <a:ext cx="5548125" cy="4046059"/>
            <a:chOff x="542925" y="2847975"/>
            <a:chExt cx="1276350" cy="1095375"/>
          </a:xfrm>
        </p:grpSpPr>
        <p:cxnSp>
          <p:nvCxnSpPr>
            <p:cNvPr id="55" name="Straight Arrow Connector 54">
              <a:extLst>
                <a:ext uri="{FF2B5EF4-FFF2-40B4-BE49-F238E27FC236}">
                  <a16:creationId xmlns:a16="http://schemas.microsoft.com/office/drawing/2014/main" id="{4293278B-5656-2619-BADE-0E3EF46C4C3E}"/>
                </a:ext>
              </a:extLst>
            </p:cNvPr>
            <p:cNvCxnSpPr>
              <a:cxnSpLocks/>
            </p:cNvCxnSpPr>
            <p:nvPr/>
          </p:nvCxnSpPr>
          <p:spPr>
            <a:xfrm>
              <a:off x="542925" y="2847975"/>
              <a:ext cx="0" cy="109537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4" name="Straight Arrow Connector 63">
              <a:extLst>
                <a:ext uri="{FF2B5EF4-FFF2-40B4-BE49-F238E27FC236}">
                  <a16:creationId xmlns:a16="http://schemas.microsoft.com/office/drawing/2014/main" id="{DB4A570C-E26E-E61F-73EF-9FE65EDF5184}"/>
                </a:ext>
              </a:extLst>
            </p:cNvPr>
            <p:cNvCxnSpPr>
              <a:cxnSpLocks/>
            </p:cNvCxnSpPr>
            <p:nvPr/>
          </p:nvCxnSpPr>
          <p:spPr>
            <a:xfrm>
              <a:off x="542925" y="3943350"/>
              <a:ext cx="127635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75" name="Group 74">
            <a:extLst>
              <a:ext uri="{FF2B5EF4-FFF2-40B4-BE49-F238E27FC236}">
                <a16:creationId xmlns:a16="http://schemas.microsoft.com/office/drawing/2014/main" id="{F66972D9-3342-009A-07A7-88BA9E331D1B}"/>
              </a:ext>
            </a:extLst>
          </p:cNvPr>
          <p:cNvGrpSpPr/>
          <p:nvPr/>
        </p:nvGrpSpPr>
        <p:grpSpPr>
          <a:xfrm>
            <a:off x="5475590" y="2061739"/>
            <a:ext cx="3802591" cy="3479920"/>
            <a:chOff x="1038225" y="2495550"/>
            <a:chExt cx="2032109" cy="1429486"/>
          </a:xfrm>
        </p:grpSpPr>
        <p:cxnSp>
          <p:nvCxnSpPr>
            <p:cNvPr id="76" name="Straight Connector 75">
              <a:extLst>
                <a:ext uri="{FF2B5EF4-FFF2-40B4-BE49-F238E27FC236}">
                  <a16:creationId xmlns:a16="http://schemas.microsoft.com/office/drawing/2014/main" id="{559CF01D-944D-0275-8A65-9BCC10E456DE}"/>
                </a:ext>
              </a:extLst>
            </p:cNvPr>
            <p:cNvCxnSpPr>
              <a:cxnSpLocks/>
            </p:cNvCxnSpPr>
            <p:nvPr/>
          </p:nvCxnSpPr>
          <p:spPr>
            <a:xfrm>
              <a:off x="1038225" y="2495550"/>
              <a:ext cx="1118409" cy="354796"/>
            </a:xfrm>
            <a:prstGeom prst="line">
              <a:avLst/>
            </a:prstGeom>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DCE3C3E7-247F-56B0-68C4-A50143E12D26}"/>
                </a:ext>
              </a:extLst>
            </p:cNvPr>
            <p:cNvCxnSpPr>
              <a:cxnSpLocks/>
            </p:cNvCxnSpPr>
            <p:nvPr/>
          </p:nvCxnSpPr>
          <p:spPr>
            <a:xfrm>
              <a:off x="2156634" y="2850346"/>
              <a:ext cx="913700" cy="1074690"/>
            </a:xfrm>
            <a:prstGeom prst="line">
              <a:avLst/>
            </a:prstGeom>
          </p:spPr>
          <p:style>
            <a:lnRef idx="2">
              <a:schemeClr val="accent1"/>
            </a:lnRef>
            <a:fillRef idx="0">
              <a:schemeClr val="accent1"/>
            </a:fillRef>
            <a:effectRef idx="1">
              <a:schemeClr val="accent1"/>
            </a:effectRef>
            <a:fontRef idx="minor">
              <a:schemeClr val="tx1"/>
            </a:fontRef>
          </p:style>
        </p:cxnSp>
      </p:grpSp>
      <p:sp>
        <p:nvSpPr>
          <p:cNvPr id="85" name="TextBox 84">
            <a:extLst>
              <a:ext uri="{FF2B5EF4-FFF2-40B4-BE49-F238E27FC236}">
                <a16:creationId xmlns:a16="http://schemas.microsoft.com/office/drawing/2014/main" id="{A449529D-C8F3-6360-F4CF-4A0966837E17}"/>
              </a:ext>
            </a:extLst>
          </p:cNvPr>
          <p:cNvSpPr txBox="1"/>
          <p:nvPr/>
        </p:nvSpPr>
        <p:spPr>
          <a:xfrm rot="16200000">
            <a:off x="4253224" y="3346704"/>
            <a:ext cx="1515956" cy="369332"/>
          </a:xfrm>
          <a:prstGeom prst="rect">
            <a:avLst/>
          </a:prstGeom>
          <a:noFill/>
        </p:spPr>
        <p:txBody>
          <a:bodyPr wrap="square" rtlCol="0">
            <a:spAutoFit/>
          </a:bodyPr>
          <a:lstStyle/>
          <a:p>
            <a:pPr algn="ctr"/>
            <a:r>
              <a:rPr lang="en-US" dirty="0"/>
              <a:t>NEP</a:t>
            </a:r>
          </a:p>
        </p:txBody>
      </p:sp>
      <p:sp>
        <p:nvSpPr>
          <p:cNvPr id="86" name="TextBox 85">
            <a:extLst>
              <a:ext uri="{FF2B5EF4-FFF2-40B4-BE49-F238E27FC236}">
                <a16:creationId xmlns:a16="http://schemas.microsoft.com/office/drawing/2014/main" id="{FA48B647-EF12-3FEF-EFF7-94F4DD809DB0}"/>
              </a:ext>
            </a:extLst>
          </p:cNvPr>
          <p:cNvSpPr txBox="1"/>
          <p:nvPr/>
        </p:nvSpPr>
        <p:spPr>
          <a:xfrm>
            <a:off x="6840809" y="5843111"/>
            <a:ext cx="2689873" cy="369332"/>
          </a:xfrm>
          <a:prstGeom prst="rect">
            <a:avLst/>
          </a:prstGeom>
          <a:noFill/>
        </p:spPr>
        <p:txBody>
          <a:bodyPr wrap="square" rtlCol="0">
            <a:spAutoFit/>
          </a:bodyPr>
          <a:lstStyle/>
          <a:p>
            <a:r>
              <a:rPr lang="en-US" dirty="0"/>
              <a:t>Stage Percent Change</a:t>
            </a:r>
          </a:p>
        </p:txBody>
      </p:sp>
      <p:sp>
        <p:nvSpPr>
          <p:cNvPr id="88" name="TextBox 87">
            <a:extLst>
              <a:ext uri="{FF2B5EF4-FFF2-40B4-BE49-F238E27FC236}">
                <a16:creationId xmlns:a16="http://schemas.microsoft.com/office/drawing/2014/main" id="{5AE5A0C5-3A2D-BF06-40C3-990C426C841A}"/>
              </a:ext>
            </a:extLst>
          </p:cNvPr>
          <p:cNvSpPr txBox="1"/>
          <p:nvPr/>
        </p:nvSpPr>
        <p:spPr>
          <a:xfrm>
            <a:off x="8936383" y="3898461"/>
            <a:ext cx="2553386" cy="1477328"/>
          </a:xfrm>
          <a:prstGeom prst="rect">
            <a:avLst/>
          </a:prstGeom>
          <a:noFill/>
        </p:spPr>
        <p:txBody>
          <a:bodyPr wrap="square" rtlCol="0">
            <a:spAutoFit/>
          </a:bodyPr>
          <a:lstStyle/>
          <a:p>
            <a:pPr algn="ctr"/>
            <a:r>
              <a:rPr lang="en-US" dirty="0"/>
              <a:t>2: River DOC spurring respiration </a:t>
            </a:r>
          </a:p>
          <a:p>
            <a:pPr algn="ctr"/>
            <a:r>
              <a:rPr lang="en-US" dirty="0"/>
              <a:t>3. DO limitation and springs reach a hypoxic state </a:t>
            </a:r>
          </a:p>
        </p:txBody>
      </p:sp>
      <p:sp>
        <p:nvSpPr>
          <p:cNvPr id="113" name="TextBox 112">
            <a:extLst>
              <a:ext uri="{FF2B5EF4-FFF2-40B4-BE49-F238E27FC236}">
                <a16:creationId xmlns:a16="http://schemas.microsoft.com/office/drawing/2014/main" id="{3EDC022E-4134-AF83-B325-A255882669ED}"/>
              </a:ext>
            </a:extLst>
          </p:cNvPr>
          <p:cNvSpPr txBox="1"/>
          <p:nvPr/>
        </p:nvSpPr>
        <p:spPr>
          <a:xfrm>
            <a:off x="6330473" y="1863703"/>
            <a:ext cx="2092826" cy="646331"/>
          </a:xfrm>
          <a:prstGeom prst="rect">
            <a:avLst/>
          </a:prstGeom>
          <a:noFill/>
        </p:spPr>
        <p:txBody>
          <a:bodyPr wrap="square" rtlCol="0">
            <a:spAutoFit/>
          </a:bodyPr>
          <a:lstStyle/>
          <a:p>
            <a:pPr algn="ctr"/>
            <a:r>
              <a:rPr lang="en-US" dirty="0"/>
              <a:t>1: increased light attenuation</a:t>
            </a:r>
          </a:p>
        </p:txBody>
      </p:sp>
    </p:spTree>
    <p:extLst>
      <p:ext uri="{BB962C8B-B14F-4D97-AF65-F5344CB8AC3E}">
        <p14:creationId xmlns:p14="http://schemas.microsoft.com/office/powerpoint/2010/main" val="3180685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3103BF7-F083-AD99-3488-35DAFD86ED10}"/>
              </a:ext>
            </a:extLst>
          </p:cNvPr>
          <p:cNvSpPr>
            <a:spLocks noGrp="1"/>
          </p:cNvSpPr>
          <p:nvPr>
            <p:ph type="title"/>
          </p:nvPr>
        </p:nvSpPr>
        <p:spPr>
          <a:xfrm>
            <a:off x="261937" y="568783"/>
            <a:ext cx="11668125" cy="645149"/>
          </a:xfrm>
        </p:spPr>
        <p:txBody>
          <a:bodyPr>
            <a:noAutofit/>
          </a:bodyPr>
          <a:lstStyle/>
          <a:p>
            <a:pPr algn="ctr"/>
            <a:r>
              <a:rPr lang="en-US" sz="2000" b="1"/>
              <a:t>Results: </a:t>
            </a:r>
            <a:r>
              <a:rPr lang="en-US" sz="2000" i="1"/>
              <a:t>Less-disturbed spring runs will have greater tolerance for flood events, experiencing less severe metabolic impacts (</a:t>
            </a:r>
            <a:r>
              <a:rPr lang="en-US" sz="2000" b="1" i="1">
                <a:highlight>
                  <a:srgbClr val="FFFF00"/>
                </a:highlight>
              </a:rPr>
              <a:t>smaller magnitude of change</a:t>
            </a:r>
            <a:r>
              <a:rPr lang="en-US" sz="2000" i="1">
                <a:highlight>
                  <a:srgbClr val="FFFF00"/>
                </a:highlight>
              </a:rPr>
              <a:t>, </a:t>
            </a:r>
            <a:r>
              <a:rPr lang="en-US" sz="2000" i="1"/>
              <a:t>shorter duration, resistance to change, and linear recovery trajectories) as well as faster recovery times compared to more frequently flooded spring runs. </a:t>
            </a:r>
            <a:br>
              <a:rPr lang="en-US" sz="2000"/>
            </a:br>
            <a:br>
              <a:rPr lang="en-US" sz="2000" i="1"/>
            </a:br>
            <a:endParaRPr lang="en-US" sz="2000" i="1" dirty="0"/>
          </a:p>
        </p:txBody>
      </p:sp>
      <p:pic>
        <p:nvPicPr>
          <p:cNvPr id="6" name="Picture 5">
            <a:extLst>
              <a:ext uri="{FF2B5EF4-FFF2-40B4-BE49-F238E27FC236}">
                <a16:creationId xmlns:a16="http://schemas.microsoft.com/office/drawing/2014/main" id="{2C9E18B4-1E09-7436-F02C-3F438452F2AD}"/>
              </a:ext>
            </a:extLst>
          </p:cNvPr>
          <p:cNvPicPr>
            <a:picLocks noChangeAspect="1"/>
          </p:cNvPicPr>
          <p:nvPr/>
        </p:nvPicPr>
        <p:blipFill>
          <a:blip r:embed="rId2"/>
          <a:stretch>
            <a:fillRect/>
          </a:stretch>
        </p:blipFill>
        <p:spPr>
          <a:xfrm>
            <a:off x="261937" y="1352155"/>
            <a:ext cx="3310109" cy="2488019"/>
          </a:xfrm>
          <a:prstGeom prst="rect">
            <a:avLst/>
          </a:prstGeom>
        </p:spPr>
      </p:pic>
      <p:pic>
        <p:nvPicPr>
          <p:cNvPr id="8" name="Picture 7">
            <a:extLst>
              <a:ext uri="{FF2B5EF4-FFF2-40B4-BE49-F238E27FC236}">
                <a16:creationId xmlns:a16="http://schemas.microsoft.com/office/drawing/2014/main" id="{DD90121D-92D3-1662-EEE3-5626558F786B}"/>
              </a:ext>
            </a:extLst>
          </p:cNvPr>
          <p:cNvPicPr>
            <a:picLocks noChangeAspect="1"/>
          </p:cNvPicPr>
          <p:nvPr/>
        </p:nvPicPr>
        <p:blipFill>
          <a:blip r:embed="rId3"/>
          <a:stretch>
            <a:fillRect/>
          </a:stretch>
        </p:blipFill>
        <p:spPr>
          <a:xfrm>
            <a:off x="5278813" y="1155509"/>
            <a:ext cx="5003270" cy="3907908"/>
          </a:xfrm>
          <a:prstGeom prst="rect">
            <a:avLst/>
          </a:prstGeom>
        </p:spPr>
      </p:pic>
      <p:sp>
        <p:nvSpPr>
          <p:cNvPr id="12" name="Title 1">
            <a:extLst>
              <a:ext uri="{FF2B5EF4-FFF2-40B4-BE49-F238E27FC236}">
                <a16:creationId xmlns:a16="http://schemas.microsoft.com/office/drawing/2014/main" id="{DB7BDAA0-12E5-02EE-A075-B93A756CDB69}"/>
              </a:ext>
            </a:extLst>
          </p:cNvPr>
          <p:cNvSpPr txBox="1">
            <a:spLocks/>
          </p:cNvSpPr>
          <p:nvPr/>
        </p:nvSpPr>
        <p:spPr>
          <a:xfrm>
            <a:off x="4992429" y="5417118"/>
            <a:ext cx="5781469"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dirty="0"/>
              <a:t>Overall, metabolic productivity declined during floods. With the exception of ER, the degree of degradation increased with flood severity. GPP and ER displayed a less clear response than DO and CO2</a:t>
            </a:r>
            <a:endParaRPr lang="en-US" sz="2000" i="1" dirty="0"/>
          </a:p>
        </p:txBody>
      </p:sp>
      <p:pic>
        <p:nvPicPr>
          <p:cNvPr id="16" name="Picture 15">
            <a:extLst>
              <a:ext uri="{FF2B5EF4-FFF2-40B4-BE49-F238E27FC236}">
                <a16:creationId xmlns:a16="http://schemas.microsoft.com/office/drawing/2014/main" id="{A5E3FA4E-5B00-9976-18B7-8F0906700DFB}"/>
              </a:ext>
            </a:extLst>
          </p:cNvPr>
          <p:cNvPicPr>
            <a:picLocks noChangeAspect="1"/>
          </p:cNvPicPr>
          <p:nvPr/>
        </p:nvPicPr>
        <p:blipFill>
          <a:blip r:embed="rId4"/>
          <a:stretch>
            <a:fillRect/>
          </a:stretch>
        </p:blipFill>
        <p:spPr>
          <a:xfrm>
            <a:off x="106586" y="3914200"/>
            <a:ext cx="4764829" cy="2874842"/>
          </a:xfrm>
          <a:prstGeom prst="rect">
            <a:avLst/>
          </a:prstGeom>
        </p:spPr>
      </p:pic>
      <p:cxnSp>
        <p:nvCxnSpPr>
          <p:cNvPr id="20" name="Straight Arrow Connector 19">
            <a:extLst>
              <a:ext uri="{FF2B5EF4-FFF2-40B4-BE49-F238E27FC236}">
                <a16:creationId xmlns:a16="http://schemas.microsoft.com/office/drawing/2014/main" id="{3E963E3E-53D0-7B0D-F0B3-4A1B0A846959}"/>
              </a:ext>
            </a:extLst>
          </p:cNvPr>
          <p:cNvCxnSpPr/>
          <p:nvPr/>
        </p:nvCxnSpPr>
        <p:spPr>
          <a:xfrm flipV="1">
            <a:off x="2002704" y="5744452"/>
            <a:ext cx="572202" cy="3365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C2E5A744-EE7B-C3BE-0A5C-C4E00D874C3A}"/>
              </a:ext>
            </a:extLst>
          </p:cNvPr>
          <p:cNvCxnSpPr>
            <a:cxnSpLocks/>
          </p:cNvCxnSpPr>
          <p:nvPr/>
        </p:nvCxnSpPr>
        <p:spPr>
          <a:xfrm>
            <a:off x="2964916" y="5683553"/>
            <a:ext cx="381467" cy="3365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A253CAE6-18AF-E81F-2A3C-527F66E2CD97}"/>
              </a:ext>
            </a:extLst>
          </p:cNvPr>
          <p:cNvSpPr txBox="1"/>
          <p:nvPr/>
        </p:nvSpPr>
        <p:spPr>
          <a:xfrm rot="2517729">
            <a:off x="2803434" y="5654893"/>
            <a:ext cx="1037970" cy="276999"/>
          </a:xfrm>
          <a:prstGeom prst="rect">
            <a:avLst/>
          </a:prstGeom>
          <a:noFill/>
        </p:spPr>
        <p:txBody>
          <a:bodyPr wrap="square" rtlCol="0">
            <a:spAutoFit/>
          </a:bodyPr>
          <a:lstStyle/>
          <a:p>
            <a:pPr algn="ctr"/>
            <a:r>
              <a:rPr lang="en-US" sz="600" dirty="0"/>
              <a:t>Introduction of river nutrients and microbes</a:t>
            </a:r>
          </a:p>
        </p:txBody>
      </p:sp>
      <p:sp>
        <p:nvSpPr>
          <p:cNvPr id="26" name="TextBox 25">
            <a:extLst>
              <a:ext uri="{FF2B5EF4-FFF2-40B4-BE49-F238E27FC236}">
                <a16:creationId xmlns:a16="http://schemas.microsoft.com/office/drawing/2014/main" id="{EE144951-1D2D-5B08-49C9-74A24BB8A834}"/>
              </a:ext>
            </a:extLst>
          </p:cNvPr>
          <p:cNvSpPr txBox="1"/>
          <p:nvPr/>
        </p:nvSpPr>
        <p:spPr>
          <a:xfrm rot="19874132">
            <a:off x="1797962" y="5654893"/>
            <a:ext cx="874970" cy="276999"/>
          </a:xfrm>
          <a:prstGeom prst="rect">
            <a:avLst/>
          </a:prstGeom>
          <a:noFill/>
        </p:spPr>
        <p:txBody>
          <a:bodyPr wrap="square" rtlCol="0">
            <a:spAutoFit/>
          </a:bodyPr>
          <a:lstStyle/>
          <a:p>
            <a:pPr algn="ctr"/>
            <a:r>
              <a:rPr lang="en-US" sz="600" dirty="0"/>
              <a:t>increased light attenuation</a:t>
            </a:r>
          </a:p>
        </p:txBody>
      </p:sp>
      <p:cxnSp>
        <p:nvCxnSpPr>
          <p:cNvPr id="27" name="Straight Arrow Connector 26">
            <a:extLst>
              <a:ext uri="{FF2B5EF4-FFF2-40B4-BE49-F238E27FC236}">
                <a16:creationId xmlns:a16="http://schemas.microsoft.com/office/drawing/2014/main" id="{3250542C-2804-5E3E-8A1A-FBEDF4DEB0E7}"/>
              </a:ext>
            </a:extLst>
          </p:cNvPr>
          <p:cNvCxnSpPr>
            <a:cxnSpLocks/>
          </p:cNvCxnSpPr>
          <p:nvPr/>
        </p:nvCxnSpPr>
        <p:spPr>
          <a:xfrm>
            <a:off x="625262" y="5674040"/>
            <a:ext cx="381467" cy="3365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3E51992-F363-6BA0-4844-1A5F8D76CB70}"/>
              </a:ext>
            </a:extLst>
          </p:cNvPr>
          <p:cNvCxnSpPr>
            <a:cxnSpLocks/>
          </p:cNvCxnSpPr>
          <p:nvPr/>
        </p:nvCxnSpPr>
        <p:spPr>
          <a:xfrm flipV="1">
            <a:off x="1247820" y="5674040"/>
            <a:ext cx="461930" cy="2387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Rectangle 29">
            <a:extLst>
              <a:ext uri="{FF2B5EF4-FFF2-40B4-BE49-F238E27FC236}">
                <a16:creationId xmlns:a16="http://schemas.microsoft.com/office/drawing/2014/main" id="{D3D7D5BA-E54C-30E1-36A0-4ED98324A122}"/>
              </a:ext>
            </a:extLst>
          </p:cNvPr>
          <p:cNvSpPr/>
          <p:nvPr/>
        </p:nvSpPr>
        <p:spPr>
          <a:xfrm>
            <a:off x="5526156" y="3760967"/>
            <a:ext cx="3244133" cy="90645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DFFA968-76E8-4F99-1DDF-67F7A6A35594}"/>
              </a:ext>
            </a:extLst>
          </p:cNvPr>
          <p:cNvSpPr/>
          <p:nvPr/>
        </p:nvSpPr>
        <p:spPr>
          <a:xfrm>
            <a:off x="208915" y="5144494"/>
            <a:ext cx="3480490" cy="1256305"/>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1178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D1375D1-5399-D384-A166-E8F76D6091EE}"/>
              </a:ext>
            </a:extLst>
          </p:cNvPr>
          <p:cNvSpPr>
            <a:spLocks noGrp="1"/>
          </p:cNvSpPr>
          <p:nvPr>
            <p:ph type="title"/>
          </p:nvPr>
        </p:nvSpPr>
        <p:spPr>
          <a:xfrm>
            <a:off x="261937" y="568783"/>
            <a:ext cx="11668125" cy="645149"/>
          </a:xfrm>
        </p:spPr>
        <p:txBody>
          <a:bodyPr>
            <a:noAutofit/>
          </a:bodyPr>
          <a:lstStyle/>
          <a:p>
            <a:pPr algn="ctr"/>
            <a:r>
              <a:rPr lang="en-US" sz="2000" b="1" dirty="0"/>
              <a:t>Results: </a:t>
            </a:r>
            <a:r>
              <a:rPr lang="en-US" sz="2000" i="1" dirty="0"/>
              <a:t>Less-disturbed spring runs will have greater tolerance for flood events, experiencing less severe metabolic impacts (smaller magnitude of change, </a:t>
            </a:r>
            <a:r>
              <a:rPr lang="en-US" sz="2000" b="1" i="1" dirty="0">
                <a:highlight>
                  <a:srgbClr val="FFFF00"/>
                </a:highlight>
              </a:rPr>
              <a:t>shorter duration</a:t>
            </a:r>
            <a:r>
              <a:rPr lang="en-US" sz="2000" i="1" dirty="0"/>
              <a:t>, resistance to change, and linear recovery trajectories) as well as faster recovery times compared to more frequently flooded spring runs. </a:t>
            </a:r>
            <a:br>
              <a:rPr lang="en-US" sz="2000" dirty="0"/>
            </a:br>
            <a:br>
              <a:rPr lang="en-US" sz="2000" i="1" dirty="0"/>
            </a:br>
            <a:endParaRPr lang="en-US" sz="2000" i="1" dirty="0"/>
          </a:p>
        </p:txBody>
      </p:sp>
      <p:sp>
        <p:nvSpPr>
          <p:cNvPr id="5" name="Title 1">
            <a:extLst>
              <a:ext uri="{FF2B5EF4-FFF2-40B4-BE49-F238E27FC236}">
                <a16:creationId xmlns:a16="http://schemas.microsoft.com/office/drawing/2014/main" id="{48E77CA7-BA9E-36E3-3AC9-7F48CA3A1E0B}"/>
              </a:ext>
            </a:extLst>
          </p:cNvPr>
          <p:cNvSpPr txBox="1">
            <a:spLocks/>
          </p:cNvSpPr>
          <p:nvPr/>
        </p:nvSpPr>
        <p:spPr>
          <a:xfrm>
            <a:off x="261937" y="1256472"/>
            <a:ext cx="3966122"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i="1" dirty="0"/>
              <a:t>More vulnerable springs do not experience longer floods…</a:t>
            </a:r>
          </a:p>
        </p:txBody>
      </p:sp>
      <p:pic>
        <p:nvPicPr>
          <p:cNvPr id="16" name="Picture 15">
            <a:extLst>
              <a:ext uri="{FF2B5EF4-FFF2-40B4-BE49-F238E27FC236}">
                <a16:creationId xmlns:a16="http://schemas.microsoft.com/office/drawing/2014/main" id="{D093EB8A-54ED-DA51-B00F-CB35057E3652}"/>
              </a:ext>
            </a:extLst>
          </p:cNvPr>
          <p:cNvPicPr>
            <a:picLocks noChangeAspect="1"/>
          </p:cNvPicPr>
          <p:nvPr/>
        </p:nvPicPr>
        <p:blipFill>
          <a:blip r:embed="rId2"/>
          <a:stretch>
            <a:fillRect/>
          </a:stretch>
        </p:blipFill>
        <p:spPr>
          <a:xfrm>
            <a:off x="509655" y="1522255"/>
            <a:ext cx="2701379" cy="2358526"/>
          </a:xfrm>
          <a:prstGeom prst="rect">
            <a:avLst/>
          </a:prstGeom>
        </p:spPr>
      </p:pic>
      <p:pic>
        <p:nvPicPr>
          <p:cNvPr id="18" name="Picture 17">
            <a:extLst>
              <a:ext uri="{FF2B5EF4-FFF2-40B4-BE49-F238E27FC236}">
                <a16:creationId xmlns:a16="http://schemas.microsoft.com/office/drawing/2014/main" id="{8865BCAD-7960-940D-778A-73C7D6488C24}"/>
              </a:ext>
            </a:extLst>
          </p:cNvPr>
          <p:cNvPicPr>
            <a:picLocks noChangeAspect="1"/>
          </p:cNvPicPr>
          <p:nvPr/>
        </p:nvPicPr>
        <p:blipFill>
          <a:blip r:embed="rId3"/>
          <a:stretch>
            <a:fillRect/>
          </a:stretch>
        </p:blipFill>
        <p:spPr>
          <a:xfrm>
            <a:off x="547926" y="4276087"/>
            <a:ext cx="2624836" cy="2335628"/>
          </a:xfrm>
          <a:prstGeom prst="rect">
            <a:avLst/>
          </a:prstGeom>
        </p:spPr>
      </p:pic>
      <p:sp>
        <p:nvSpPr>
          <p:cNvPr id="19" name="Title 1">
            <a:extLst>
              <a:ext uri="{FF2B5EF4-FFF2-40B4-BE49-F238E27FC236}">
                <a16:creationId xmlns:a16="http://schemas.microsoft.com/office/drawing/2014/main" id="{007FF298-A231-BD1D-DE3E-E2D40AB5297D}"/>
              </a:ext>
            </a:extLst>
          </p:cNvPr>
          <p:cNvSpPr txBox="1">
            <a:spLocks/>
          </p:cNvSpPr>
          <p:nvPr/>
        </p:nvSpPr>
        <p:spPr>
          <a:xfrm>
            <a:off x="127257" y="3992402"/>
            <a:ext cx="3966122"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i="1" dirty="0"/>
              <a:t>And more severe floods do not necessarily last longer…</a:t>
            </a:r>
          </a:p>
        </p:txBody>
      </p:sp>
      <p:pic>
        <p:nvPicPr>
          <p:cNvPr id="21" name="Picture 20">
            <a:extLst>
              <a:ext uri="{FF2B5EF4-FFF2-40B4-BE49-F238E27FC236}">
                <a16:creationId xmlns:a16="http://schemas.microsoft.com/office/drawing/2014/main" id="{1C862DFA-AA66-6E07-4077-AA0B632A54B4}"/>
              </a:ext>
            </a:extLst>
          </p:cNvPr>
          <p:cNvPicPr>
            <a:picLocks noChangeAspect="1"/>
          </p:cNvPicPr>
          <p:nvPr/>
        </p:nvPicPr>
        <p:blipFill>
          <a:blip r:embed="rId4"/>
          <a:srcRect t="1000"/>
          <a:stretch>
            <a:fillRect/>
          </a:stretch>
        </p:blipFill>
        <p:spPr>
          <a:xfrm>
            <a:off x="4428084" y="1792079"/>
            <a:ext cx="6593671" cy="4968016"/>
          </a:xfrm>
          <a:prstGeom prst="rect">
            <a:avLst/>
          </a:prstGeom>
        </p:spPr>
      </p:pic>
      <p:sp>
        <p:nvSpPr>
          <p:cNvPr id="22" name="Title 1">
            <a:extLst>
              <a:ext uri="{FF2B5EF4-FFF2-40B4-BE49-F238E27FC236}">
                <a16:creationId xmlns:a16="http://schemas.microsoft.com/office/drawing/2014/main" id="{039CF922-1FCC-3679-EB51-81255C1FB853}"/>
              </a:ext>
            </a:extLst>
          </p:cNvPr>
          <p:cNvSpPr txBox="1">
            <a:spLocks/>
          </p:cNvSpPr>
          <p:nvPr/>
        </p:nvSpPr>
        <p:spPr>
          <a:xfrm>
            <a:off x="5310186" y="1348844"/>
            <a:ext cx="5605463"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i="1" dirty="0"/>
              <a:t>Overall, the rise of the flood lasted as long as the recession of the flood with the exception CO2 which displayed lingering impacts…</a:t>
            </a:r>
          </a:p>
        </p:txBody>
      </p:sp>
    </p:spTree>
    <p:extLst>
      <p:ext uri="{BB962C8B-B14F-4D97-AF65-F5344CB8AC3E}">
        <p14:creationId xmlns:p14="http://schemas.microsoft.com/office/powerpoint/2010/main" val="3990803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66D29-425F-9BB9-19DF-04402EF6EC3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5E4CDDA-7B94-BF48-31D2-8A5E6B3272E1}"/>
              </a:ext>
            </a:extLst>
          </p:cNvPr>
          <p:cNvSpPr>
            <a:spLocks noGrp="1"/>
          </p:cNvSpPr>
          <p:nvPr>
            <p:ph type="title"/>
          </p:nvPr>
        </p:nvSpPr>
        <p:spPr>
          <a:xfrm>
            <a:off x="261937" y="568783"/>
            <a:ext cx="11668125" cy="645149"/>
          </a:xfrm>
        </p:spPr>
        <p:txBody>
          <a:bodyPr>
            <a:noAutofit/>
          </a:bodyPr>
          <a:lstStyle/>
          <a:p>
            <a:pPr algn="ctr"/>
            <a:r>
              <a:rPr lang="en-US" sz="2000" b="1" dirty="0"/>
              <a:t>Results: </a:t>
            </a:r>
            <a:r>
              <a:rPr lang="en-US" sz="2000" i="1" dirty="0"/>
              <a:t>Less-disturbed spring runs will have greater tolerance for flood events, experiencing less severe metabolic impacts (shorter duration, smaller magnitude of change, </a:t>
            </a:r>
            <a:r>
              <a:rPr lang="en-US" sz="2000" b="1" i="1" dirty="0">
                <a:highlight>
                  <a:srgbClr val="FFFF00"/>
                </a:highlight>
              </a:rPr>
              <a:t>resistance to change</a:t>
            </a:r>
            <a:r>
              <a:rPr lang="en-US" sz="2000" i="1" dirty="0"/>
              <a:t>, and linear recovery trajectories) as well as faster recovery times compared to more frequently flooded spring runs. </a:t>
            </a:r>
            <a:br>
              <a:rPr lang="en-US" sz="2000" dirty="0"/>
            </a:br>
            <a:br>
              <a:rPr lang="en-US" sz="2000" i="1" dirty="0"/>
            </a:br>
            <a:endParaRPr lang="en-US" sz="2000" i="1" dirty="0"/>
          </a:p>
        </p:txBody>
      </p:sp>
      <p:pic>
        <p:nvPicPr>
          <p:cNvPr id="6" name="Picture 5">
            <a:extLst>
              <a:ext uri="{FF2B5EF4-FFF2-40B4-BE49-F238E27FC236}">
                <a16:creationId xmlns:a16="http://schemas.microsoft.com/office/drawing/2014/main" id="{1E0BB471-3528-D703-FCF4-E4838F21E2A9}"/>
              </a:ext>
            </a:extLst>
          </p:cNvPr>
          <p:cNvPicPr>
            <a:picLocks noChangeAspect="1"/>
          </p:cNvPicPr>
          <p:nvPr/>
        </p:nvPicPr>
        <p:blipFill>
          <a:blip r:embed="rId2"/>
          <a:stretch>
            <a:fillRect/>
          </a:stretch>
        </p:blipFill>
        <p:spPr>
          <a:xfrm>
            <a:off x="178471" y="1750141"/>
            <a:ext cx="4049588" cy="4940709"/>
          </a:xfrm>
          <a:prstGeom prst="rect">
            <a:avLst/>
          </a:prstGeom>
        </p:spPr>
      </p:pic>
      <p:pic>
        <p:nvPicPr>
          <p:cNvPr id="8" name="Picture 7">
            <a:extLst>
              <a:ext uri="{FF2B5EF4-FFF2-40B4-BE49-F238E27FC236}">
                <a16:creationId xmlns:a16="http://schemas.microsoft.com/office/drawing/2014/main" id="{52C85B37-E908-D906-C913-75239F05CDE2}"/>
              </a:ext>
            </a:extLst>
          </p:cNvPr>
          <p:cNvPicPr>
            <a:picLocks noChangeAspect="1"/>
          </p:cNvPicPr>
          <p:nvPr/>
        </p:nvPicPr>
        <p:blipFill>
          <a:blip r:embed="rId3"/>
          <a:stretch>
            <a:fillRect/>
          </a:stretch>
        </p:blipFill>
        <p:spPr>
          <a:xfrm>
            <a:off x="4413559" y="1745532"/>
            <a:ext cx="4374258" cy="4940709"/>
          </a:xfrm>
          <a:prstGeom prst="rect">
            <a:avLst/>
          </a:prstGeom>
        </p:spPr>
      </p:pic>
      <p:sp>
        <p:nvSpPr>
          <p:cNvPr id="9" name="Title 1">
            <a:extLst>
              <a:ext uri="{FF2B5EF4-FFF2-40B4-BE49-F238E27FC236}">
                <a16:creationId xmlns:a16="http://schemas.microsoft.com/office/drawing/2014/main" id="{35497756-016F-1B52-8A08-2408E5668F76}"/>
              </a:ext>
            </a:extLst>
          </p:cNvPr>
          <p:cNvSpPr txBox="1">
            <a:spLocks/>
          </p:cNvSpPr>
          <p:nvPr/>
        </p:nvSpPr>
        <p:spPr>
          <a:xfrm>
            <a:off x="4821695" y="1437209"/>
            <a:ext cx="3966122"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i="1" dirty="0"/>
              <a:t>Peak Delay Summary: </a:t>
            </a:r>
          </a:p>
        </p:txBody>
      </p:sp>
      <p:pic>
        <p:nvPicPr>
          <p:cNvPr id="11" name="Picture 10">
            <a:extLst>
              <a:ext uri="{FF2B5EF4-FFF2-40B4-BE49-F238E27FC236}">
                <a16:creationId xmlns:a16="http://schemas.microsoft.com/office/drawing/2014/main" id="{9D378ECC-B3B9-AD44-4101-64C8D6D6BC0C}"/>
              </a:ext>
            </a:extLst>
          </p:cNvPr>
          <p:cNvPicPr>
            <a:picLocks noChangeAspect="1"/>
          </p:cNvPicPr>
          <p:nvPr/>
        </p:nvPicPr>
        <p:blipFill>
          <a:blip r:embed="rId4"/>
          <a:stretch>
            <a:fillRect/>
          </a:stretch>
        </p:blipFill>
        <p:spPr>
          <a:xfrm>
            <a:off x="9075838" y="2771683"/>
            <a:ext cx="2772162" cy="1314633"/>
          </a:xfrm>
          <a:prstGeom prst="rect">
            <a:avLst/>
          </a:prstGeom>
        </p:spPr>
      </p:pic>
      <p:sp>
        <p:nvSpPr>
          <p:cNvPr id="12" name="Title 1">
            <a:extLst>
              <a:ext uri="{FF2B5EF4-FFF2-40B4-BE49-F238E27FC236}">
                <a16:creationId xmlns:a16="http://schemas.microsoft.com/office/drawing/2014/main" id="{180E739C-50D7-5B4E-A85F-D09D49F5CCFA}"/>
              </a:ext>
            </a:extLst>
          </p:cNvPr>
          <p:cNvSpPr txBox="1">
            <a:spLocks/>
          </p:cNvSpPr>
          <p:nvPr/>
        </p:nvSpPr>
        <p:spPr>
          <a:xfrm>
            <a:off x="8478858" y="4215886"/>
            <a:ext cx="3966122"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dirty="0"/>
              <a:t>Generally, the metabolic signal peaks alongside depth</a:t>
            </a:r>
            <a:r>
              <a:rPr lang="en-US" sz="2000" i="1" dirty="0"/>
              <a:t> </a:t>
            </a:r>
          </a:p>
        </p:txBody>
      </p:sp>
      <p:sp>
        <p:nvSpPr>
          <p:cNvPr id="5" name="Title 1">
            <a:extLst>
              <a:ext uri="{FF2B5EF4-FFF2-40B4-BE49-F238E27FC236}">
                <a16:creationId xmlns:a16="http://schemas.microsoft.com/office/drawing/2014/main" id="{08A70E35-CB99-2D26-26CF-C3CFDC1CFC42}"/>
              </a:ext>
            </a:extLst>
          </p:cNvPr>
          <p:cNvSpPr txBox="1">
            <a:spLocks/>
          </p:cNvSpPr>
          <p:nvPr/>
        </p:nvSpPr>
        <p:spPr>
          <a:xfrm>
            <a:off x="363971" y="1448613"/>
            <a:ext cx="3966122"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i="1" dirty="0"/>
              <a:t>Resistance to Change: Delay in metabolic peaks: </a:t>
            </a:r>
          </a:p>
        </p:txBody>
      </p:sp>
    </p:spTree>
    <p:extLst>
      <p:ext uri="{BB962C8B-B14F-4D97-AF65-F5344CB8AC3E}">
        <p14:creationId xmlns:p14="http://schemas.microsoft.com/office/powerpoint/2010/main" val="3856107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503B7-9863-81F7-FA7B-B2C64D62FD4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68B418C-2D9F-5804-FCF7-CF1F6EABA36F}"/>
              </a:ext>
            </a:extLst>
          </p:cNvPr>
          <p:cNvSpPr>
            <a:spLocks noGrp="1"/>
          </p:cNvSpPr>
          <p:nvPr>
            <p:ph type="title"/>
          </p:nvPr>
        </p:nvSpPr>
        <p:spPr>
          <a:xfrm>
            <a:off x="261937" y="452696"/>
            <a:ext cx="11668125" cy="645149"/>
          </a:xfrm>
        </p:spPr>
        <p:txBody>
          <a:bodyPr>
            <a:noAutofit/>
          </a:bodyPr>
          <a:lstStyle/>
          <a:p>
            <a:pPr algn="ctr"/>
            <a:r>
              <a:rPr lang="en-US" sz="2000" b="1" dirty="0"/>
              <a:t>Results: </a:t>
            </a:r>
            <a:r>
              <a:rPr lang="en-US" sz="2000" i="1" dirty="0"/>
              <a:t>Less-disturbed spring runs will have greater tolerance for flood events, experiencing less severe metabolic impacts (shorter duration, smaller magnitude of change, </a:t>
            </a:r>
            <a:r>
              <a:rPr lang="en-US" sz="2000" b="1" i="1" dirty="0">
                <a:highlight>
                  <a:srgbClr val="FFFF00"/>
                </a:highlight>
              </a:rPr>
              <a:t>resistance to change</a:t>
            </a:r>
            <a:r>
              <a:rPr lang="en-US" sz="2000" i="1" dirty="0"/>
              <a:t>, and linear recovery trajectories) as well as faster recovery times compared to more frequently flooded spring runs. </a:t>
            </a:r>
            <a:br>
              <a:rPr lang="en-US" sz="2000" dirty="0"/>
            </a:br>
            <a:br>
              <a:rPr lang="en-US" sz="2000" i="1" dirty="0"/>
            </a:br>
            <a:endParaRPr lang="en-US" sz="2000" i="1" dirty="0"/>
          </a:p>
        </p:txBody>
      </p:sp>
      <p:sp>
        <p:nvSpPr>
          <p:cNvPr id="5" name="Title 1">
            <a:extLst>
              <a:ext uri="{FF2B5EF4-FFF2-40B4-BE49-F238E27FC236}">
                <a16:creationId xmlns:a16="http://schemas.microsoft.com/office/drawing/2014/main" id="{FCE5843B-1E85-59A3-F34B-2A37BD0A79D2}"/>
              </a:ext>
            </a:extLst>
          </p:cNvPr>
          <p:cNvSpPr txBox="1">
            <a:spLocks/>
          </p:cNvSpPr>
          <p:nvPr/>
        </p:nvSpPr>
        <p:spPr>
          <a:xfrm>
            <a:off x="363971" y="1448613"/>
            <a:ext cx="3966122"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i="1" dirty="0"/>
              <a:t>Resistance to Change: Trajectory of Metabolic Impacts</a:t>
            </a:r>
          </a:p>
        </p:txBody>
      </p:sp>
      <p:pic>
        <p:nvPicPr>
          <p:cNvPr id="7" name="Picture 6">
            <a:extLst>
              <a:ext uri="{FF2B5EF4-FFF2-40B4-BE49-F238E27FC236}">
                <a16:creationId xmlns:a16="http://schemas.microsoft.com/office/drawing/2014/main" id="{076404E1-C5B1-9B55-341B-2405B7289490}"/>
              </a:ext>
            </a:extLst>
          </p:cNvPr>
          <p:cNvPicPr>
            <a:picLocks noChangeAspect="1"/>
          </p:cNvPicPr>
          <p:nvPr/>
        </p:nvPicPr>
        <p:blipFill>
          <a:blip r:embed="rId2"/>
          <a:stretch>
            <a:fillRect/>
          </a:stretch>
        </p:blipFill>
        <p:spPr>
          <a:xfrm>
            <a:off x="1241061" y="1991617"/>
            <a:ext cx="2111739" cy="2016907"/>
          </a:xfrm>
          <a:prstGeom prst="rect">
            <a:avLst/>
          </a:prstGeom>
        </p:spPr>
      </p:pic>
      <p:pic>
        <p:nvPicPr>
          <p:cNvPr id="13" name="Picture 12">
            <a:extLst>
              <a:ext uri="{FF2B5EF4-FFF2-40B4-BE49-F238E27FC236}">
                <a16:creationId xmlns:a16="http://schemas.microsoft.com/office/drawing/2014/main" id="{AA4CC7B3-3C00-F8A8-7D7B-272DA915E62A}"/>
              </a:ext>
            </a:extLst>
          </p:cNvPr>
          <p:cNvPicPr>
            <a:picLocks noChangeAspect="1"/>
          </p:cNvPicPr>
          <p:nvPr/>
        </p:nvPicPr>
        <p:blipFill>
          <a:blip r:embed="rId3"/>
          <a:srcRect t="1830" b="1"/>
          <a:stretch>
            <a:fillRect/>
          </a:stretch>
        </p:blipFill>
        <p:spPr>
          <a:xfrm>
            <a:off x="5514225" y="1241704"/>
            <a:ext cx="5515725" cy="2510567"/>
          </a:xfrm>
          <a:prstGeom prst="rect">
            <a:avLst/>
          </a:prstGeom>
        </p:spPr>
      </p:pic>
      <p:sp>
        <p:nvSpPr>
          <p:cNvPr id="14" name="Title 1">
            <a:extLst>
              <a:ext uri="{FF2B5EF4-FFF2-40B4-BE49-F238E27FC236}">
                <a16:creationId xmlns:a16="http://schemas.microsoft.com/office/drawing/2014/main" id="{A4305EBE-B638-1057-B975-9D688408E624}"/>
              </a:ext>
            </a:extLst>
          </p:cNvPr>
          <p:cNvSpPr txBox="1">
            <a:spLocks/>
          </p:cNvSpPr>
          <p:nvPr/>
        </p:nvSpPr>
        <p:spPr>
          <a:xfrm>
            <a:off x="5424487" y="1025135"/>
            <a:ext cx="5605463"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i="1" dirty="0"/>
              <a:t>The rate of change largely did not differ with flood severity. ER had the lowest R^2</a:t>
            </a:r>
          </a:p>
        </p:txBody>
      </p:sp>
      <p:sp>
        <p:nvSpPr>
          <p:cNvPr id="17" name="Title 1">
            <a:extLst>
              <a:ext uri="{FF2B5EF4-FFF2-40B4-BE49-F238E27FC236}">
                <a16:creationId xmlns:a16="http://schemas.microsoft.com/office/drawing/2014/main" id="{A049AB34-FD3F-98BB-768C-7C925F92486E}"/>
              </a:ext>
            </a:extLst>
          </p:cNvPr>
          <p:cNvSpPr txBox="1">
            <a:spLocks/>
          </p:cNvSpPr>
          <p:nvPr/>
        </p:nvSpPr>
        <p:spPr>
          <a:xfrm>
            <a:off x="5379617" y="3864560"/>
            <a:ext cx="5605463"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i="1" dirty="0"/>
              <a:t>Vulnerable springs reacted to uniquely to flood disturbances compared to less vulnerable springs with the most obvious changes appearing in GPP and ER.</a:t>
            </a:r>
          </a:p>
        </p:txBody>
      </p:sp>
      <p:pic>
        <p:nvPicPr>
          <p:cNvPr id="19" name="Picture 18">
            <a:extLst>
              <a:ext uri="{FF2B5EF4-FFF2-40B4-BE49-F238E27FC236}">
                <a16:creationId xmlns:a16="http://schemas.microsoft.com/office/drawing/2014/main" id="{0BB684C6-31CC-432E-9782-5EC0203B456B}"/>
              </a:ext>
            </a:extLst>
          </p:cNvPr>
          <p:cNvPicPr>
            <a:picLocks noChangeAspect="1"/>
          </p:cNvPicPr>
          <p:nvPr/>
        </p:nvPicPr>
        <p:blipFill>
          <a:blip r:embed="rId4"/>
          <a:stretch>
            <a:fillRect/>
          </a:stretch>
        </p:blipFill>
        <p:spPr>
          <a:xfrm>
            <a:off x="745320" y="4180249"/>
            <a:ext cx="3207555" cy="2458275"/>
          </a:xfrm>
          <a:prstGeom prst="rect">
            <a:avLst/>
          </a:prstGeom>
        </p:spPr>
      </p:pic>
      <p:grpSp>
        <p:nvGrpSpPr>
          <p:cNvPr id="24" name="Group 23">
            <a:extLst>
              <a:ext uri="{FF2B5EF4-FFF2-40B4-BE49-F238E27FC236}">
                <a16:creationId xmlns:a16="http://schemas.microsoft.com/office/drawing/2014/main" id="{C6F9285A-FBB3-88A9-7262-2B705EED2560}"/>
              </a:ext>
            </a:extLst>
          </p:cNvPr>
          <p:cNvGrpSpPr/>
          <p:nvPr/>
        </p:nvGrpSpPr>
        <p:grpSpPr>
          <a:xfrm>
            <a:off x="5424487" y="4180249"/>
            <a:ext cx="5515725" cy="2491527"/>
            <a:chOff x="5514225" y="4008524"/>
            <a:chExt cx="5515725" cy="2491527"/>
          </a:xfrm>
        </p:grpSpPr>
        <p:pic>
          <p:nvPicPr>
            <p:cNvPr id="16" name="Picture 15">
              <a:extLst>
                <a:ext uri="{FF2B5EF4-FFF2-40B4-BE49-F238E27FC236}">
                  <a16:creationId xmlns:a16="http://schemas.microsoft.com/office/drawing/2014/main" id="{0AB1D8B6-3968-483C-3569-46E13DA6D12F}"/>
                </a:ext>
              </a:extLst>
            </p:cNvPr>
            <p:cNvPicPr>
              <a:picLocks noChangeAspect="1"/>
            </p:cNvPicPr>
            <p:nvPr/>
          </p:nvPicPr>
          <p:blipFill>
            <a:blip r:embed="rId5"/>
            <a:srcRect t="2920"/>
            <a:stretch>
              <a:fillRect/>
            </a:stretch>
          </p:blipFill>
          <p:spPr>
            <a:xfrm>
              <a:off x="5514225" y="4008524"/>
              <a:ext cx="5515725" cy="2491527"/>
            </a:xfrm>
            <a:prstGeom prst="rect">
              <a:avLst/>
            </a:prstGeom>
          </p:spPr>
        </p:pic>
        <p:cxnSp>
          <p:nvCxnSpPr>
            <p:cNvPr id="21" name="Straight Arrow Connector 20">
              <a:extLst>
                <a:ext uri="{FF2B5EF4-FFF2-40B4-BE49-F238E27FC236}">
                  <a16:creationId xmlns:a16="http://schemas.microsoft.com/office/drawing/2014/main" id="{A22B660E-EDC3-81A9-3751-D3BD6E70238A}"/>
                </a:ext>
              </a:extLst>
            </p:cNvPr>
            <p:cNvCxnSpPr/>
            <p:nvPr/>
          </p:nvCxnSpPr>
          <p:spPr>
            <a:xfrm flipV="1">
              <a:off x="9986682" y="4338918"/>
              <a:ext cx="490071" cy="2091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0736F9F6-F6D2-8E21-9426-F59471E1C616}"/>
                </a:ext>
              </a:extLst>
            </p:cNvPr>
            <p:cNvCxnSpPr>
              <a:cxnSpLocks/>
            </p:cNvCxnSpPr>
            <p:nvPr/>
          </p:nvCxnSpPr>
          <p:spPr>
            <a:xfrm>
              <a:off x="10518589" y="4338918"/>
              <a:ext cx="320115" cy="2071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80606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E99-0CB1-1E5C-8C47-057291FD6E9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AACF162-9203-E380-1771-84C6BA3E7261}"/>
              </a:ext>
            </a:extLst>
          </p:cNvPr>
          <p:cNvSpPr>
            <a:spLocks noGrp="1"/>
          </p:cNvSpPr>
          <p:nvPr>
            <p:ph type="title"/>
          </p:nvPr>
        </p:nvSpPr>
        <p:spPr>
          <a:xfrm>
            <a:off x="602179" y="486897"/>
            <a:ext cx="11668125" cy="645149"/>
          </a:xfrm>
        </p:spPr>
        <p:txBody>
          <a:bodyPr>
            <a:noAutofit/>
          </a:bodyPr>
          <a:lstStyle/>
          <a:p>
            <a:pPr algn="ctr"/>
            <a:r>
              <a:rPr lang="en-US" sz="2000" b="1" dirty="0"/>
              <a:t>Results: </a:t>
            </a:r>
            <a:r>
              <a:rPr lang="en-US" sz="2000" i="1" dirty="0"/>
              <a:t>Less-disturbed spring runs will have greater tolerance for flood events, experiencing less severe metabolic impacts (shorter duration, smaller magnitude of change, resistance to change</a:t>
            </a:r>
            <a:r>
              <a:rPr lang="en-US" sz="2000" dirty="0"/>
              <a:t>, </a:t>
            </a:r>
            <a:r>
              <a:rPr lang="en-US" sz="2000" b="1" i="1" dirty="0">
                <a:highlight>
                  <a:srgbClr val="FFFF00"/>
                </a:highlight>
              </a:rPr>
              <a:t>faster recoveries</a:t>
            </a:r>
            <a:r>
              <a:rPr lang="en-US" sz="2000" i="1" dirty="0"/>
              <a:t>, and linear recovery trajectories)</a:t>
            </a:r>
            <a:r>
              <a:rPr lang="en-US" sz="2000" dirty="0"/>
              <a:t> </a:t>
            </a:r>
            <a:r>
              <a:rPr lang="en-US" sz="2000" i="1" dirty="0"/>
              <a:t>as well as faster recovery times compared to more frequently flooded spring runs. </a:t>
            </a:r>
            <a:br>
              <a:rPr lang="en-US" sz="2000" dirty="0"/>
            </a:br>
            <a:br>
              <a:rPr lang="en-US" sz="2000" i="1" dirty="0"/>
            </a:br>
            <a:endParaRPr lang="en-US" sz="2000" i="1" dirty="0"/>
          </a:p>
        </p:txBody>
      </p:sp>
      <p:sp>
        <p:nvSpPr>
          <p:cNvPr id="5" name="Title 1">
            <a:extLst>
              <a:ext uri="{FF2B5EF4-FFF2-40B4-BE49-F238E27FC236}">
                <a16:creationId xmlns:a16="http://schemas.microsoft.com/office/drawing/2014/main" id="{84022BDD-0D70-AAD4-D1F0-2E3DB418FB33}"/>
              </a:ext>
            </a:extLst>
          </p:cNvPr>
          <p:cNvSpPr txBox="1">
            <a:spLocks/>
          </p:cNvSpPr>
          <p:nvPr/>
        </p:nvSpPr>
        <p:spPr>
          <a:xfrm>
            <a:off x="710418" y="1196444"/>
            <a:ext cx="4673478"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i="1" dirty="0"/>
              <a:t>End of Flood: </a:t>
            </a:r>
          </a:p>
        </p:txBody>
      </p:sp>
      <p:pic>
        <p:nvPicPr>
          <p:cNvPr id="8" name="Picture 7">
            <a:extLst>
              <a:ext uri="{FF2B5EF4-FFF2-40B4-BE49-F238E27FC236}">
                <a16:creationId xmlns:a16="http://schemas.microsoft.com/office/drawing/2014/main" id="{D4B9A4BC-44A5-395D-0F48-C852BEDADDAD}"/>
              </a:ext>
            </a:extLst>
          </p:cNvPr>
          <p:cNvPicPr>
            <a:picLocks noChangeAspect="1"/>
          </p:cNvPicPr>
          <p:nvPr/>
        </p:nvPicPr>
        <p:blipFill>
          <a:blip r:embed="rId2"/>
          <a:stretch>
            <a:fillRect/>
          </a:stretch>
        </p:blipFill>
        <p:spPr>
          <a:xfrm>
            <a:off x="884951" y="1504767"/>
            <a:ext cx="4418924" cy="4328228"/>
          </a:xfrm>
          <a:prstGeom prst="rect">
            <a:avLst/>
          </a:prstGeom>
        </p:spPr>
      </p:pic>
      <p:pic>
        <p:nvPicPr>
          <p:cNvPr id="10" name="Picture 9">
            <a:extLst>
              <a:ext uri="{FF2B5EF4-FFF2-40B4-BE49-F238E27FC236}">
                <a16:creationId xmlns:a16="http://schemas.microsoft.com/office/drawing/2014/main" id="{996494DA-6135-5E2F-04A8-307CDE0452D7}"/>
              </a:ext>
            </a:extLst>
          </p:cNvPr>
          <p:cNvPicPr>
            <a:picLocks noChangeAspect="1"/>
          </p:cNvPicPr>
          <p:nvPr/>
        </p:nvPicPr>
        <p:blipFill>
          <a:blip r:embed="rId3"/>
          <a:stretch>
            <a:fillRect/>
          </a:stretch>
        </p:blipFill>
        <p:spPr>
          <a:xfrm>
            <a:off x="6407723" y="1513960"/>
            <a:ext cx="4758731" cy="4629389"/>
          </a:xfrm>
          <a:prstGeom prst="rect">
            <a:avLst/>
          </a:prstGeom>
        </p:spPr>
      </p:pic>
      <p:sp>
        <p:nvSpPr>
          <p:cNvPr id="12" name="Title 1">
            <a:extLst>
              <a:ext uri="{FF2B5EF4-FFF2-40B4-BE49-F238E27FC236}">
                <a16:creationId xmlns:a16="http://schemas.microsoft.com/office/drawing/2014/main" id="{570EA764-2521-C2F6-D275-57A4D744ED01}"/>
              </a:ext>
            </a:extLst>
          </p:cNvPr>
          <p:cNvSpPr txBox="1">
            <a:spLocks/>
          </p:cNvSpPr>
          <p:nvPr/>
        </p:nvSpPr>
        <p:spPr>
          <a:xfrm>
            <a:off x="5984358" y="1132045"/>
            <a:ext cx="5605463"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i="1" dirty="0"/>
              <a:t>On average, metabolic variables returned to baseline alongside or shortly after depth with CO2 displaying the most lag. DO, GPP, and ER returned to baseline in a similar amount of time.</a:t>
            </a:r>
          </a:p>
        </p:txBody>
      </p:sp>
      <p:sp>
        <p:nvSpPr>
          <p:cNvPr id="15" name="Title 1">
            <a:extLst>
              <a:ext uri="{FF2B5EF4-FFF2-40B4-BE49-F238E27FC236}">
                <a16:creationId xmlns:a16="http://schemas.microsoft.com/office/drawing/2014/main" id="{676AC2A1-E2E6-22CF-57C0-EB4C162C6338}"/>
              </a:ext>
            </a:extLst>
          </p:cNvPr>
          <p:cNvSpPr txBox="1">
            <a:spLocks/>
          </p:cNvSpPr>
          <p:nvPr/>
        </p:nvSpPr>
        <p:spPr>
          <a:xfrm>
            <a:off x="6407723" y="6143349"/>
            <a:ext cx="5605463" cy="30832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i="1" dirty="0"/>
              <a:t>Generally, both vulnerable and less vulnerable springs returned to baseline in the same amount of time with no obvious pattern.</a:t>
            </a:r>
          </a:p>
        </p:txBody>
      </p:sp>
    </p:spTree>
    <p:extLst>
      <p:ext uri="{BB962C8B-B14F-4D97-AF65-F5344CB8AC3E}">
        <p14:creationId xmlns:p14="http://schemas.microsoft.com/office/powerpoint/2010/main" val="615306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16AF1B5-8BF1-AD97-1FBF-86A8209C8021}"/>
              </a:ext>
            </a:extLst>
          </p:cNvPr>
          <p:cNvSpPr>
            <a:spLocks noGrp="1"/>
          </p:cNvSpPr>
          <p:nvPr>
            <p:ph type="title"/>
          </p:nvPr>
        </p:nvSpPr>
        <p:spPr>
          <a:xfrm>
            <a:off x="261937" y="461324"/>
            <a:ext cx="11668125" cy="645149"/>
          </a:xfrm>
        </p:spPr>
        <p:txBody>
          <a:bodyPr>
            <a:noAutofit/>
          </a:bodyPr>
          <a:lstStyle/>
          <a:p>
            <a:pPr algn="ctr"/>
            <a:r>
              <a:rPr lang="en-US" sz="2000" b="1" dirty="0"/>
              <a:t>Results: </a:t>
            </a:r>
            <a:r>
              <a:rPr lang="en-US" sz="2000" i="1" dirty="0"/>
              <a:t>Less-disturbed spring runs will have greater tolerance for flood events, experiencing less severe metabolic impacts (shorter duration, smaller magnitude of change, resistance to change, faster recoveries, and </a:t>
            </a:r>
            <a:r>
              <a:rPr lang="en-US" sz="2000" b="1" i="1" dirty="0">
                <a:highlight>
                  <a:srgbClr val="FFFF00"/>
                </a:highlight>
              </a:rPr>
              <a:t>linear recovery trajectories</a:t>
            </a:r>
            <a:r>
              <a:rPr lang="en-US" sz="2000" i="1" dirty="0"/>
              <a:t>) as well as faster recovery times compared to more frequently flooded spring runs. </a:t>
            </a:r>
            <a:br>
              <a:rPr lang="en-US" sz="2000" dirty="0"/>
            </a:br>
            <a:br>
              <a:rPr lang="en-US" sz="2000" i="1" dirty="0"/>
            </a:br>
            <a:endParaRPr lang="en-US" sz="2000" i="1" dirty="0"/>
          </a:p>
        </p:txBody>
      </p:sp>
      <p:pic>
        <p:nvPicPr>
          <p:cNvPr id="13" name="Picture 12">
            <a:extLst>
              <a:ext uri="{FF2B5EF4-FFF2-40B4-BE49-F238E27FC236}">
                <a16:creationId xmlns:a16="http://schemas.microsoft.com/office/drawing/2014/main" id="{9D01A500-01B1-7BB9-1EDB-7B57F3E97551}"/>
              </a:ext>
            </a:extLst>
          </p:cNvPr>
          <p:cNvPicPr>
            <a:picLocks noChangeAspect="1"/>
          </p:cNvPicPr>
          <p:nvPr/>
        </p:nvPicPr>
        <p:blipFill>
          <a:blip r:embed="rId2"/>
          <a:stretch>
            <a:fillRect/>
          </a:stretch>
        </p:blipFill>
        <p:spPr>
          <a:xfrm>
            <a:off x="810361" y="3677951"/>
            <a:ext cx="3864895" cy="2431033"/>
          </a:xfrm>
          <a:prstGeom prst="rect">
            <a:avLst/>
          </a:prstGeom>
        </p:spPr>
      </p:pic>
      <p:pic>
        <p:nvPicPr>
          <p:cNvPr id="30" name="Picture 29">
            <a:extLst>
              <a:ext uri="{FF2B5EF4-FFF2-40B4-BE49-F238E27FC236}">
                <a16:creationId xmlns:a16="http://schemas.microsoft.com/office/drawing/2014/main" id="{4C583D3F-9935-5308-262B-E4B8AE2F04C1}"/>
              </a:ext>
            </a:extLst>
          </p:cNvPr>
          <p:cNvPicPr>
            <a:picLocks noChangeAspect="1"/>
          </p:cNvPicPr>
          <p:nvPr/>
        </p:nvPicPr>
        <p:blipFill>
          <a:blip r:embed="rId3"/>
          <a:stretch>
            <a:fillRect/>
          </a:stretch>
        </p:blipFill>
        <p:spPr>
          <a:xfrm>
            <a:off x="1039627" y="1167810"/>
            <a:ext cx="2663462" cy="2306553"/>
          </a:xfrm>
          <a:prstGeom prst="rect">
            <a:avLst/>
          </a:prstGeom>
        </p:spPr>
      </p:pic>
      <p:sp>
        <p:nvSpPr>
          <p:cNvPr id="14" name="Title 1">
            <a:extLst>
              <a:ext uri="{FF2B5EF4-FFF2-40B4-BE49-F238E27FC236}">
                <a16:creationId xmlns:a16="http://schemas.microsoft.com/office/drawing/2014/main" id="{07C7576C-9708-CFBC-944A-B0D685BDF506}"/>
              </a:ext>
            </a:extLst>
          </p:cNvPr>
          <p:cNvSpPr txBox="1">
            <a:spLocks/>
          </p:cNvSpPr>
          <p:nvPr/>
        </p:nvSpPr>
        <p:spPr>
          <a:xfrm>
            <a:off x="5321553" y="1064745"/>
            <a:ext cx="5830820" cy="5466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dirty="0"/>
              <a:t>Again, rate of recovery largely the same with the exception of ER. R2 of recovery is generally lower than the R2 of the flood rise. Recover R2 decreases with increasing flood severity for DO and ER. </a:t>
            </a:r>
          </a:p>
        </p:txBody>
      </p:sp>
      <p:pic>
        <p:nvPicPr>
          <p:cNvPr id="32" name="Picture 31">
            <a:extLst>
              <a:ext uri="{FF2B5EF4-FFF2-40B4-BE49-F238E27FC236}">
                <a16:creationId xmlns:a16="http://schemas.microsoft.com/office/drawing/2014/main" id="{EE74C59B-0DBC-1869-7935-D349BA884BC3}"/>
              </a:ext>
            </a:extLst>
          </p:cNvPr>
          <p:cNvPicPr>
            <a:picLocks noChangeAspect="1"/>
          </p:cNvPicPr>
          <p:nvPr/>
        </p:nvPicPr>
        <p:blipFill>
          <a:blip r:embed="rId4"/>
          <a:srcRect t="1998" b="12269"/>
          <a:stretch>
            <a:fillRect/>
          </a:stretch>
        </p:blipFill>
        <p:spPr>
          <a:xfrm>
            <a:off x="6019757" y="1569696"/>
            <a:ext cx="4050030" cy="2108255"/>
          </a:xfrm>
          <a:prstGeom prst="rect">
            <a:avLst/>
          </a:prstGeom>
        </p:spPr>
      </p:pic>
      <p:pic>
        <p:nvPicPr>
          <p:cNvPr id="34" name="Picture 33">
            <a:extLst>
              <a:ext uri="{FF2B5EF4-FFF2-40B4-BE49-F238E27FC236}">
                <a16:creationId xmlns:a16="http://schemas.microsoft.com/office/drawing/2014/main" id="{75D2CB4D-E573-794A-4D5E-7E4980D2A98D}"/>
              </a:ext>
            </a:extLst>
          </p:cNvPr>
          <p:cNvPicPr>
            <a:picLocks noChangeAspect="1"/>
          </p:cNvPicPr>
          <p:nvPr/>
        </p:nvPicPr>
        <p:blipFill>
          <a:blip r:embed="rId5"/>
          <a:srcRect t="2189"/>
          <a:stretch>
            <a:fillRect/>
          </a:stretch>
        </p:blipFill>
        <p:spPr>
          <a:xfrm>
            <a:off x="6013126" y="4266494"/>
            <a:ext cx="4447673" cy="2591506"/>
          </a:xfrm>
          <a:prstGeom prst="rect">
            <a:avLst/>
          </a:prstGeom>
        </p:spPr>
      </p:pic>
      <p:sp>
        <p:nvSpPr>
          <p:cNvPr id="36" name="Title 1">
            <a:extLst>
              <a:ext uri="{FF2B5EF4-FFF2-40B4-BE49-F238E27FC236}">
                <a16:creationId xmlns:a16="http://schemas.microsoft.com/office/drawing/2014/main" id="{2CD7EB16-C99B-65C9-AFB3-432CD6D13513}"/>
              </a:ext>
            </a:extLst>
          </p:cNvPr>
          <p:cNvSpPr txBox="1">
            <a:spLocks/>
          </p:cNvSpPr>
          <p:nvPr/>
        </p:nvSpPr>
        <p:spPr>
          <a:xfrm>
            <a:off x="5550819" y="3761542"/>
            <a:ext cx="5830820" cy="54668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dirty="0"/>
              <a:t>GPP had a slow rate of recovery mirroring DO but largely similar. ER consistently shows a down-then-up pattern with flood vulnerability. Flood vulnerability and R2 seem to have a decreasing relationship but the trend is insignificant.</a:t>
            </a:r>
          </a:p>
        </p:txBody>
      </p:sp>
    </p:spTree>
    <p:extLst>
      <p:ext uri="{BB962C8B-B14F-4D97-AF65-F5344CB8AC3E}">
        <p14:creationId xmlns:p14="http://schemas.microsoft.com/office/powerpoint/2010/main" val="3053586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3341</TotalTime>
  <Words>1668</Words>
  <Application>Microsoft Office PowerPoint</Application>
  <PresentationFormat>Widescreen</PresentationFormat>
  <Paragraphs>152</Paragraphs>
  <Slides>18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Calibri</vt:lpstr>
      <vt:lpstr>Office Theme</vt:lpstr>
      <vt:lpstr>The metabolic and disturbance regime of North Florida Streams </vt:lpstr>
      <vt:lpstr>Key Takeaways:</vt:lpstr>
      <vt:lpstr>Introduction: </vt:lpstr>
      <vt:lpstr>Hypotheses</vt:lpstr>
      <vt:lpstr>Methods:</vt:lpstr>
      <vt:lpstr>Isolated flood events dependent on the slope of stage across three days</vt:lpstr>
      <vt:lpstr>Parsed floods into HI, BO, or FR dependent on SpC, pH, and DO reaction</vt:lpstr>
      <vt:lpstr>Different variables peak and recover at different times which is cool but requires trimming… and I am working on reproducible method</vt:lpstr>
      <vt:lpstr>some examples…</vt:lpstr>
      <vt:lpstr>Results: The spring metabolic signal will exhibit two breakpoints with depth: spring productivity will moderately decline with increasing stage and undergo a severe dropout at depths that trigger backwater flooding. </vt:lpstr>
      <vt:lpstr>Results: The spring metabolic signal will exhibit two breakpoints with depth: spring productivity will moderately decline with increasing stage and undergo a severe dropout at depths that trigger backwater flooding. </vt:lpstr>
      <vt:lpstr>Results: The spring metabolic signal will exhibit two breakpoints with depth: spring productivity will moderately decline with increasing stage and undergo a severe dropout at depths that trigger backwater flooding. </vt:lpstr>
      <vt:lpstr>Results: Less-disturbed spring runs will have greater tolerance for flood events, experiencing less severe metabolic impacts (smaller magnitude of change, shorter duration, resistance to change, and linear recovery trajectories) as well as faster recovery times compared to more frequently flooded spring runs.   </vt:lpstr>
      <vt:lpstr>Results: Less-disturbed spring runs will have greater tolerance for flood events, experiencing less severe metabolic impacts (smaller magnitude of change, shorter duration, resistance to change, and linear recovery trajectories) as well as faster recovery times compared to more frequently flooded spring runs.   </vt:lpstr>
      <vt:lpstr>Results: Less-disturbed spring runs will have greater tolerance for flood events, experiencing less severe metabolic impacts (shorter duration, smaller magnitude of change, resistance to change, and linear recovery trajectories) as well as faster recovery times compared to more frequently flooded spring runs.   </vt:lpstr>
      <vt:lpstr>Results: Less-disturbed spring runs will have greater tolerance for flood events, experiencing less severe metabolic impacts (shorter duration, smaller magnitude of change, resistance to change, and linear recovery trajectories) as well as faster recovery times compared to more frequently flooded spring runs.   </vt:lpstr>
      <vt:lpstr>Results: Less-disturbed spring runs will have greater tolerance for flood events, experiencing less severe metabolic impacts (shorter duration, smaller magnitude of change, resistance to change, faster recoveries, and linear recovery trajectories) as well as faster recovery times compared to more frequently flooded spring runs.   </vt:lpstr>
      <vt:lpstr>Results: Less-disturbed spring runs will have greater tolerance for flood events, experiencing less severe metabolic impacts (shorter duration, smaller magnitude of change, resistance to change, faster recoveries, and linear recovery trajectories) as well as faster recovery times compared to more frequently flooded spring runs.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Howley,Samantha T</dc:creator>
  <cp:lastModifiedBy>Howley,Samantha T</cp:lastModifiedBy>
  <cp:revision>4</cp:revision>
  <dcterms:created xsi:type="dcterms:W3CDTF">2026-01-13T14:22:16Z</dcterms:created>
  <dcterms:modified xsi:type="dcterms:W3CDTF">2026-05-14T21:07:19Z</dcterms:modified>
</cp:coreProperties>
</file>